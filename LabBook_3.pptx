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56" r:id="rId2"/>
    <p:sldId id="289" r:id="rId3"/>
    <p:sldId id="290" r:id="rId4"/>
    <p:sldId id="297" r:id="rId5"/>
    <p:sldId id="298" r:id="rId6"/>
    <p:sldId id="299" r:id="rId7"/>
    <p:sldId id="302" r:id="rId8"/>
    <p:sldId id="301" r:id="rId9"/>
    <p:sldId id="295" r:id="rId10"/>
    <p:sldId id="296" r:id="rId11"/>
    <p:sldId id="293" r:id="rId12"/>
    <p:sldId id="288" r:id="rId1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8B7"/>
    <a:srgbClr val="FF7300"/>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p:scale>
          <a:sx n="66" d="100"/>
          <a:sy n="66" d="100"/>
        </p:scale>
        <p:origin x="1762" y="413"/>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23/03/2026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23/03/2026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4BC9F-98B2-66F1-35FF-48ED8BCB5F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E480F2-257B-80E6-FA55-FC36E8E06A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08A38C-1345-CF91-6B73-A33866A8DCB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232A2E9-E312-8DCB-8E7B-6C01DB44707A}"/>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041108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4EBA3-0213-BA7A-7435-9B22EB7D46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1D264E-ED0C-5809-2B12-D0DB7A5F2B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1F22E7-F6DD-2400-F4E8-7563A937BDE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3B72082-8262-802F-7FD5-E48A61933C4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290118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0DF4A-4DC1-3FBD-815E-55699DD9A3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D68894-585C-C9BD-FF52-8A29C2725D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F032BD-A679-752B-79D6-3F70595CCF5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B6AFCEA-F6AE-6C8F-B0A8-220873D9138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548641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9D6F1-D492-9472-2E2B-2B4893421C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C64C36-E3EB-0592-8A4A-8A6BB2D31D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F79D21-FEEB-878A-512E-AF4852C4FC1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39FD423-F6D2-2CFB-6C9E-D1287A7999C7}"/>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312653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svg"/><Relationship Id="rId7"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ithub.com/cccanvas-upv/pic-upv-lab3.gi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0.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1010533"/>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p>
          <a:p>
            <a:pPr marL="12700">
              <a:lnSpc>
                <a:spcPct val="100000"/>
              </a:lnSpc>
              <a:spcBef>
                <a:spcPts val="100"/>
              </a:spcBef>
            </a:pP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s-ES" dirty="0">
                <a:hlinkClick r:id="rId4" tooltip="https://github.com/cccanvas-upv/pic-upv-lab3.git"/>
              </a:rPr>
              <a:t>https://github.com/cccanvas-upv/pic-upv-lab3.git</a:t>
            </a:r>
            <a:endParaRPr lang="en-US" kern="0" dirty="0">
              <a:solidFill>
                <a:sysClr val="windowText" lastClr="000000"/>
              </a:solidFill>
              <a:sym typeface="Wingdings" pitchFamily="2" charset="2"/>
            </a:endParaRP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5"/>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6"/>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8"/>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alpha, gamma, transfer function plots, etc.) and comment on the obtained results (in terms of FSR, amplitude, losses, etc.).</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86AC4DA-0321-D9F4-C1A6-44838C881C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254" y="1447800"/>
            <a:ext cx="5349251" cy="4023368"/>
          </a:xfrm>
          <a:prstGeom prst="rect">
            <a:avLst/>
          </a:prstGeom>
        </p:spPr>
      </p:pic>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6B92C76-6772-2E00-346F-532321092C04}"/>
              </a:ext>
            </a:extLst>
          </p:cNvPr>
          <p:cNvSpPr/>
          <p:nvPr/>
        </p:nvSpPr>
        <p:spPr>
          <a:xfrm>
            <a:off x="609441" y="1463032"/>
            <a:ext cx="5486559" cy="40233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16">
            <a:extLst>
              <a:ext uri="{FF2B5EF4-FFF2-40B4-BE49-F238E27FC236}">
                <a16:creationId xmlns:a16="http://schemas.microsoft.com/office/drawing/2014/main" id="{413EE84B-06C8-C286-4D0A-7D5B8CFC747D}"/>
              </a:ext>
            </a:extLst>
          </p:cNvPr>
          <p:cNvSpPr txBox="1">
            <a:spLocks noGrp="1"/>
          </p:cNvSpPr>
          <p:nvPr>
            <p:ph type="title"/>
          </p:nvPr>
        </p:nvSpPr>
        <p:spPr>
          <a:xfrm>
            <a:off x="631254" y="194877"/>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sp>
        <p:nvSpPr>
          <p:cNvPr id="12" name="TextBox 11">
            <a:extLst>
              <a:ext uri="{FF2B5EF4-FFF2-40B4-BE49-F238E27FC236}">
                <a16:creationId xmlns:a16="http://schemas.microsoft.com/office/drawing/2014/main" id="{6D21F016-DFD2-CBE1-0732-7E1DF4C3A0C2}"/>
              </a:ext>
            </a:extLst>
          </p:cNvPr>
          <p:cNvSpPr txBox="1"/>
          <p:nvPr/>
        </p:nvSpPr>
        <p:spPr>
          <a:xfrm>
            <a:off x="566336" y="828306"/>
            <a:ext cx="6128794" cy="369332"/>
          </a:xfrm>
          <a:prstGeom prst="rect">
            <a:avLst/>
          </a:prstGeom>
          <a:noFill/>
        </p:spPr>
        <p:txBody>
          <a:bodyPr wrap="square">
            <a:spAutoFit/>
          </a:bodyPr>
          <a:lstStyle/>
          <a:p>
            <a:r>
              <a:rPr lang="en-US" sz="1800" dirty="0"/>
              <a:t>SOI Balanced configuration</a:t>
            </a:r>
            <a:endParaRPr lang="es-CO"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894F083-0CBA-575B-A085-E759834EB9A2}"/>
                  </a:ext>
                </a:extLst>
              </p:cNvPr>
              <p:cNvSpPr txBox="1"/>
              <p:nvPr/>
            </p:nvSpPr>
            <p:spPr>
              <a:xfrm>
                <a:off x="6324600" y="1463032"/>
                <a:ext cx="5638333" cy="646331"/>
              </a:xfrm>
              <a:prstGeom prst="rect">
                <a:avLst/>
              </a:prstGeom>
              <a:noFill/>
            </p:spPr>
            <p:txBody>
              <a:bodyPr wrap="square">
                <a:spAutoFit/>
              </a:bodyPr>
              <a:lstStyle/>
              <a:p>
                <a:pPr algn="just">
                  <a:buNone/>
                </a:pPr>
                <a:r>
                  <a:rPr lang="en-US" b="1" dirty="0"/>
                  <a:t>Why does a perfectly balanced MZI (</a:t>
                </a:r>
                <a14:m>
                  <m:oMath xmlns:m="http://schemas.openxmlformats.org/officeDocument/2006/math">
                    <m:r>
                      <a:rPr lang="en-US" b="1" i="0" dirty="0" smtClean="0">
                        <a:latin typeface="Cambria Math" panose="02040503050406030204" pitchFamily="18" charset="0"/>
                      </a:rPr>
                      <m:t>𝚫</m:t>
                    </m:r>
                    <m:r>
                      <a:rPr lang="en-US" b="1" i="1" dirty="0">
                        <a:latin typeface="Cambria Math" panose="02040503050406030204" pitchFamily="18" charset="0"/>
                      </a:rPr>
                      <m:t>𝑳</m:t>
                    </m:r>
                    <m:r>
                      <a:rPr lang="en-US" b="1" i="1" dirty="0">
                        <a:latin typeface="Cambria Math" panose="02040503050406030204" pitchFamily="18" charset="0"/>
                      </a:rPr>
                      <m:t> = </m:t>
                    </m:r>
                    <m:r>
                      <a:rPr lang="en-US" b="1" i="1" dirty="0" smtClean="0">
                        <a:latin typeface="Cambria Math" panose="02040503050406030204" pitchFamily="18" charset="0"/>
                      </a:rPr>
                      <m:t>𝟎</m:t>
                    </m:r>
                    <m:r>
                      <a:rPr lang="es-MX" b="1" i="1" dirty="0" smtClean="0">
                        <a:latin typeface="Cambria Math" panose="02040503050406030204" pitchFamily="18" charset="0"/>
                      </a:rPr>
                      <m:t> </m:t>
                    </m:r>
                  </m:oMath>
                </a14:m>
                <a:r>
                  <a:rPr lang="en-US" b="1" dirty="0"/>
                  <a:t>, identical arms and 50:50 couplers) not exhibit spectral periodicity? </a:t>
                </a:r>
              </a:p>
            </p:txBody>
          </p:sp>
        </mc:Choice>
        <mc:Fallback xmlns="">
          <p:sp>
            <p:nvSpPr>
              <p:cNvPr id="4" name="TextBox 3">
                <a:extLst>
                  <a:ext uri="{FF2B5EF4-FFF2-40B4-BE49-F238E27FC236}">
                    <a16:creationId xmlns:a16="http://schemas.microsoft.com/office/drawing/2014/main" id="{F894F083-0CBA-575B-A085-E759834EB9A2}"/>
                  </a:ext>
                </a:extLst>
              </p:cNvPr>
              <p:cNvSpPr txBox="1">
                <a:spLocks noRot="1" noChangeAspect="1" noMove="1" noResize="1" noEditPoints="1" noAdjustHandles="1" noChangeArrowheads="1" noChangeShapeType="1" noTextEdit="1"/>
              </p:cNvSpPr>
              <p:nvPr/>
            </p:nvSpPr>
            <p:spPr>
              <a:xfrm>
                <a:off x="6324600" y="1463032"/>
                <a:ext cx="5638333" cy="646331"/>
              </a:xfrm>
              <a:prstGeom prst="rect">
                <a:avLst/>
              </a:prstGeom>
              <a:blipFill>
                <a:blip r:embed="rId6"/>
                <a:stretch>
                  <a:fillRect l="-974" t="-5660" r="-974" b="-1415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36591DDB-E6F4-9E69-71D9-A269DD535BFB}"/>
              </a:ext>
            </a:extLst>
          </p:cNvPr>
          <p:cNvSpPr txBox="1"/>
          <p:nvPr/>
        </p:nvSpPr>
        <p:spPr>
          <a:xfrm>
            <a:off x="6346767" y="2131246"/>
            <a:ext cx="5486559" cy="369332"/>
          </a:xfrm>
          <a:prstGeom prst="rect">
            <a:avLst/>
          </a:prstGeom>
          <a:noFill/>
        </p:spPr>
        <p:txBody>
          <a:bodyPr wrap="square">
            <a:spAutoFit/>
          </a:bodyPr>
          <a:lstStyle/>
          <a:p>
            <a:pPr>
              <a:buNone/>
            </a:pPr>
            <a:r>
              <a:rPr lang="en-US" dirty="0"/>
              <a:t>On a MZI transmission depends on a phase difference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5A7F511-33A0-39EF-64D2-D41F8BC5985F}"/>
                  </a:ext>
                </a:extLst>
              </p:cNvPr>
              <p:cNvSpPr txBox="1"/>
              <p:nvPr/>
            </p:nvSpPr>
            <p:spPr>
              <a:xfrm>
                <a:off x="6514019" y="2643956"/>
                <a:ext cx="5152053" cy="369332"/>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m:rPr>
                          <m:sty m:val="p"/>
                        </m:rPr>
                        <a:rPr lang="es-CO" i="0" dirty="0" smtClean="0">
                          <a:latin typeface="Cambria Math" panose="02040503050406030204" pitchFamily="18" charset="0"/>
                        </a:rPr>
                        <m:t>Δ</m:t>
                      </m:r>
                      <m:sSub>
                        <m:sSubPr>
                          <m:ctrlPr>
                            <a:rPr lang="es-CO" i="1" dirty="0" smtClean="0">
                              <a:latin typeface="Cambria Math" panose="02040503050406030204" pitchFamily="18" charset="0"/>
                            </a:rPr>
                          </m:ctrlPr>
                        </m:sSubPr>
                        <m:e>
                          <m:r>
                            <a:rPr lang="es-CO" i="1" dirty="0" smtClean="0">
                              <a:latin typeface="Cambria Math" panose="02040503050406030204" pitchFamily="18" charset="0"/>
                            </a:rPr>
                            <m:t>𝜙</m:t>
                          </m:r>
                        </m:e>
                        <m:sub>
                          <m:r>
                            <a:rPr lang="es-CO" i="1" dirty="0" err="1">
                              <a:latin typeface="Cambria Math" panose="02040503050406030204" pitchFamily="18" charset="0"/>
                            </a:rPr>
                            <m:t>𝑢𝑑</m:t>
                          </m:r>
                        </m:sub>
                      </m:sSub>
                      <m:r>
                        <a:rPr lang="es-CO" i="1" dirty="0">
                          <a:latin typeface="Cambria Math" panose="02040503050406030204" pitchFamily="18" charset="0"/>
                        </a:rPr>
                        <m:t>=</m:t>
                      </m:r>
                      <m:sSub>
                        <m:sSubPr>
                          <m:ctrlPr>
                            <a:rPr lang="es-CO" i="1" dirty="0" err="1">
                              <a:latin typeface="Cambria Math" panose="02040503050406030204" pitchFamily="18" charset="0"/>
                            </a:rPr>
                          </m:ctrlPr>
                        </m:sSubPr>
                        <m:e>
                          <m:r>
                            <a:rPr lang="es-CO" i="1" dirty="0">
                              <a:latin typeface="Cambria Math" panose="02040503050406030204" pitchFamily="18" charset="0"/>
                            </a:rPr>
                            <m:t>𝛽</m:t>
                          </m:r>
                        </m:e>
                        <m:sub>
                          <m:r>
                            <a:rPr lang="es-CO" i="1" dirty="0" err="1">
                              <a:latin typeface="Cambria Math" panose="02040503050406030204" pitchFamily="18" charset="0"/>
                            </a:rPr>
                            <m:t>𝑢</m:t>
                          </m:r>
                        </m:sub>
                      </m:sSub>
                      <m:d>
                        <m:dPr>
                          <m:ctrlPr>
                            <a:rPr lang="es-CO" i="1" dirty="0">
                              <a:latin typeface="Cambria Math" panose="02040503050406030204" pitchFamily="18" charset="0"/>
                            </a:rPr>
                          </m:ctrlPr>
                        </m:dPr>
                        <m:e>
                          <m:r>
                            <a:rPr lang="es-CO" i="1" dirty="0">
                              <a:latin typeface="Cambria Math" panose="02040503050406030204" pitchFamily="18" charset="0"/>
                            </a:rPr>
                            <m:t>𝜆</m:t>
                          </m:r>
                        </m:e>
                      </m:d>
                      <m:sSub>
                        <m:sSubPr>
                          <m:ctrlPr>
                            <a:rPr lang="es-CO" i="1" dirty="0" err="1">
                              <a:latin typeface="Cambria Math" panose="02040503050406030204" pitchFamily="18" charset="0"/>
                            </a:rPr>
                          </m:ctrlPr>
                        </m:sSubPr>
                        <m:e>
                          <m:r>
                            <a:rPr lang="es-CO" i="1" dirty="0" err="1">
                              <a:latin typeface="Cambria Math" panose="02040503050406030204" pitchFamily="18" charset="0"/>
                            </a:rPr>
                            <m:t>𝐿</m:t>
                          </m:r>
                        </m:e>
                        <m:sub>
                          <m:r>
                            <a:rPr lang="es-CO" i="1" dirty="0" err="1">
                              <a:latin typeface="Cambria Math" panose="02040503050406030204" pitchFamily="18" charset="0"/>
                            </a:rPr>
                            <m:t>𝑢</m:t>
                          </m:r>
                        </m:sub>
                      </m:sSub>
                      <m:r>
                        <a:rPr lang="es-CO" i="1" dirty="0">
                          <a:latin typeface="Cambria Math" panose="02040503050406030204" pitchFamily="18" charset="0"/>
                        </a:rPr>
                        <m:t>−</m:t>
                      </m:r>
                      <m:sSub>
                        <m:sSubPr>
                          <m:ctrlPr>
                            <a:rPr lang="es-CO" i="1" dirty="0" err="1">
                              <a:latin typeface="Cambria Math" panose="02040503050406030204" pitchFamily="18" charset="0"/>
                            </a:rPr>
                          </m:ctrlPr>
                        </m:sSubPr>
                        <m:e>
                          <m:r>
                            <a:rPr lang="es-CO" i="1" dirty="0">
                              <a:latin typeface="Cambria Math" panose="02040503050406030204" pitchFamily="18" charset="0"/>
                            </a:rPr>
                            <m:t>𝛽</m:t>
                          </m:r>
                        </m:e>
                        <m:sub>
                          <m:r>
                            <a:rPr lang="es-CO" i="1" dirty="0" err="1">
                              <a:latin typeface="Cambria Math" panose="02040503050406030204" pitchFamily="18" charset="0"/>
                            </a:rPr>
                            <m:t>𝑑</m:t>
                          </m:r>
                        </m:sub>
                      </m:sSub>
                      <m:d>
                        <m:dPr>
                          <m:ctrlPr>
                            <a:rPr lang="es-CO" i="1" dirty="0">
                              <a:latin typeface="Cambria Math" panose="02040503050406030204" pitchFamily="18" charset="0"/>
                            </a:rPr>
                          </m:ctrlPr>
                        </m:dPr>
                        <m:e>
                          <m:r>
                            <a:rPr lang="es-CO" i="1" dirty="0">
                              <a:latin typeface="Cambria Math" panose="02040503050406030204" pitchFamily="18" charset="0"/>
                            </a:rPr>
                            <m:t>𝜆</m:t>
                          </m:r>
                        </m:e>
                      </m:d>
                      <m:sSub>
                        <m:sSubPr>
                          <m:ctrlPr>
                            <a:rPr lang="es-CO" i="1" dirty="0" err="1">
                              <a:latin typeface="Cambria Math" panose="02040503050406030204" pitchFamily="18" charset="0"/>
                            </a:rPr>
                          </m:ctrlPr>
                        </m:sSubPr>
                        <m:e>
                          <m:r>
                            <a:rPr lang="es-CO" i="1" dirty="0" err="1">
                              <a:latin typeface="Cambria Math" panose="02040503050406030204" pitchFamily="18" charset="0"/>
                            </a:rPr>
                            <m:t>𝐿</m:t>
                          </m:r>
                        </m:e>
                        <m:sub>
                          <m:r>
                            <a:rPr lang="es-CO" i="1" dirty="0" err="1">
                              <a:latin typeface="Cambria Math" panose="02040503050406030204" pitchFamily="18" charset="0"/>
                            </a:rPr>
                            <m:t>𝑑</m:t>
                          </m:r>
                        </m:sub>
                      </m:sSub>
                    </m:oMath>
                  </m:oMathPara>
                </a14:m>
                <a:endParaRPr/>
              </a:p>
            </p:txBody>
          </p:sp>
        </mc:Choice>
        <mc:Fallback xmlns="">
          <p:sp>
            <p:nvSpPr>
              <p:cNvPr id="11" name="TextBox 10">
                <a:extLst>
                  <a:ext uri="{FF2B5EF4-FFF2-40B4-BE49-F238E27FC236}">
                    <a16:creationId xmlns:a16="http://schemas.microsoft.com/office/drawing/2014/main" id="{D5A7F511-33A0-39EF-64D2-D41F8BC5985F}"/>
                  </a:ext>
                </a:extLst>
              </p:cNvPr>
              <p:cNvSpPr txBox="1">
                <a:spLocks noRot="1" noChangeAspect="1" noMove="1" noResize="1" noEditPoints="1" noAdjustHandles="1" noChangeArrowheads="1" noChangeShapeType="1" noTextEdit="1"/>
              </p:cNvSpPr>
              <p:nvPr/>
            </p:nvSpPr>
            <p:spPr>
              <a:xfrm>
                <a:off x="6514019" y="2643956"/>
                <a:ext cx="5152053" cy="369332"/>
              </a:xfrm>
              <a:prstGeom prst="rect">
                <a:avLst/>
              </a:prstGeom>
              <a:blipFill>
                <a:blip r:embed="rId7"/>
                <a:stretch>
                  <a:fillRect t="-11667" b="-25000"/>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1875CA8F-2E9D-3F24-ACB5-C92C4B8ACB86}"/>
              </a:ext>
            </a:extLst>
          </p:cNvPr>
          <p:cNvSpPr txBox="1"/>
          <p:nvPr/>
        </p:nvSpPr>
        <p:spPr>
          <a:xfrm>
            <a:off x="6374559" y="3169107"/>
            <a:ext cx="5257800" cy="369332"/>
          </a:xfrm>
          <a:prstGeom prst="rect">
            <a:avLst/>
          </a:prstGeom>
          <a:noFill/>
        </p:spPr>
        <p:txBody>
          <a:bodyPr wrap="square">
            <a:spAutoFit/>
          </a:bodyPr>
          <a:lstStyle/>
          <a:p>
            <a:pPr>
              <a:buNone/>
            </a:pPr>
            <a:r>
              <a:rPr lang="en-US" dirty="0"/>
              <a:t>If the MZI is perfectly balanced</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21D2954-5CB5-102D-6631-FBD08AC8A8EA}"/>
                  </a:ext>
                </a:extLst>
              </p:cNvPr>
              <p:cNvSpPr txBox="1"/>
              <p:nvPr/>
            </p:nvSpPr>
            <p:spPr>
              <a:xfrm>
                <a:off x="6460358" y="3610900"/>
                <a:ext cx="5205714" cy="403124"/>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m:rPr>
                          <m:sty m:val="p"/>
                        </m:rPr>
                        <a:rPr lang="es-CO" i="0" dirty="0" smtClean="0">
                          <a:latin typeface="Cambria Math" panose="02040503050406030204" pitchFamily="18" charset="0"/>
                        </a:rPr>
                        <m:t>Δ</m:t>
                      </m:r>
                      <m:r>
                        <a:rPr lang="es-CO" i="1" dirty="0" smtClean="0">
                          <a:latin typeface="Cambria Math" panose="02040503050406030204" pitchFamily="18" charset="0"/>
                        </a:rPr>
                        <m:t>𝐿</m:t>
                      </m:r>
                      <m:r>
                        <a:rPr lang="es-CO" i="1" dirty="0" smtClean="0">
                          <a:latin typeface="Cambria Math" panose="02040503050406030204" pitchFamily="18" charset="0"/>
                        </a:rPr>
                        <m:t>=0  ,  </m:t>
                      </m:r>
                      <m:r>
                        <m:rPr>
                          <m:sty m:val="p"/>
                        </m:rPr>
                        <a:rPr lang="es-CO" i="0" dirty="0">
                          <a:latin typeface="Cambria Math" panose="02040503050406030204" pitchFamily="18" charset="0"/>
                        </a:rPr>
                        <m:t>Δ</m:t>
                      </m:r>
                      <m:r>
                        <a:rPr lang="es-CO" i="1" dirty="0">
                          <a:latin typeface="Cambria Math" panose="02040503050406030204" pitchFamily="18" charset="0"/>
                        </a:rPr>
                        <m:t>𝛽</m:t>
                      </m:r>
                      <m:r>
                        <a:rPr lang="es-CO" i="1" dirty="0">
                          <a:latin typeface="Cambria Math" panose="02040503050406030204" pitchFamily="18" charset="0"/>
                        </a:rPr>
                        <m:t>= 0  ,  </m:t>
                      </m:r>
                      <m:r>
                        <m:rPr>
                          <m:sty m:val="p"/>
                        </m:rPr>
                        <a:rPr lang="es-CO" i="0" dirty="0">
                          <a:latin typeface="Cambria Math" panose="02040503050406030204" pitchFamily="18" charset="0"/>
                        </a:rPr>
                        <m:t>Δ</m:t>
                      </m:r>
                      <m:r>
                        <a:rPr lang="es-CO" i="1" dirty="0">
                          <a:latin typeface="Cambria Math" panose="02040503050406030204" pitchFamily="18" charset="0"/>
                        </a:rPr>
                        <m:t>𝜙</m:t>
                      </m:r>
                      <m:r>
                        <a:rPr lang="es-CO" i="1" dirty="0">
                          <a:latin typeface="Cambria Math" panose="02040503050406030204" pitchFamily="18" charset="0"/>
                        </a:rPr>
                        <m:t>= 0</m:t>
                      </m:r>
                    </m:oMath>
                  </m:oMathPara>
                </a14:m>
                <a:endParaRPr/>
              </a:p>
            </p:txBody>
          </p:sp>
        </mc:Choice>
        <mc:Fallback xmlns="">
          <p:sp>
            <p:nvSpPr>
              <p:cNvPr id="16" name="TextBox 15">
                <a:extLst>
                  <a:ext uri="{FF2B5EF4-FFF2-40B4-BE49-F238E27FC236}">
                    <a16:creationId xmlns:a16="http://schemas.microsoft.com/office/drawing/2014/main" id="{D21D2954-5CB5-102D-6631-FBD08AC8A8EA}"/>
                  </a:ext>
                </a:extLst>
              </p:cNvPr>
              <p:cNvSpPr txBox="1">
                <a:spLocks noRot="1" noChangeAspect="1" noMove="1" noResize="1" noEditPoints="1" noAdjustHandles="1" noChangeArrowheads="1" noChangeShapeType="1" noTextEdit="1"/>
              </p:cNvSpPr>
              <p:nvPr/>
            </p:nvSpPr>
            <p:spPr>
              <a:xfrm>
                <a:off x="6460358" y="3610900"/>
                <a:ext cx="5205714" cy="403124"/>
              </a:xfrm>
              <a:prstGeom prst="rect">
                <a:avLst/>
              </a:prstGeom>
              <a:blipFill>
                <a:blip r:embed="rId8"/>
                <a:stretch>
                  <a:fillRect b="-2272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0AFD3F8B-C90D-BD60-78E3-FCCBF4F189DC}"/>
              </a:ext>
            </a:extLst>
          </p:cNvPr>
          <p:cNvSpPr txBox="1"/>
          <p:nvPr/>
        </p:nvSpPr>
        <p:spPr>
          <a:xfrm>
            <a:off x="6324600" y="4262818"/>
            <a:ext cx="5637600" cy="1200329"/>
          </a:xfrm>
          <a:prstGeom prst="rect">
            <a:avLst/>
          </a:prstGeom>
          <a:noFill/>
        </p:spPr>
        <p:txBody>
          <a:bodyPr wrap="square">
            <a:spAutoFit/>
          </a:bodyPr>
          <a:lstStyle/>
          <a:p>
            <a:pPr algn="just">
              <a:buNone/>
            </a:pPr>
            <a:r>
              <a:rPr lang="en-US" dirty="0"/>
              <a:t>Which means there is no </a:t>
            </a:r>
            <a:r>
              <a:rPr lang="en-US" dirty="0" err="1"/>
              <a:t>wavelenght</a:t>
            </a:r>
            <a:r>
              <a:rPr lang="en-US" dirty="0"/>
              <a:t>-dependence interference; therefore, no periodic maxima or minima appear, and the transmission remains constant with wavelength. </a:t>
            </a:r>
          </a:p>
        </p:txBody>
      </p:sp>
    </p:spTree>
    <p:extLst>
      <p:ext uri="{BB962C8B-B14F-4D97-AF65-F5344CB8AC3E}">
        <p14:creationId xmlns:p14="http://schemas.microsoft.com/office/powerpoint/2010/main" val="236054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38921-A408-DF0A-5993-6DCE2667982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4AA88A-859F-7185-C468-7648B2AE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094" y="1461423"/>
            <a:ext cx="5349251" cy="4023368"/>
          </a:xfrm>
          <a:prstGeom prst="rect">
            <a:avLst/>
          </a:prstGeom>
        </p:spPr>
      </p:pic>
      <p:pic>
        <p:nvPicPr>
          <p:cNvPr id="83" name="Gráfico 82">
            <a:extLst>
              <a:ext uri="{FF2B5EF4-FFF2-40B4-BE49-F238E27FC236}">
                <a16:creationId xmlns:a16="http://schemas.microsoft.com/office/drawing/2014/main" id="{BD1A635A-2277-39E9-FDD8-C0C8ED46A2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EA71AE3-7AA8-8066-9FA5-0256310C7075}"/>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26589C12-F6DA-0851-7920-B486D6B055F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CD3BEAF-A84D-7241-2F94-F69626EF6CF4}"/>
              </a:ext>
            </a:extLst>
          </p:cNvPr>
          <p:cNvSpPr/>
          <p:nvPr/>
        </p:nvSpPr>
        <p:spPr>
          <a:xfrm>
            <a:off x="609441" y="1463032"/>
            <a:ext cx="5486559" cy="40233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16">
            <a:extLst>
              <a:ext uri="{FF2B5EF4-FFF2-40B4-BE49-F238E27FC236}">
                <a16:creationId xmlns:a16="http://schemas.microsoft.com/office/drawing/2014/main" id="{A0E47921-9CAD-BE16-8766-F2637E477742}"/>
              </a:ext>
            </a:extLst>
          </p:cNvPr>
          <p:cNvSpPr txBox="1">
            <a:spLocks noGrp="1"/>
          </p:cNvSpPr>
          <p:nvPr>
            <p:ph type="title"/>
          </p:nvPr>
        </p:nvSpPr>
        <p:spPr>
          <a:xfrm>
            <a:off x="631254" y="194877"/>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sp>
        <p:nvSpPr>
          <p:cNvPr id="12" name="TextBox 11">
            <a:extLst>
              <a:ext uri="{FF2B5EF4-FFF2-40B4-BE49-F238E27FC236}">
                <a16:creationId xmlns:a16="http://schemas.microsoft.com/office/drawing/2014/main" id="{ABA48397-B8E2-0C0B-7C22-27A8D3DE4320}"/>
              </a:ext>
            </a:extLst>
          </p:cNvPr>
          <p:cNvSpPr txBox="1"/>
          <p:nvPr/>
        </p:nvSpPr>
        <p:spPr>
          <a:xfrm>
            <a:off x="566336" y="828306"/>
            <a:ext cx="6128794" cy="369332"/>
          </a:xfrm>
          <a:prstGeom prst="rect">
            <a:avLst/>
          </a:prstGeom>
          <a:noFill/>
        </p:spPr>
        <p:txBody>
          <a:bodyPr wrap="square">
            <a:spAutoFit/>
          </a:bodyPr>
          <a:lstStyle/>
          <a:p>
            <a:r>
              <a:rPr lang="en-US" sz="1800" dirty="0"/>
              <a:t>SOI Balanced configuration</a:t>
            </a:r>
            <a:endParaRPr lang="es-CO" dirty="0"/>
          </a:p>
        </p:txBody>
      </p:sp>
      <p:sp>
        <p:nvSpPr>
          <p:cNvPr id="4" name="TextBox 3">
            <a:extLst>
              <a:ext uri="{FF2B5EF4-FFF2-40B4-BE49-F238E27FC236}">
                <a16:creationId xmlns:a16="http://schemas.microsoft.com/office/drawing/2014/main" id="{EED4FD69-D330-5778-59DB-8ABD7DCC1663}"/>
              </a:ext>
            </a:extLst>
          </p:cNvPr>
          <p:cNvSpPr txBox="1"/>
          <p:nvPr/>
        </p:nvSpPr>
        <p:spPr>
          <a:xfrm>
            <a:off x="6324600" y="1463032"/>
            <a:ext cx="5638333" cy="646331"/>
          </a:xfrm>
          <a:prstGeom prst="rect">
            <a:avLst/>
          </a:prstGeom>
          <a:noFill/>
        </p:spPr>
        <p:txBody>
          <a:bodyPr wrap="square">
            <a:spAutoFit/>
          </a:bodyPr>
          <a:lstStyle/>
          <a:p>
            <a:r>
              <a:rPr lang="en-US" b="1" dirty="0"/>
              <a:t>What happens to the output transmission if the coupling ratio deviates from 50:50?</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6E18467-2092-57A6-0FAF-0678C97C1102}"/>
                  </a:ext>
                </a:extLst>
              </p:cNvPr>
              <p:cNvSpPr txBox="1"/>
              <p:nvPr/>
            </p:nvSpPr>
            <p:spPr>
              <a:xfrm>
                <a:off x="6324600" y="2113151"/>
                <a:ext cx="5637600" cy="3139321"/>
              </a:xfrm>
              <a:prstGeom prst="rect">
                <a:avLst/>
              </a:prstGeom>
              <a:noFill/>
            </p:spPr>
            <p:txBody>
              <a:bodyPr wrap="square">
                <a:spAutoFit/>
              </a:bodyPr>
              <a:lstStyle/>
              <a:p>
                <a:pPr algn="just"/>
                <a:r>
                  <a:rPr lang="en-US" dirty="0"/>
                  <a:t>In an ideal 50:50 Mach–Zehnder interferometer, interference can be fully constructive or fully destructive, resulting in a maximum extinction ratio. However, if the coupling coefficient </a:t>
                </a:r>
                <a14:m>
                  <m:oMath xmlns:m="http://schemas.openxmlformats.org/officeDocument/2006/math">
                    <m:r>
                      <a:rPr lang="en-US" i="1" dirty="0" smtClean="0">
                        <a:latin typeface="Cambria Math" panose="02040503050406030204" pitchFamily="18" charset="0"/>
                      </a:rPr>
                      <m:t>𝐾</m:t>
                    </m:r>
                  </m:oMath>
                </a14:m>
                <a:r>
                  <a:rPr lang="en-US" dirty="0"/>
                  <a:t> deviates from 0.5, the field amplitudes in the arms become unequal. As a result, complete destructive interference cannot be achieved, the maximum transmission is reduced, the minimum transmission increases, and the extinction ratio degrades. However, this can be useful if the desired application is a splitter or a combiner, and it can also be useful if signal attenuation is required.</a:t>
                </a:r>
              </a:p>
            </p:txBody>
          </p:sp>
        </mc:Choice>
        <mc:Fallback xmlns="">
          <p:sp>
            <p:nvSpPr>
              <p:cNvPr id="9" name="TextBox 8">
                <a:extLst>
                  <a:ext uri="{FF2B5EF4-FFF2-40B4-BE49-F238E27FC236}">
                    <a16:creationId xmlns:a16="http://schemas.microsoft.com/office/drawing/2014/main" id="{F6E18467-2092-57A6-0FAF-0678C97C1102}"/>
                  </a:ext>
                </a:extLst>
              </p:cNvPr>
              <p:cNvSpPr txBox="1">
                <a:spLocks noRot="1" noChangeAspect="1" noMove="1" noResize="1" noEditPoints="1" noAdjustHandles="1" noChangeArrowheads="1" noChangeShapeType="1" noTextEdit="1"/>
              </p:cNvSpPr>
              <p:nvPr/>
            </p:nvSpPr>
            <p:spPr>
              <a:xfrm>
                <a:off x="6324600" y="2113151"/>
                <a:ext cx="5637600" cy="3139321"/>
              </a:xfrm>
              <a:prstGeom prst="rect">
                <a:avLst/>
              </a:prstGeom>
              <a:blipFill>
                <a:blip r:embed="rId6"/>
                <a:stretch>
                  <a:fillRect l="-974" t="-1165" r="-974" b="-2136"/>
                </a:stretch>
              </a:blipFill>
            </p:spPr>
            <p:txBody>
              <a:bodyPr/>
              <a:lstStyle/>
              <a:p>
                <a:r>
                  <a:rPr lang="en-US">
                    <a:noFill/>
                  </a:rPr>
                  <a:t> </a:t>
                </a:r>
              </a:p>
            </p:txBody>
          </p:sp>
        </mc:Fallback>
      </mc:AlternateContent>
    </p:spTree>
    <p:extLst>
      <p:ext uri="{BB962C8B-B14F-4D97-AF65-F5344CB8AC3E}">
        <p14:creationId xmlns:p14="http://schemas.microsoft.com/office/powerpoint/2010/main" val="2844045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62A6B-BF43-4BAF-760F-2939299A803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BBEF488-CB29-2CD7-6E73-96197E606D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094" y="1463032"/>
            <a:ext cx="5349251" cy="4023368"/>
          </a:xfrm>
          <a:prstGeom prst="rect">
            <a:avLst/>
          </a:prstGeom>
        </p:spPr>
      </p:pic>
      <p:pic>
        <p:nvPicPr>
          <p:cNvPr id="83" name="Gráfico 82">
            <a:extLst>
              <a:ext uri="{FF2B5EF4-FFF2-40B4-BE49-F238E27FC236}">
                <a16:creationId xmlns:a16="http://schemas.microsoft.com/office/drawing/2014/main" id="{3635A02F-60B7-0FD8-F575-33C1620C19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18FD2E0-0817-E282-B12B-08F8608E9C10}"/>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C9173549-51EC-02EB-0186-5057D991ADB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9665459D-3514-0D93-23FF-255E97315890}"/>
              </a:ext>
            </a:extLst>
          </p:cNvPr>
          <p:cNvSpPr/>
          <p:nvPr/>
        </p:nvSpPr>
        <p:spPr>
          <a:xfrm>
            <a:off x="609441" y="1463032"/>
            <a:ext cx="5486559" cy="40233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16">
            <a:extLst>
              <a:ext uri="{FF2B5EF4-FFF2-40B4-BE49-F238E27FC236}">
                <a16:creationId xmlns:a16="http://schemas.microsoft.com/office/drawing/2014/main" id="{70EF9925-31C6-ACC1-E26C-F977E5A5DDA0}"/>
              </a:ext>
            </a:extLst>
          </p:cNvPr>
          <p:cNvSpPr txBox="1">
            <a:spLocks noGrp="1"/>
          </p:cNvSpPr>
          <p:nvPr>
            <p:ph type="title"/>
          </p:nvPr>
        </p:nvSpPr>
        <p:spPr>
          <a:xfrm>
            <a:off x="631254" y="194877"/>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sp>
        <p:nvSpPr>
          <p:cNvPr id="12" name="TextBox 11">
            <a:extLst>
              <a:ext uri="{FF2B5EF4-FFF2-40B4-BE49-F238E27FC236}">
                <a16:creationId xmlns:a16="http://schemas.microsoft.com/office/drawing/2014/main" id="{69666EBE-747C-697A-AD99-7BF699A7870E}"/>
              </a:ext>
            </a:extLst>
          </p:cNvPr>
          <p:cNvSpPr txBox="1"/>
          <p:nvPr/>
        </p:nvSpPr>
        <p:spPr>
          <a:xfrm>
            <a:off x="566336" y="828306"/>
            <a:ext cx="6128794" cy="369332"/>
          </a:xfrm>
          <a:prstGeom prst="rect">
            <a:avLst/>
          </a:prstGeom>
          <a:noFill/>
        </p:spPr>
        <p:txBody>
          <a:bodyPr wrap="square">
            <a:spAutoFit/>
          </a:bodyPr>
          <a:lstStyle/>
          <a:p>
            <a:r>
              <a:rPr lang="en-US" sz="1800" dirty="0"/>
              <a:t>SOI Balanced configuration</a:t>
            </a:r>
            <a:endParaRPr lang="es-CO"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B34C45B-48C3-DAF3-CF92-59CB8093DF0F}"/>
                  </a:ext>
                </a:extLst>
              </p:cNvPr>
              <p:cNvSpPr txBox="1"/>
              <p:nvPr/>
            </p:nvSpPr>
            <p:spPr>
              <a:xfrm>
                <a:off x="6324600" y="1463032"/>
                <a:ext cx="5638333" cy="646331"/>
              </a:xfrm>
              <a:prstGeom prst="rect">
                <a:avLst/>
              </a:prstGeom>
              <a:noFill/>
            </p:spPr>
            <p:txBody>
              <a:bodyPr wrap="square">
                <a:spAutoFit/>
              </a:bodyPr>
              <a:lstStyle/>
              <a:p>
                <a:r>
                  <a:rPr lang="en-US" b="1" dirty="0"/>
                  <a:t>How does excess loss </a:t>
                </a:r>
                <a14:m>
                  <m:oMath xmlns:m="http://schemas.openxmlformats.org/officeDocument/2006/math">
                    <m:r>
                      <a:rPr lang="en-US" b="1" i="1" dirty="0" smtClean="0">
                        <a:latin typeface="Cambria Math" panose="02040503050406030204" pitchFamily="18" charset="0"/>
                      </a:rPr>
                      <m:t>(</m:t>
                    </m:r>
                    <m:r>
                      <a:rPr lang="en-US" b="1" i="1" dirty="0" smtClean="0">
                        <a:latin typeface="Cambria Math" panose="02040503050406030204" pitchFamily="18" charset="0"/>
                      </a:rPr>
                      <m:t>𝜸</m:t>
                    </m:r>
                    <m:r>
                      <a:rPr lang="en-US" b="1" i="1" dirty="0" smtClean="0">
                        <a:latin typeface="Cambria Math" panose="02040503050406030204" pitchFamily="18" charset="0"/>
                      </a:rPr>
                      <m:t>≠</m:t>
                    </m:r>
                    <m:r>
                      <a:rPr lang="en-US" b="1" i="1" dirty="0">
                        <a:latin typeface="Cambria Math" panose="02040503050406030204" pitchFamily="18" charset="0"/>
                      </a:rPr>
                      <m:t>𝟎</m:t>
                    </m:r>
                  </m:oMath>
                </a14:m>
                <a:r>
                  <a:rPr lang="en-US" b="1" dirty="0"/>
                  <a:t>) affect the output ports in a balanced MZI?</a:t>
                </a:r>
              </a:p>
            </p:txBody>
          </p:sp>
        </mc:Choice>
        <mc:Fallback xmlns="">
          <p:sp>
            <p:nvSpPr>
              <p:cNvPr id="4" name="TextBox 3">
                <a:extLst>
                  <a:ext uri="{FF2B5EF4-FFF2-40B4-BE49-F238E27FC236}">
                    <a16:creationId xmlns:a16="http://schemas.microsoft.com/office/drawing/2014/main" id="{CB34C45B-48C3-DAF3-CF92-59CB8093DF0F}"/>
                  </a:ext>
                </a:extLst>
              </p:cNvPr>
              <p:cNvSpPr txBox="1">
                <a:spLocks noRot="1" noChangeAspect="1" noMove="1" noResize="1" noEditPoints="1" noAdjustHandles="1" noChangeArrowheads="1" noChangeShapeType="1" noTextEdit="1"/>
              </p:cNvSpPr>
              <p:nvPr/>
            </p:nvSpPr>
            <p:spPr>
              <a:xfrm>
                <a:off x="6324600" y="1463032"/>
                <a:ext cx="5638333" cy="646331"/>
              </a:xfrm>
              <a:prstGeom prst="rect">
                <a:avLst/>
              </a:prstGeom>
              <a:blipFill>
                <a:blip r:embed="rId6"/>
                <a:stretch>
                  <a:fillRect l="-974" t="-5660" r="-974" b="-14151"/>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A9B2ADFD-5E53-B3AD-D8EC-974E0F2D8BD9}"/>
              </a:ext>
            </a:extLst>
          </p:cNvPr>
          <p:cNvSpPr txBox="1"/>
          <p:nvPr/>
        </p:nvSpPr>
        <p:spPr>
          <a:xfrm>
            <a:off x="6324600" y="2120655"/>
            <a:ext cx="5637600" cy="1754326"/>
          </a:xfrm>
          <a:prstGeom prst="rect">
            <a:avLst/>
          </a:prstGeom>
          <a:noFill/>
        </p:spPr>
        <p:txBody>
          <a:bodyPr wrap="square">
            <a:spAutoFit/>
          </a:bodyPr>
          <a:lstStyle/>
          <a:p>
            <a:r>
              <a:rPr lang="en-US" dirty="0"/>
              <a:t>If in some scenario one of the arms produces a different attenuation, as mentioned before, the amplitudes in the arms are not equal, and the same phenomenon observed when the couplers are not 50:50 occurs. There is no complete destructive interference, the maximum decreases, and the extinction ratio is reduced.</a:t>
            </a:r>
          </a:p>
        </p:txBody>
      </p:sp>
    </p:spTree>
    <p:extLst>
      <p:ext uri="{BB962C8B-B14F-4D97-AF65-F5344CB8AC3E}">
        <p14:creationId xmlns:p14="http://schemas.microsoft.com/office/powerpoint/2010/main" val="2593433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F6A0-0934-7E3C-123C-023B8E4DF04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B24E9B3-080D-2476-08F8-27B48FC4DE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602" y="1544667"/>
            <a:ext cx="5340107" cy="4023368"/>
          </a:xfrm>
          <a:prstGeom prst="rect">
            <a:avLst/>
          </a:prstGeom>
        </p:spPr>
      </p:pic>
      <p:pic>
        <p:nvPicPr>
          <p:cNvPr id="83" name="Gráfico 82">
            <a:extLst>
              <a:ext uri="{FF2B5EF4-FFF2-40B4-BE49-F238E27FC236}">
                <a16:creationId xmlns:a16="http://schemas.microsoft.com/office/drawing/2014/main" id="{F50F3CB7-3BC6-0EC4-EC0F-33008C169F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E90B481-A687-D5EB-E5D3-AE8A9CDFC36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DD31C28F-0AE1-3EB6-9207-ED193003ADD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BC0C5D93-FC12-6F4C-E1E2-62BBC5CAD5D0}"/>
              </a:ext>
            </a:extLst>
          </p:cNvPr>
          <p:cNvSpPr/>
          <p:nvPr/>
        </p:nvSpPr>
        <p:spPr>
          <a:xfrm>
            <a:off x="609441" y="1463032"/>
            <a:ext cx="5486559" cy="40233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16">
            <a:extLst>
              <a:ext uri="{FF2B5EF4-FFF2-40B4-BE49-F238E27FC236}">
                <a16:creationId xmlns:a16="http://schemas.microsoft.com/office/drawing/2014/main" id="{2D41020E-58C4-2DBC-828A-530C2A55114D}"/>
              </a:ext>
            </a:extLst>
          </p:cNvPr>
          <p:cNvSpPr txBox="1">
            <a:spLocks noGrp="1"/>
          </p:cNvSpPr>
          <p:nvPr>
            <p:ph type="title"/>
          </p:nvPr>
        </p:nvSpPr>
        <p:spPr>
          <a:xfrm>
            <a:off x="631254" y="194877"/>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sp>
        <p:nvSpPr>
          <p:cNvPr id="12" name="TextBox 11">
            <a:extLst>
              <a:ext uri="{FF2B5EF4-FFF2-40B4-BE49-F238E27FC236}">
                <a16:creationId xmlns:a16="http://schemas.microsoft.com/office/drawing/2014/main" id="{BB511F07-62E8-593E-E6CA-57C6F9972F35}"/>
              </a:ext>
            </a:extLst>
          </p:cNvPr>
          <p:cNvSpPr txBox="1"/>
          <p:nvPr/>
        </p:nvSpPr>
        <p:spPr>
          <a:xfrm>
            <a:off x="566336" y="828306"/>
            <a:ext cx="6128794" cy="369332"/>
          </a:xfrm>
          <a:prstGeom prst="rect">
            <a:avLst/>
          </a:prstGeom>
          <a:noFill/>
        </p:spPr>
        <p:txBody>
          <a:bodyPr wrap="square">
            <a:spAutoFit/>
          </a:bodyPr>
          <a:lstStyle/>
          <a:p>
            <a:r>
              <a:rPr lang="en-US" sz="1800" dirty="0"/>
              <a:t>SOI Unbalanced configuration, phase difference</a:t>
            </a:r>
            <a:endParaRPr lang="es-CO"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4E21CB8-5CFD-2AAC-DC4E-C5DEF70C635E}"/>
                  </a:ext>
                </a:extLst>
              </p:cNvPr>
              <p:cNvSpPr txBox="1"/>
              <p:nvPr/>
            </p:nvSpPr>
            <p:spPr>
              <a:xfrm>
                <a:off x="6324600" y="1463032"/>
                <a:ext cx="5638333" cy="923330"/>
              </a:xfrm>
              <a:prstGeom prst="rect">
                <a:avLst/>
              </a:prstGeom>
              <a:noFill/>
            </p:spPr>
            <p:txBody>
              <a:bodyPr wrap="square">
                <a:spAutoFit/>
              </a:bodyPr>
              <a:lstStyle/>
              <a:p>
                <a:pPr algn="just"/>
                <a:r>
                  <a:rPr lang="en-US" b="1" dirty="0"/>
                  <a:t>If both arms have the same physical length but different propagation constants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𝜷</m:t>
                        </m:r>
                      </m:e>
                      <m:sub>
                        <m:r>
                          <a:rPr lang="en-US" b="1" i="1" dirty="0" err="1">
                            <a:latin typeface="Cambria Math" panose="02040503050406030204" pitchFamily="18" charset="0"/>
                          </a:rPr>
                          <m:t>𝒖</m:t>
                        </m:r>
                      </m:sub>
                    </m:sSub>
                    <m:r>
                      <a:rPr lang="en-US" b="1" i="1" dirty="0">
                        <a:latin typeface="Cambria Math" panose="02040503050406030204" pitchFamily="18" charset="0"/>
                      </a:rPr>
                      <m:t>≠</m:t>
                    </m:r>
                    <m:sSub>
                      <m:sSubPr>
                        <m:ctrlPr>
                          <a:rPr lang="en-US" b="1" i="1" dirty="0" err="1">
                            <a:latin typeface="Cambria Math" panose="02040503050406030204" pitchFamily="18" charset="0"/>
                          </a:rPr>
                        </m:ctrlPr>
                      </m:sSubPr>
                      <m:e>
                        <m:r>
                          <a:rPr lang="en-US" b="1" i="1" dirty="0">
                            <a:latin typeface="Cambria Math" panose="02040503050406030204" pitchFamily="18" charset="0"/>
                          </a:rPr>
                          <m:t>𝜷</m:t>
                        </m:r>
                      </m:e>
                      <m:sub>
                        <m:r>
                          <a:rPr lang="en-US" b="1" i="1" dirty="0" err="1" smtClean="0">
                            <a:latin typeface="Cambria Math" panose="02040503050406030204" pitchFamily="18" charset="0"/>
                          </a:rPr>
                          <m:t>𝒅</m:t>
                        </m:r>
                      </m:sub>
                    </m:sSub>
                  </m:oMath>
                </a14:m>
                <a:r>
                  <a:rPr lang="en-US" b="1" dirty="0"/>
                  <a:t>), what generates the phase difference?</a:t>
                </a:r>
              </a:p>
            </p:txBody>
          </p:sp>
        </mc:Choice>
        <mc:Fallback xmlns="">
          <p:sp>
            <p:nvSpPr>
              <p:cNvPr id="4" name="TextBox 3">
                <a:extLst>
                  <a:ext uri="{FF2B5EF4-FFF2-40B4-BE49-F238E27FC236}">
                    <a16:creationId xmlns:a16="http://schemas.microsoft.com/office/drawing/2014/main" id="{A4E21CB8-5CFD-2AAC-DC4E-C5DEF70C635E}"/>
                  </a:ext>
                </a:extLst>
              </p:cNvPr>
              <p:cNvSpPr txBox="1">
                <a:spLocks noRot="1" noChangeAspect="1" noMove="1" noResize="1" noEditPoints="1" noAdjustHandles="1" noChangeArrowheads="1" noChangeShapeType="1" noTextEdit="1"/>
              </p:cNvSpPr>
              <p:nvPr/>
            </p:nvSpPr>
            <p:spPr>
              <a:xfrm>
                <a:off x="6324600" y="1463032"/>
                <a:ext cx="5638333" cy="923330"/>
              </a:xfrm>
              <a:prstGeom prst="rect">
                <a:avLst/>
              </a:prstGeom>
              <a:blipFill>
                <a:blip r:embed="rId6"/>
                <a:stretch>
                  <a:fillRect l="-974" t="-3974" r="-974" b="-993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13D73E82-1150-C696-D133-CBAD9A3AFE68}"/>
              </a:ext>
            </a:extLst>
          </p:cNvPr>
          <p:cNvSpPr txBox="1"/>
          <p:nvPr/>
        </p:nvSpPr>
        <p:spPr>
          <a:xfrm>
            <a:off x="6324600" y="2453250"/>
            <a:ext cx="5638333" cy="646331"/>
          </a:xfrm>
          <a:prstGeom prst="rect">
            <a:avLst/>
          </a:prstGeom>
          <a:noFill/>
        </p:spPr>
        <p:txBody>
          <a:bodyPr wrap="square">
            <a:spAutoFit/>
          </a:bodyPr>
          <a:lstStyle/>
          <a:p>
            <a:pPr algn="just"/>
            <a:r>
              <a:rPr lang="en-US" dirty="0"/>
              <a:t>As mentioned before the phase difference on a MZI comes from the following expression.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845C1DD-BB2F-0EE5-94E5-6B45D82C5BFF}"/>
                  </a:ext>
                </a:extLst>
              </p:cNvPr>
              <p:cNvSpPr txBox="1"/>
              <p:nvPr/>
            </p:nvSpPr>
            <p:spPr>
              <a:xfrm>
                <a:off x="6858000" y="3212068"/>
                <a:ext cx="4343400" cy="369332"/>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m:rPr>
                          <m:sty m:val="p"/>
                        </m:rPr>
                        <a:rPr lang="es-CO" i="0" dirty="0" smtClean="0">
                          <a:latin typeface="Cambria Math" panose="02040503050406030204" pitchFamily="18" charset="0"/>
                        </a:rPr>
                        <m:t>Δ</m:t>
                      </m:r>
                      <m:sSub>
                        <m:sSubPr>
                          <m:ctrlPr>
                            <a:rPr lang="es-CO" i="1" dirty="0" smtClean="0">
                              <a:latin typeface="Cambria Math" panose="02040503050406030204" pitchFamily="18" charset="0"/>
                            </a:rPr>
                          </m:ctrlPr>
                        </m:sSubPr>
                        <m:e>
                          <m:r>
                            <a:rPr lang="es-CO" i="1" dirty="0" smtClean="0">
                              <a:latin typeface="Cambria Math" panose="02040503050406030204" pitchFamily="18" charset="0"/>
                            </a:rPr>
                            <m:t>𝜙</m:t>
                          </m:r>
                        </m:e>
                        <m:sub>
                          <m:r>
                            <a:rPr lang="es-CO" i="1" dirty="0" err="1" smtClean="0">
                              <a:latin typeface="Cambria Math" panose="02040503050406030204" pitchFamily="18" charset="0"/>
                            </a:rPr>
                            <m:t>𝑢𝑑</m:t>
                          </m:r>
                        </m:sub>
                      </m:sSub>
                      <m:r>
                        <a:rPr lang="es-CO" i="1" dirty="0" smtClean="0">
                          <a:latin typeface="Cambria Math" panose="02040503050406030204" pitchFamily="18" charset="0"/>
                        </a:rPr>
                        <m:t>=</m:t>
                      </m:r>
                      <m:sSub>
                        <m:sSubPr>
                          <m:ctrlPr>
                            <a:rPr lang="es-CO" i="1" dirty="0" err="1" smtClean="0">
                              <a:latin typeface="Cambria Math" panose="02040503050406030204" pitchFamily="18" charset="0"/>
                            </a:rPr>
                          </m:ctrlPr>
                        </m:sSubPr>
                        <m:e>
                          <m:r>
                            <a:rPr lang="es-CO" i="1" dirty="0" smtClean="0">
                              <a:latin typeface="Cambria Math" panose="02040503050406030204" pitchFamily="18" charset="0"/>
                            </a:rPr>
                            <m:t>𝛽</m:t>
                          </m:r>
                        </m:e>
                        <m:sub>
                          <m:r>
                            <a:rPr lang="es-CO" i="1" dirty="0" err="1" smtClean="0">
                              <a:latin typeface="Cambria Math" panose="02040503050406030204" pitchFamily="18" charset="0"/>
                            </a:rPr>
                            <m:t>𝑢</m:t>
                          </m:r>
                        </m:sub>
                      </m:sSub>
                      <m:d>
                        <m:dPr>
                          <m:ctrlPr>
                            <a:rPr lang="es-CO" i="1" dirty="0" smtClean="0">
                              <a:latin typeface="Cambria Math" panose="02040503050406030204" pitchFamily="18" charset="0"/>
                            </a:rPr>
                          </m:ctrlPr>
                        </m:dPr>
                        <m:e>
                          <m:r>
                            <a:rPr lang="es-CO" i="1" dirty="0" smtClean="0">
                              <a:latin typeface="Cambria Math" panose="02040503050406030204" pitchFamily="18" charset="0"/>
                            </a:rPr>
                            <m:t>𝜆</m:t>
                          </m:r>
                        </m:e>
                      </m:d>
                      <m:sSub>
                        <m:sSubPr>
                          <m:ctrlPr>
                            <a:rPr lang="es-CO" i="1" dirty="0" err="1" smtClean="0">
                              <a:latin typeface="Cambria Math" panose="02040503050406030204" pitchFamily="18" charset="0"/>
                            </a:rPr>
                          </m:ctrlPr>
                        </m:sSubPr>
                        <m:e>
                          <m:r>
                            <a:rPr lang="es-CO" i="1" dirty="0" err="1" smtClean="0">
                              <a:latin typeface="Cambria Math" panose="02040503050406030204" pitchFamily="18" charset="0"/>
                            </a:rPr>
                            <m:t>𝐿</m:t>
                          </m:r>
                        </m:e>
                        <m:sub>
                          <m:r>
                            <a:rPr lang="es-CO" i="1" dirty="0" err="1" smtClean="0">
                              <a:latin typeface="Cambria Math" panose="02040503050406030204" pitchFamily="18" charset="0"/>
                            </a:rPr>
                            <m:t>𝑢</m:t>
                          </m:r>
                        </m:sub>
                      </m:sSub>
                      <m:r>
                        <a:rPr lang="es-CO" i="1" dirty="0" smtClean="0">
                          <a:latin typeface="Cambria Math" panose="02040503050406030204" pitchFamily="18" charset="0"/>
                        </a:rPr>
                        <m:t>−</m:t>
                      </m:r>
                      <m:sSub>
                        <m:sSubPr>
                          <m:ctrlPr>
                            <a:rPr lang="es-CO" i="1" dirty="0" err="1" smtClean="0">
                              <a:latin typeface="Cambria Math" panose="02040503050406030204" pitchFamily="18" charset="0"/>
                            </a:rPr>
                          </m:ctrlPr>
                        </m:sSubPr>
                        <m:e>
                          <m:r>
                            <a:rPr lang="es-CO" i="1" dirty="0" smtClean="0">
                              <a:latin typeface="Cambria Math" panose="02040503050406030204" pitchFamily="18" charset="0"/>
                            </a:rPr>
                            <m:t>𝛽</m:t>
                          </m:r>
                        </m:e>
                        <m:sub>
                          <m:r>
                            <a:rPr lang="es-CO" i="1" dirty="0" err="1" smtClean="0">
                              <a:latin typeface="Cambria Math" panose="02040503050406030204" pitchFamily="18" charset="0"/>
                            </a:rPr>
                            <m:t>𝑑</m:t>
                          </m:r>
                        </m:sub>
                      </m:sSub>
                      <m:d>
                        <m:dPr>
                          <m:ctrlPr>
                            <a:rPr lang="es-CO" i="1" dirty="0" smtClean="0">
                              <a:latin typeface="Cambria Math" panose="02040503050406030204" pitchFamily="18" charset="0"/>
                            </a:rPr>
                          </m:ctrlPr>
                        </m:dPr>
                        <m:e>
                          <m:r>
                            <a:rPr lang="es-CO" i="1" dirty="0" smtClean="0">
                              <a:latin typeface="Cambria Math" panose="02040503050406030204" pitchFamily="18" charset="0"/>
                            </a:rPr>
                            <m:t>𝜆</m:t>
                          </m:r>
                        </m:e>
                      </m:d>
                      <m:sSub>
                        <m:sSubPr>
                          <m:ctrlPr>
                            <a:rPr lang="es-CO" i="1" dirty="0" err="1" smtClean="0">
                              <a:latin typeface="Cambria Math" panose="02040503050406030204" pitchFamily="18" charset="0"/>
                            </a:rPr>
                          </m:ctrlPr>
                        </m:sSubPr>
                        <m:e>
                          <m:r>
                            <a:rPr lang="es-CO" i="1" dirty="0" err="1" smtClean="0">
                              <a:latin typeface="Cambria Math" panose="02040503050406030204" pitchFamily="18" charset="0"/>
                            </a:rPr>
                            <m:t>𝐿</m:t>
                          </m:r>
                        </m:e>
                        <m:sub>
                          <m:r>
                            <a:rPr lang="es-CO" i="1" dirty="0" err="1" smtClean="0">
                              <a:latin typeface="Cambria Math" panose="02040503050406030204" pitchFamily="18" charset="0"/>
                            </a:rPr>
                            <m:t>𝑑</m:t>
                          </m:r>
                        </m:sub>
                      </m:sSub>
                    </m:oMath>
                  </m:oMathPara>
                </a14:m>
                <a:endParaRPr/>
              </a:p>
            </p:txBody>
          </p:sp>
        </mc:Choice>
        <mc:Fallback xmlns="">
          <p:sp>
            <p:nvSpPr>
              <p:cNvPr id="9" name="TextBox 8">
                <a:extLst>
                  <a:ext uri="{FF2B5EF4-FFF2-40B4-BE49-F238E27FC236}">
                    <a16:creationId xmlns:a16="http://schemas.microsoft.com/office/drawing/2014/main" id="{8845C1DD-BB2F-0EE5-94E5-6B45D82C5BFF}"/>
                  </a:ext>
                </a:extLst>
              </p:cNvPr>
              <p:cNvSpPr txBox="1">
                <a:spLocks noRot="1" noChangeAspect="1" noMove="1" noResize="1" noEditPoints="1" noAdjustHandles="1" noChangeArrowheads="1" noChangeShapeType="1" noTextEdit="1"/>
              </p:cNvSpPr>
              <p:nvPr/>
            </p:nvSpPr>
            <p:spPr>
              <a:xfrm>
                <a:off x="6858000" y="3212068"/>
                <a:ext cx="4343400" cy="369332"/>
              </a:xfrm>
              <a:prstGeom prst="rect">
                <a:avLst/>
              </a:prstGeom>
              <a:blipFill>
                <a:blip r:embed="rId7"/>
                <a:stretch>
                  <a:fillRect t="-11475" b="-229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3CC5BE4-31E0-D757-0CFD-8F2307A3B2B4}"/>
                  </a:ext>
                </a:extLst>
              </p:cNvPr>
              <p:cNvSpPr txBox="1"/>
              <p:nvPr/>
            </p:nvSpPr>
            <p:spPr>
              <a:xfrm>
                <a:off x="6304384" y="3753601"/>
                <a:ext cx="5637600" cy="646331"/>
              </a:xfrm>
              <a:prstGeom prst="rect">
                <a:avLst/>
              </a:prstGeom>
              <a:noFill/>
            </p:spPr>
            <p:txBody>
              <a:bodyPr wrap="square">
                <a:spAutoFit/>
              </a:bodyPr>
              <a:lstStyle/>
              <a:p>
                <a:pPr algn="just">
                  <a:buNone/>
                </a:pPr>
                <a:r>
                  <a:rPr lang="en-US" dirty="0"/>
                  <a:t>If both lengths are equal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𝐿</m:t>
                        </m:r>
                      </m:e>
                      <m:sub>
                        <m:r>
                          <a:rPr lang="en-US" i="1" dirty="0" smtClean="0">
                            <a:latin typeface="Cambria Math" panose="02040503050406030204" pitchFamily="18" charset="0"/>
                          </a:rPr>
                          <m:t>𝑢</m:t>
                        </m:r>
                      </m:sub>
                    </m:sSub>
                    <m:r>
                      <a:rPr lang="en-US" i="1" dirty="0">
                        <a:latin typeface="Cambria Math" panose="02040503050406030204" pitchFamily="18" charset="0"/>
                      </a:rPr>
                      <m:t>=</m:t>
                    </m:r>
                    <m:sSub>
                      <m:sSubPr>
                        <m:ctrlPr>
                          <a:rPr lang="en-US" i="1" dirty="0" err="1">
                            <a:latin typeface="Cambria Math" panose="02040503050406030204" pitchFamily="18" charset="0"/>
                          </a:rPr>
                        </m:ctrlPr>
                      </m:sSubPr>
                      <m:e>
                        <m:r>
                          <a:rPr lang="en-US" i="1" dirty="0" err="1">
                            <a:latin typeface="Cambria Math" panose="02040503050406030204" pitchFamily="18" charset="0"/>
                          </a:rPr>
                          <m:t>𝐿</m:t>
                        </m:r>
                      </m:e>
                      <m:sub>
                        <m:r>
                          <a:rPr lang="en-US" i="1" dirty="0" err="1">
                            <a:latin typeface="Cambria Math" panose="02040503050406030204" pitchFamily="18" charset="0"/>
                          </a:rPr>
                          <m:t>𝑑</m:t>
                        </m:r>
                      </m:sub>
                    </m:sSub>
                    <m:r>
                      <a:rPr lang="en-US" i="1" dirty="0">
                        <a:latin typeface="Cambria Math" panose="02040503050406030204" pitchFamily="18" charset="0"/>
                      </a:rPr>
                      <m:t>=</m:t>
                    </m:r>
                    <m:r>
                      <a:rPr lang="en-US" i="1" dirty="0">
                        <a:latin typeface="Cambria Math" panose="02040503050406030204" pitchFamily="18" charset="0"/>
                      </a:rPr>
                      <m:t>𝐿</m:t>
                    </m:r>
                    <m:r>
                      <a:rPr lang="es-MX" b="0" i="1" dirty="0" smtClean="0">
                        <a:latin typeface="Cambria Math" panose="02040503050406030204" pitchFamily="18" charset="0"/>
                      </a:rPr>
                      <m:t> </m:t>
                    </m:r>
                  </m:oMath>
                </a14:m>
                <a:r>
                  <a:rPr lang="en-US" dirty="0"/>
                  <a:t>the equation still is affected by the differences on </a:t>
                </a:r>
                <a14:m>
                  <m:oMath xmlns:m="http://schemas.openxmlformats.org/officeDocument/2006/math">
                    <m:r>
                      <a:rPr lang="en-US" i="1" dirty="0" smtClean="0">
                        <a:latin typeface="Cambria Math" panose="02040503050406030204" pitchFamily="18" charset="0"/>
                      </a:rPr>
                      <m:t>𝛽</m:t>
                    </m:r>
                  </m:oMath>
                </a14:m>
                <a:r>
                  <a:rPr lang="en-US" dirty="0"/>
                  <a:t>.</a:t>
                </a:r>
              </a:p>
            </p:txBody>
          </p:sp>
        </mc:Choice>
        <mc:Fallback>
          <p:sp>
            <p:nvSpPr>
              <p:cNvPr id="11" name="TextBox 10">
                <a:extLst>
                  <a:ext uri="{FF2B5EF4-FFF2-40B4-BE49-F238E27FC236}">
                    <a16:creationId xmlns:a16="http://schemas.microsoft.com/office/drawing/2014/main" id="{F3CC5BE4-31E0-D757-0CFD-8F2307A3B2B4}"/>
                  </a:ext>
                </a:extLst>
              </p:cNvPr>
              <p:cNvSpPr txBox="1">
                <a:spLocks noRot="1" noChangeAspect="1" noMove="1" noResize="1" noEditPoints="1" noAdjustHandles="1" noChangeArrowheads="1" noChangeShapeType="1" noTextEdit="1"/>
              </p:cNvSpPr>
              <p:nvPr/>
            </p:nvSpPr>
            <p:spPr>
              <a:xfrm>
                <a:off x="6304384" y="3753601"/>
                <a:ext cx="5637600" cy="646331"/>
              </a:xfrm>
              <a:prstGeom prst="rect">
                <a:avLst/>
              </a:prstGeom>
              <a:blipFill>
                <a:blip r:embed="rId8"/>
                <a:stretch>
                  <a:fillRect l="-865" t="-5660" r="-973"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C51E6E0-B2B0-98B3-4392-2BAEC0AA14A9}"/>
                  </a:ext>
                </a:extLst>
              </p:cNvPr>
              <p:cNvSpPr txBox="1"/>
              <p:nvPr/>
            </p:nvSpPr>
            <p:spPr>
              <a:xfrm>
                <a:off x="6701350" y="4522162"/>
                <a:ext cx="4343400" cy="404983"/>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m:rPr>
                          <m:sty m:val="p"/>
                        </m:rPr>
                        <a:rPr lang="es-CO" i="0" dirty="0" smtClean="0">
                          <a:latin typeface="Cambria Math" panose="02040503050406030204" pitchFamily="18" charset="0"/>
                        </a:rPr>
                        <m:t>Δ</m:t>
                      </m:r>
                      <m:sSub>
                        <m:sSubPr>
                          <m:ctrlPr>
                            <a:rPr lang="es-CO" i="1" dirty="0" smtClean="0">
                              <a:latin typeface="Cambria Math" panose="02040503050406030204" pitchFamily="18" charset="0"/>
                            </a:rPr>
                          </m:ctrlPr>
                        </m:sSubPr>
                        <m:e>
                          <m:r>
                            <a:rPr lang="es-CO" i="1" dirty="0" smtClean="0">
                              <a:latin typeface="Cambria Math" panose="02040503050406030204" pitchFamily="18" charset="0"/>
                            </a:rPr>
                            <m:t>𝜙</m:t>
                          </m:r>
                        </m:e>
                        <m:sub>
                          <m:r>
                            <a:rPr lang="es-CO" i="1" dirty="0" err="1">
                              <a:latin typeface="Cambria Math" panose="02040503050406030204" pitchFamily="18" charset="0"/>
                            </a:rPr>
                            <m:t>𝑢𝑑</m:t>
                          </m:r>
                        </m:sub>
                      </m:sSub>
                      <m:r>
                        <a:rPr lang="es-CO" i="1" dirty="0">
                          <a:latin typeface="Cambria Math" panose="02040503050406030204" pitchFamily="18" charset="0"/>
                        </a:rPr>
                        <m:t>=</m:t>
                      </m:r>
                      <m:d>
                        <m:dPr>
                          <m:ctrlPr>
                            <a:rPr lang="es-CO" i="1" dirty="0">
                              <a:latin typeface="Cambria Math" panose="02040503050406030204" pitchFamily="18" charset="0"/>
                            </a:rPr>
                          </m:ctrlPr>
                        </m:dPr>
                        <m:e>
                          <m:sSub>
                            <m:sSubPr>
                              <m:ctrlPr>
                                <a:rPr lang="es-CO" i="1" dirty="0" err="1">
                                  <a:latin typeface="Cambria Math" panose="02040503050406030204" pitchFamily="18" charset="0"/>
                                </a:rPr>
                              </m:ctrlPr>
                            </m:sSubPr>
                            <m:e>
                              <m:r>
                                <a:rPr lang="es-CO" i="1" dirty="0">
                                  <a:latin typeface="Cambria Math" panose="02040503050406030204" pitchFamily="18" charset="0"/>
                                </a:rPr>
                                <m:t>𝛽</m:t>
                              </m:r>
                            </m:e>
                            <m:sub>
                              <m:r>
                                <a:rPr lang="es-CO" i="1" dirty="0" err="1">
                                  <a:latin typeface="Cambria Math" panose="02040503050406030204" pitchFamily="18" charset="0"/>
                                </a:rPr>
                                <m:t>𝑢</m:t>
                              </m:r>
                            </m:sub>
                          </m:sSub>
                          <m:d>
                            <m:dPr>
                              <m:ctrlPr>
                                <a:rPr lang="es-CO" i="1" dirty="0">
                                  <a:latin typeface="Cambria Math" panose="02040503050406030204" pitchFamily="18" charset="0"/>
                                </a:rPr>
                              </m:ctrlPr>
                            </m:dPr>
                            <m:e>
                              <m:r>
                                <a:rPr lang="es-CO" i="1" dirty="0">
                                  <a:latin typeface="Cambria Math" panose="02040503050406030204" pitchFamily="18" charset="0"/>
                                </a:rPr>
                                <m:t>𝜆</m:t>
                              </m:r>
                            </m:e>
                          </m:d>
                          <m:r>
                            <a:rPr lang="es-CO" i="1" dirty="0">
                              <a:latin typeface="Cambria Math" panose="02040503050406030204" pitchFamily="18" charset="0"/>
                            </a:rPr>
                            <m:t>−</m:t>
                          </m:r>
                          <m:sSub>
                            <m:sSubPr>
                              <m:ctrlPr>
                                <a:rPr lang="es-CO" i="1" dirty="0" err="1">
                                  <a:latin typeface="Cambria Math" panose="02040503050406030204" pitchFamily="18" charset="0"/>
                                </a:rPr>
                              </m:ctrlPr>
                            </m:sSubPr>
                            <m:e>
                              <m:r>
                                <a:rPr lang="es-CO" i="1" dirty="0">
                                  <a:latin typeface="Cambria Math" panose="02040503050406030204" pitchFamily="18" charset="0"/>
                                </a:rPr>
                                <m:t>𝛽</m:t>
                              </m:r>
                            </m:e>
                            <m:sub>
                              <m:r>
                                <a:rPr lang="es-CO" i="1" dirty="0" err="1">
                                  <a:latin typeface="Cambria Math" panose="02040503050406030204" pitchFamily="18" charset="0"/>
                                </a:rPr>
                                <m:t>𝑑</m:t>
                              </m:r>
                            </m:sub>
                          </m:sSub>
                          <m:d>
                            <m:dPr>
                              <m:ctrlPr>
                                <a:rPr lang="es-CO" i="1" dirty="0">
                                  <a:latin typeface="Cambria Math" panose="02040503050406030204" pitchFamily="18" charset="0"/>
                                </a:rPr>
                              </m:ctrlPr>
                            </m:dPr>
                            <m:e>
                              <m:r>
                                <a:rPr lang="es-CO" i="1" dirty="0">
                                  <a:latin typeface="Cambria Math" panose="02040503050406030204" pitchFamily="18" charset="0"/>
                                </a:rPr>
                                <m:t>𝜆</m:t>
                              </m:r>
                            </m:e>
                          </m:d>
                        </m:e>
                      </m:d>
                      <m:r>
                        <a:rPr lang="es-CO" i="1" dirty="0">
                          <a:latin typeface="Cambria Math" panose="02040503050406030204" pitchFamily="18" charset="0"/>
                        </a:rPr>
                        <m:t>𝐿</m:t>
                      </m:r>
                    </m:oMath>
                  </m:oMathPara>
                </a14:m>
                <a:endParaRPr/>
              </a:p>
            </p:txBody>
          </p:sp>
        </mc:Choice>
        <mc:Fallback xmlns="">
          <p:sp>
            <p:nvSpPr>
              <p:cNvPr id="14" name="TextBox 13">
                <a:extLst>
                  <a:ext uri="{FF2B5EF4-FFF2-40B4-BE49-F238E27FC236}">
                    <a16:creationId xmlns:a16="http://schemas.microsoft.com/office/drawing/2014/main" id="{5C51E6E0-B2B0-98B3-4392-2BAEC0AA14A9}"/>
                  </a:ext>
                </a:extLst>
              </p:cNvPr>
              <p:cNvSpPr txBox="1">
                <a:spLocks noRot="1" noChangeAspect="1" noMove="1" noResize="1" noEditPoints="1" noAdjustHandles="1" noChangeArrowheads="1" noChangeShapeType="1" noTextEdit="1"/>
              </p:cNvSpPr>
              <p:nvPr/>
            </p:nvSpPr>
            <p:spPr>
              <a:xfrm>
                <a:off x="6701350" y="4522162"/>
                <a:ext cx="4343400" cy="404983"/>
              </a:xfrm>
              <a:prstGeom prst="rect">
                <a:avLst/>
              </a:prstGeom>
              <a:blipFill>
                <a:blip r:embed="rId9"/>
                <a:stretch>
                  <a:fillRect t="-6061" b="-18182"/>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83BAA782-7140-E833-40BF-9C391EA5CDEF}"/>
              </a:ext>
            </a:extLst>
          </p:cNvPr>
          <p:cNvSpPr txBox="1"/>
          <p:nvPr/>
        </p:nvSpPr>
        <p:spPr>
          <a:xfrm>
            <a:off x="6324600" y="5077589"/>
            <a:ext cx="5637600" cy="646331"/>
          </a:xfrm>
          <a:prstGeom prst="rect">
            <a:avLst/>
          </a:prstGeom>
          <a:noFill/>
        </p:spPr>
        <p:txBody>
          <a:bodyPr wrap="square">
            <a:spAutoFit/>
          </a:bodyPr>
          <a:lstStyle/>
          <a:p>
            <a:r>
              <a:rPr lang="en-US" dirty="0"/>
              <a:t>For this example, one branch of the MZI has a cladding of SOI and the other branch has its core exposed to air.</a:t>
            </a:r>
          </a:p>
        </p:txBody>
      </p:sp>
    </p:spTree>
    <p:extLst>
      <p:ext uri="{BB962C8B-B14F-4D97-AF65-F5344CB8AC3E}">
        <p14:creationId xmlns:p14="http://schemas.microsoft.com/office/powerpoint/2010/main" val="3040931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B3C4-2D48-25F2-E188-CC55F3B0A01E}"/>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D5C8EFDB-A807-6A15-CE02-2C5FBFA26D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2ACF6CB-A817-CAE3-C662-FE8FEE0282CA}"/>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03FEE72-24D9-9AB0-1594-33261300832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8BD6827-ACAF-A362-FFEA-F50C8BAB8523}"/>
              </a:ext>
            </a:extLst>
          </p:cNvPr>
          <p:cNvSpPr/>
          <p:nvPr/>
        </p:nvSpPr>
        <p:spPr>
          <a:xfrm>
            <a:off x="6247526" y="1332402"/>
            <a:ext cx="5638333" cy="4697291"/>
          </a:xfrm>
          <a:prstGeom prst="rect">
            <a:avLst/>
          </a:prstGeom>
          <a:solidFill>
            <a:srgbClr val="F2F2F2"/>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16">
            <a:extLst>
              <a:ext uri="{FF2B5EF4-FFF2-40B4-BE49-F238E27FC236}">
                <a16:creationId xmlns:a16="http://schemas.microsoft.com/office/drawing/2014/main" id="{3B7ECF9B-D4CA-4CD8-095F-046B685E5471}"/>
              </a:ext>
            </a:extLst>
          </p:cNvPr>
          <p:cNvSpPr txBox="1">
            <a:spLocks noGrp="1"/>
          </p:cNvSpPr>
          <p:nvPr>
            <p:ph type="title"/>
          </p:nvPr>
        </p:nvSpPr>
        <p:spPr>
          <a:xfrm>
            <a:off x="631254" y="194877"/>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sp>
        <p:nvSpPr>
          <p:cNvPr id="12" name="TextBox 11">
            <a:extLst>
              <a:ext uri="{FF2B5EF4-FFF2-40B4-BE49-F238E27FC236}">
                <a16:creationId xmlns:a16="http://schemas.microsoft.com/office/drawing/2014/main" id="{D271DC2E-47DA-C7A7-A1C9-8C55C9A7A57B}"/>
              </a:ext>
            </a:extLst>
          </p:cNvPr>
          <p:cNvSpPr txBox="1"/>
          <p:nvPr/>
        </p:nvSpPr>
        <p:spPr>
          <a:xfrm>
            <a:off x="566336" y="828306"/>
            <a:ext cx="6128794" cy="369332"/>
          </a:xfrm>
          <a:prstGeom prst="rect">
            <a:avLst/>
          </a:prstGeom>
          <a:noFill/>
        </p:spPr>
        <p:txBody>
          <a:bodyPr wrap="square">
            <a:spAutoFit/>
          </a:bodyPr>
          <a:lstStyle/>
          <a:p>
            <a:r>
              <a:rPr lang="en-US" sz="1800" dirty="0"/>
              <a:t>SOI Unbalanced configuration, phase difference</a:t>
            </a:r>
            <a:endParaRPr lang="es-CO" dirty="0"/>
          </a:p>
        </p:txBody>
      </p:sp>
      <p:sp>
        <p:nvSpPr>
          <p:cNvPr id="4" name="TextBox 3">
            <a:extLst>
              <a:ext uri="{FF2B5EF4-FFF2-40B4-BE49-F238E27FC236}">
                <a16:creationId xmlns:a16="http://schemas.microsoft.com/office/drawing/2014/main" id="{F730DB8B-EFB2-BF77-6C3D-887CDFCEFD13}"/>
              </a:ext>
            </a:extLst>
          </p:cNvPr>
          <p:cNvSpPr txBox="1"/>
          <p:nvPr/>
        </p:nvSpPr>
        <p:spPr>
          <a:xfrm>
            <a:off x="6324600" y="1463032"/>
            <a:ext cx="5638333" cy="646331"/>
          </a:xfrm>
          <a:prstGeom prst="rect">
            <a:avLst/>
          </a:prstGeom>
          <a:noFill/>
        </p:spPr>
        <p:txBody>
          <a:bodyPr wrap="square">
            <a:spAutoFit/>
          </a:bodyPr>
          <a:lstStyle/>
          <a:p>
            <a:r>
              <a:rPr lang="en-US" b="1" dirty="0"/>
              <a:t>Under what condition can the MZI behave as a tunable power coupler rather than a wavelength filter?</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0857FE8-5BC8-642E-C404-843DD1D93F79}"/>
                  </a:ext>
                </a:extLst>
              </p:cNvPr>
              <p:cNvSpPr txBox="1"/>
              <p:nvPr/>
            </p:nvSpPr>
            <p:spPr>
              <a:xfrm>
                <a:off x="6248400" y="2073515"/>
                <a:ext cx="5638333" cy="3693319"/>
              </a:xfrm>
              <a:prstGeom prst="rect">
                <a:avLst/>
              </a:prstGeom>
              <a:noFill/>
            </p:spPr>
            <p:txBody>
              <a:bodyPr wrap="square">
                <a:spAutoFit/>
              </a:bodyPr>
              <a:lstStyle/>
              <a:p>
                <a:pPr algn="just"/>
                <a:r>
                  <a:rPr lang="en-US" dirty="0"/>
                  <a:t>If the phase difference depends on the wavelength, the device operates as a wavelength filter. However, if the phase difference does not depend on the wavelength and can be externally controlled, the device can operate as a tunable power coupler. Since making the interferometer arms physically longer or shorter is not practical, the phase difference is typically controlled by modifying the propagation constant </a:t>
                </a:r>
                <a14:m>
                  <m:oMath xmlns:m="http://schemas.openxmlformats.org/officeDocument/2006/math">
                    <m:r>
                      <a:rPr lang="en-US" i="1" dirty="0" smtClean="0">
                        <a:latin typeface="Cambria Math" panose="02040503050406030204" pitchFamily="18" charset="0"/>
                      </a:rPr>
                      <m:t>𝛽</m:t>
                    </m:r>
                  </m:oMath>
                </a14:m>
                <a:r>
                  <a:rPr lang="en-US" dirty="0"/>
                  <a:t>. This can be achieved by changing the effective index of one of the waveguides, for example through temperature variations (thermo-optic effect), carrier injection, or by exposing the core of the fiber to an external medium that modifies the effective index of the waveguide.</a:t>
                </a:r>
              </a:p>
            </p:txBody>
          </p:sp>
        </mc:Choice>
        <mc:Fallback>
          <p:sp>
            <p:nvSpPr>
              <p:cNvPr id="2" name="TextBox 1">
                <a:extLst>
                  <a:ext uri="{FF2B5EF4-FFF2-40B4-BE49-F238E27FC236}">
                    <a16:creationId xmlns:a16="http://schemas.microsoft.com/office/drawing/2014/main" id="{D0857FE8-5BC8-642E-C404-843DD1D93F79}"/>
                  </a:ext>
                </a:extLst>
              </p:cNvPr>
              <p:cNvSpPr txBox="1">
                <a:spLocks noRot="1" noChangeAspect="1" noMove="1" noResize="1" noEditPoints="1" noAdjustHandles="1" noChangeArrowheads="1" noChangeShapeType="1" noTextEdit="1"/>
              </p:cNvSpPr>
              <p:nvPr/>
            </p:nvSpPr>
            <p:spPr>
              <a:xfrm>
                <a:off x="6248400" y="2073515"/>
                <a:ext cx="5638333" cy="3693319"/>
              </a:xfrm>
              <a:prstGeom prst="rect">
                <a:avLst/>
              </a:prstGeom>
              <a:blipFill>
                <a:blip r:embed="rId5"/>
                <a:stretch>
                  <a:fillRect l="-865" t="-825" r="-865" b="-1650"/>
                </a:stretch>
              </a:blipFill>
            </p:spPr>
            <p:txBody>
              <a:bodyPr/>
              <a:lstStyle/>
              <a:p>
                <a:r>
                  <a:rPr lang="en-US">
                    <a:noFill/>
                  </a:rPr>
                  <a:t> </a:t>
                </a:r>
              </a:p>
            </p:txBody>
          </p:sp>
        </mc:Fallback>
      </mc:AlternateContent>
      <p:sp>
        <p:nvSpPr>
          <p:cNvPr id="7" name="Rectángulo 4">
            <a:extLst>
              <a:ext uri="{FF2B5EF4-FFF2-40B4-BE49-F238E27FC236}">
                <a16:creationId xmlns:a16="http://schemas.microsoft.com/office/drawing/2014/main" id="{B957F2A5-6684-576D-7F71-CB780C8219B0}"/>
              </a:ext>
            </a:extLst>
          </p:cNvPr>
          <p:cNvSpPr/>
          <p:nvPr/>
        </p:nvSpPr>
        <p:spPr>
          <a:xfrm>
            <a:off x="402771" y="1332402"/>
            <a:ext cx="5638333" cy="4697291"/>
          </a:xfrm>
          <a:prstGeom prst="rect">
            <a:avLst/>
          </a:prstGeom>
          <a:solidFill>
            <a:srgbClr val="F2F2F2"/>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B30AED1-52C1-B776-93DB-B9FD5574705A}"/>
                  </a:ext>
                </a:extLst>
              </p:cNvPr>
              <p:cNvSpPr txBox="1"/>
              <p:nvPr/>
            </p:nvSpPr>
            <p:spPr>
              <a:xfrm>
                <a:off x="454557" y="1453701"/>
                <a:ext cx="5638333" cy="646331"/>
              </a:xfrm>
              <a:prstGeom prst="rect">
                <a:avLst/>
              </a:prstGeom>
              <a:noFill/>
            </p:spPr>
            <p:txBody>
              <a:bodyPr wrap="square">
                <a:spAutoFit/>
              </a:bodyPr>
              <a:lstStyle/>
              <a:p>
                <a:r>
                  <a:rPr lang="en-US" b="1" dirty="0"/>
                  <a:t>Why are the two output ports complementary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𝑯</m:t>
                        </m:r>
                      </m:e>
                      <m:sub>
                        <m:r>
                          <a:rPr lang="en-US" b="1" i="1" dirty="0">
                            <a:latin typeface="Cambria Math" panose="02040503050406030204" pitchFamily="18" charset="0"/>
                          </a:rPr>
                          <m:t>𝟐𝟏</m:t>
                        </m:r>
                      </m:sub>
                    </m:sSub>
                    <m:r>
                      <a:rPr lang="en-US" b="1" i="1" dirty="0">
                        <a:latin typeface="Cambria Math" panose="02040503050406030204" pitchFamily="18" charset="0"/>
                      </a:rPr>
                      <m:t>=</m:t>
                    </m:r>
                    <m:func>
                      <m:funcPr>
                        <m:ctrlPr>
                          <a:rPr lang="en-US" b="1" i="1" dirty="0">
                            <a:latin typeface="Cambria Math" panose="02040503050406030204" pitchFamily="18" charset="0"/>
                          </a:rPr>
                        </m:ctrlPr>
                      </m:funcPr>
                      <m:fName>
                        <m:sSup>
                          <m:sSupPr>
                            <m:ctrlPr>
                              <a:rPr lang="en-US" b="1" i="1" dirty="0">
                                <a:latin typeface="Cambria Math" panose="02040503050406030204" pitchFamily="18" charset="0"/>
                              </a:rPr>
                            </m:ctrlPr>
                          </m:sSupPr>
                          <m:e>
                            <m:r>
                              <a:rPr lang="en-US" b="1" i="0" dirty="0">
                                <a:latin typeface="Cambria Math" panose="02040503050406030204" pitchFamily="18" charset="0"/>
                              </a:rPr>
                              <m:t>𝐜𝐨𝐬</m:t>
                            </m:r>
                          </m:e>
                          <m:sup>
                            <m:r>
                              <a:rPr lang="en-US" b="1" i="1" dirty="0">
                                <a:latin typeface="Cambria Math" panose="02040503050406030204" pitchFamily="18" charset="0"/>
                              </a:rPr>
                              <m:t>𝟐</m:t>
                            </m:r>
                          </m:sup>
                        </m:sSup>
                      </m:fName>
                      <m:e>
                        <m:d>
                          <m:dPr>
                            <m:ctrlPr>
                              <a:rPr lang="en-US" b="1" i="1" dirty="0">
                                <a:latin typeface="Cambria Math" panose="02040503050406030204" pitchFamily="18" charset="0"/>
                              </a:rPr>
                            </m:ctrlPr>
                          </m:dPr>
                          <m:e>
                            <m:r>
                              <a:rPr lang="en-US" b="1" i="0" dirty="0">
                                <a:latin typeface="Cambria Math" panose="02040503050406030204" pitchFamily="18" charset="0"/>
                              </a:rPr>
                              <m:t>𝚫</m:t>
                            </m:r>
                            <m:r>
                              <a:rPr lang="en-US" b="1" i="1" dirty="0">
                                <a:latin typeface="Cambria Math" panose="02040503050406030204" pitchFamily="18" charset="0"/>
                              </a:rPr>
                              <m:t>𝝓</m:t>
                            </m:r>
                            <m:r>
                              <m:rPr>
                                <m:lit/>
                              </m:rPr>
                              <a:rPr lang="en-US" b="1" i="1" dirty="0">
                                <a:latin typeface="Cambria Math" panose="02040503050406030204" pitchFamily="18" charset="0"/>
                              </a:rPr>
                              <m:t>/</m:t>
                            </m:r>
                            <m:r>
                              <a:rPr lang="en-US" b="1" i="1" dirty="0">
                                <a:latin typeface="Cambria Math" panose="02040503050406030204" pitchFamily="18" charset="0"/>
                              </a:rPr>
                              <m:t>𝟐</m:t>
                            </m:r>
                          </m:e>
                        </m:d>
                      </m:e>
                    </m:func>
                    <m:r>
                      <a:rPr lang="en-US" b="1" i="1" dirty="0">
                        <a:latin typeface="Cambria Math" panose="02040503050406030204" pitchFamily="18" charset="0"/>
                      </a:rPr>
                      <m:t>,</m:t>
                    </m:r>
                    <m:sSub>
                      <m:sSubPr>
                        <m:ctrlPr>
                          <a:rPr lang="en-US" b="1" i="1" dirty="0">
                            <a:latin typeface="Cambria Math" panose="02040503050406030204" pitchFamily="18" charset="0"/>
                          </a:rPr>
                        </m:ctrlPr>
                      </m:sSubPr>
                      <m:e>
                        <m:r>
                          <a:rPr lang="en-US" b="1" i="1" dirty="0">
                            <a:latin typeface="Cambria Math" panose="02040503050406030204" pitchFamily="18" charset="0"/>
                          </a:rPr>
                          <m:t>𝑯</m:t>
                        </m:r>
                      </m:e>
                      <m:sub>
                        <m:r>
                          <a:rPr lang="en-US" b="1" i="1" dirty="0">
                            <a:latin typeface="Cambria Math" panose="02040503050406030204" pitchFamily="18" charset="0"/>
                          </a:rPr>
                          <m:t>𝟐𝟐</m:t>
                        </m:r>
                      </m:sub>
                    </m:sSub>
                    <m:r>
                      <a:rPr lang="en-US" b="1" i="1" dirty="0">
                        <a:latin typeface="Cambria Math" panose="02040503050406030204" pitchFamily="18" charset="0"/>
                      </a:rPr>
                      <m:t>=</m:t>
                    </m:r>
                    <m:func>
                      <m:funcPr>
                        <m:ctrlPr>
                          <a:rPr lang="en-US" b="1" i="1" dirty="0">
                            <a:latin typeface="Cambria Math" panose="02040503050406030204" pitchFamily="18" charset="0"/>
                          </a:rPr>
                        </m:ctrlPr>
                      </m:funcPr>
                      <m:fName>
                        <m:sSup>
                          <m:sSupPr>
                            <m:ctrlPr>
                              <a:rPr lang="en-US" b="1" i="1" dirty="0">
                                <a:latin typeface="Cambria Math" panose="02040503050406030204" pitchFamily="18" charset="0"/>
                              </a:rPr>
                            </m:ctrlPr>
                          </m:sSupPr>
                          <m:e>
                            <m:r>
                              <a:rPr lang="en-US" b="1" i="0" dirty="0">
                                <a:latin typeface="Cambria Math" panose="02040503050406030204" pitchFamily="18" charset="0"/>
                              </a:rPr>
                              <m:t>𝐬𝐢𝐧</m:t>
                            </m:r>
                          </m:e>
                          <m:sup>
                            <m:r>
                              <a:rPr lang="en-US" b="1" i="1" dirty="0">
                                <a:latin typeface="Cambria Math" panose="02040503050406030204" pitchFamily="18" charset="0"/>
                              </a:rPr>
                              <m:t>𝟐</m:t>
                            </m:r>
                          </m:sup>
                        </m:sSup>
                      </m:fName>
                      <m:e>
                        <m:d>
                          <m:dPr>
                            <m:ctrlPr>
                              <a:rPr lang="en-US" b="1" i="1" dirty="0">
                                <a:latin typeface="Cambria Math" panose="02040503050406030204" pitchFamily="18" charset="0"/>
                              </a:rPr>
                            </m:ctrlPr>
                          </m:dPr>
                          <m:e>
                            <m:r>
                              <a:rPr lang="en-US" b="1" i="0" dirty="0">
                                <a:latin typeface="Cambria Math" panose="02040503050406030204" pitchFamily="18" charset="0"/>
                              </a:rPr>
                              <m:t>𝚫</m:t>
                            </m:r>
                            <m:r>
                              <a:rPr lang="en-US" b="1" i="1" dirty="0">
                                <a:latin typeface="Cambria Math" panose="02040503050406030204" pitchFamily="18" charset="0"/>
                              </a:rPr>
                              <m:t>𝝓</m:t>
                            </m:r>
                            <m:r>
                              <m:rPr>
                                <m:lit/>
                              </m:rPr>
                              <a:rPr lang="en-US" b="1" i="1" dirty="0">
                                <a:latin typeface="Cambria Math" panose="02040503050406030204" pitchFamily="18" charset="0"/>
                              </a:rPr>
                              <m:t>/</m:t>
                            </m:r>
                            <m:r>
                              <a:rPr lang="en-US" b="1" i="1" dirty="0">
                                <a:latin typeface="Cambria Math" panose="02040503050406030204" pitchFamily="18" charset="0"/>
                              </a:rPr>
                              <m:t>𝟐</m:t>
                            </m:r>
                          </m:e>
                        </m:d>
                      </m:e>
                    </m:func>
                  </m:oMath>
                </a14:m>
                <a:r>
                  <a:rPr lang="en-US" b="1" dirty="0"/>
                  <a:t>)?</a:t>
                </a:r>
              </a:p>
            </p:txBody>
          </p:sp>
        </mc:Choice>
        <mc:Fallback>
          <p:sp>
            <p:nvSpPr>
              <p:cNvPr id="9" name="TextBox 8">
                <a:extLst>
                  <a:ext uri="{FF2B5EF4-FFF2-40B4-BE49-F238E27FC236}">
                    <a16:creationId xmlns:a16="http://schemas.microsoft.com/office/drawing/2014/main" id="{8B30AED1-52C1-B776-93DB-B9FD5574705A}"/>
                  </a:ext>
                </a:extLst>
              </p:cNvPr>
              <p:cNvSpPr txBox="1">
                <a:spLocks noRot="1" noChangeAspect="1" noMove="1" noResize="1" noEditPoints="1" noAdjustHandles="1" noChangeArrowheads="1" noChangeShapeType="1" noTextEdit="1"/>
              </p:cNvSpPr>
              <p:nvPr/>
            </p:nvSpPr>
            <p:spPr>
              <a:xfrm>
                <a:off x="454557" y="1453701"/>
                <a:ext cx="5638333" cy="646331"/>
              </a:xfrm>
              <a:prstGeom prst="rect">
                <a:avLst/>
              </a:prstGeom>
              <a:blipFill>
                <a:blip r:embed="rId6"/>
                <a:stretch>
                  <a:fillRect l="-974" t="-4717" b="-1509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756BD6C3-AC93-3FC7-4AE6-EDFB67927299}"/>
              </a:ext>
            </a:extLst>
          </p:cNvPr>
          <p:cNvSpPr txBox="1"/>
          <p:nvPr/>
        </p:nvSpPr>
        <p:spPr>
          <a:xfrm>
            <a:off x="454557" y="2121915"/>
            <a:ext cx="5637600" cy="646331"/>
          </a:xfrm>
          <a:prstGeom prst="rect">
            <a:avLst/>
          </a:prstGeom>
          <a:noFill/>
        </p:spPr>
        <p:txBody>
          <a:bodyPr wrap="square">
            <a:spAutoFit/>
          </a:bodyPr>
          <a:lstStyle/>
          <a:p>
            <a:r>
              <a:rPr lang="en-US" dirty="0"/>
              <a:t>To understand why are complementary we can make use of the following identity:</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3F96C73-120A-E838-33C0-AC1F6850DC8A}"/>
                  </a:ext>
                </a:extLst>
              </p:cNvPr>
              <p:cNvSpPr txBox="1"/>
              <p:nvPr/>
            </p:nvSpPr>
            <p:spPr>
              <a:xfrm>
                <a:off x="1597557" y="2815522"/>
                <a:ext cx="3490426" cy="369332"/>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func>
                        <m:funcPr>
                          <m:ctrlPr>
                            <a:rPr lang="es-MX" i="1" dirty="0" smtClean="0">
                              <a:latin typeface="Cambria Math" panose="02040503050406030204" pitchFamily="18" charset="0"/>
                            </a:rPr>
                          </m:ctrlPr>
                        </m:funcPr>
                        <m:fName>
                          <m:sSup>
                            <m:sSupPr>
                              <m:ctrlPr>
                                <a:rPr lang="es-MX" i="1" dirty="0" smtClean="0">
                                  <a:latin typeface="Cambria Math" panose="02040503050406030204" pitchFamily="18" charset="0"/>
                                </a:rPr>
                              </m:ctrlPr>
                            </m:sSupPr>
                            <m:e>
                              <m:r>
                                <m:rPr>
                                  <m:sty m:val="p"/>
                                </m:rPr>
                                <a:rPr lang="es-MX" i="0" dirty="0" smtClean="0">
                                  <a:latin typeface="Cambria Math" panose="02040503050406030204" pitchFamily="18" charset="0"/>
                                </a:rPr>
                                <m:t>cos</m:t>
                              </m:r>
                            </m:e>
                            <m:sup>
                              <m:r>
                                <a:rPr lang="es-MX" i="1" dirty="0" smtClean="0">
                                  <a:latin typeface="Cambria Math" panose="02040503050406030204" pitchFamily="18" charset="0"/>
                                </a:rPr>
                                <m:t>2</m:t>
                              </m:r>
                            </m:sup>
                          </m:sSup>
                        </m:fName>
                        <m:e>
                          <m:d>
                            <m:dPr>
                              <m:ctrlPr>
                                <a:rPr lang="es-MX" i="1" dirty="0" smtClean="0">
                                  <a:latin typeface="Cambria Math" panose="02040503050406030204" pitchFamily="18" charset="0"/>
                                </a:rPr>
                              </m:ctrlPr>
                            </m:dPr>
                            <m:e>
                              <m:r>
                                <a:rPr lang="es-MX" i="1" dirty="0" smtClean="0">
                                  <a:latin typeface="Cambria Math" panose="02040503050406030204" pitchFamily="18" charset="0"/>
                                </a:rPr>
                                <m:t>𝑥</m:t>
                              </m:r>
                            </m:e>
                          </m:d>
                        </m:e>
                      </m:func>
                      <m:r>
                        <a:rPr lang="es-MX" i="1" dirty="0" smtClean="0">
                          <a:latin typeface="Cambria Math" panose="02040503050406030204" pitchFamily="18" charset="0"/>
                        </a:rPr>
                        <m:t>+</m:t>
                      </m:r>
                      <m:func>
                        <m:funcPr>
                          <m:ctrlPr>
                            <a:rPr lang="es-MX" i="1" dirty="0" smtClean="0">
                              <a:latin typeface="Cambria Math" panose="02040503050406030204" pitchFamily="18" charset="0"/>
                            </a:rPr>
                          </m:ctrlPr>
                        </m:funcPr>
                        <m:fName>
                          <m:sSup>
                            <m:sSupPr>
                              <m:ctrlPr>
                                <a:rPr lang="es-MX" i="1" dirty="0" smtClean="0">
                                  <a:latin typeface="Cambria Math" panose="02040503050406030204" pitchFamily="18" charset="0"/>
                                </a:rPr>
                              </m:ctrlPr>
                            </m:sSupPr>
                            <m:e>
                              <m:r>
                                <m:rPr>
                                  <m:sty m:val="p"/>
                                </m:rPr>
                                <a:rPr lang="es-MX" i="0" dirty="0" smtClean="0">
                                  <a:latin typeface="Cambria Math" panose="02040503050406030204" pitchFamily="18" charset="0"/>
                                </a:rPr>
                                <m:t>sin</m:t>
                              </m:r>
                            </m:e>
                            <m:sup>
                              <m:r>
                                <a:rPr lang="es-MX" i="1" dirty="0" smtClean="0">
                                  <a:latin typeface="Cambria Math" panose="02040503050406030204" pitchFamily="18" charset="0"/>
                                </a:rPr>
                                <m:t>2</m:t>
                              </m:r>
                            </m:sup>
                          </m:sSup>
                        </m:fName>
                        <m:e>
                          <m:d>
                            <m:dPr>
                              <m:ctrlPr>
                                <a:rPr lang="es-MX" i="1" dirty="0" smtClean="0">
                                  <a:latin typeface="Cambria Math" panose="02040503050406030204" pitchFamily="18" charset="0"/>
                                </a:rPr>
                              </m:ctrlPr>
                            </m:dPr>
                            <m:e>
                              <m:r>
                                <a:rPr lang="es-MX" i="1" dirty="0" smtClean="0">
                                  <a:latin typeface="Cambria Math" panose="02040503050406030204" pitchFamily="18" charset="0"/>
                                </a:rPr>
                                <m:t>𝑥</m:t>
                              </m:r>
                            </m:e>
                          </m:d>
                        </m:e>
                      </m:func>
                      <m:r>
                        <a:rPr lang="es-MX" i="1" dirty="0" smtClean="0">
                          <a:latin typeface="Cambria Math" panose="02040503050406030204" pitchFamily="18" charset="0"/>
                        </a:rPr>
                        <m:t>=1</m:t>
                      </m:r>
                    </m:oMath>
                  </m:oMathPara>
                </a14:m>
              </a:p>
            </p:txBody>
          </p:sp>
        </mc:Choice>
        <mc:Fallback>
          <p:sp>
            <p:nvSpPr>
              <p:cNvPr id="11" name="TextBox 10">
                <a:extLst>
                  <a:ext uri="{FF2B5EF4-FFF2-40B4-BE49-F238E27FC236}">
                    <a16:creationId xmlns:a16="http://schemas.microsoft.com/office/drawing/2014/main" id="{03F96C73-120A-E838-33C0-AC1F6850DC8A}"/>
                  </a:ext>
                </a:extLst>
              </p:cNvPr>
              <p:cNvSpPr txBox="1">
                <a:spLocks noRot="1" noChangeAspect="1" noMove="1" noResize="1" noEditPoints="1" noAdjustHandles="1" noChangeArrowheads="1" noChangeShapeType="1" noTextEdit="1"/>
              </p:cNvSpPr>
              <p:nvPr/>
            </p:nvSpPr>
            <p:spPr>
              <a:xfrm>
                <a:off x="1597557" y="2815522"/>
                <a:ext cx="3490426" cy="369332"/>
              </a:xfrm>
              <a:prstGeom prst="rect">
                <a:avLst/>
              </a:prstGeom>
              <a:blipFill>
                <a:blip r:embed="rId7"/>
                <a:stretch>
                  <a:fillRect t="-11667" b="-250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A408C32B-8598-177A-3BA2-A7E0A5C94C90}"/>
              </a:ext>
            </a:extLst>
          </p:cNvPr>
          <p:cNvSpPr txBox="1"/>
          <p:nvPr/>
        </p:nvSpPr>
        <p:spPr>
          <a:xfrm>
            <a:off x="423455" y="3308258"/>
            <a:ext cx="5637600" cy="646331"/>
          </a:xfrm>
          <a:prstGeom prst="rect">
            <a:avLst/>
          </a:prstGeom>
          <a:noFill/>
        </p:spPr>
        <p:txBody>
          <a:bodyPr wrap="square">
            <a:spAutoFit/>
          </a:bodyPr>
          <a:lstStyle/>
          <a:p>
            <a:pPr algn="just"/>
            <a:r>
              <a:rPr lang="en-US" dirty="0"/>
              <a:t>Which means that our outputs have the following behavior:</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AB8D56C-D0AB-8E99-084F-56C5CF409FD8}"/>
                  </a:ext>
                </a:extLst>
              </p:cNvPr>
              <p:cNvSpPr txBox="1"/>
              <p:nvPr/>
            </p:nvSpPr>
            <p:spPr>
              <a:xfrm>
                <a:off x="1445157" y="3912056"/>
                <a:ext cx="3124280" cy="369332"/>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sSub>
                        <m:sSubPr>
                          <m:ctrlPr>
                            <a:rPr lang="pt-BR" i="1" dirty="0" smtClean="0">
                              <a:latin typeface="Cambria Math" panose="02040503050406030204" pitchFamily="18" charset="0"/>
                            </a:rPr>
                          </m:ctrlPr>
                        </m:sSubPr>
                        <m:e>
                          <m:r>
                            <a:rPr lang="pt-BR" i="1" dirty="0" smtClean="0">
                              <a:latin typeface="Cambria Math" panose="02040503050406030204" pitchFamily="18" charset="0"/>
                            </a:rPr>
                            <m:t>𝐻</m:t>
                          </m:r>
                        </m:e>
                        <m:sub>
                          <m:r>
                            <a:rPr lang="pt-BR" i="1" dirty="0" smtClean="0">
                              <a:latin typeface="Cambria Math" panose="02040503050406030204" pitchFamily="18" charset="0"/>
                            </a:rPr>
                            <m:t>21</m:t>
                          </m:r>
                        </m:sub>
                      </m:sSub>
                      <m:r>
                        <a:rPr lang="pt-BR" i="1" dirty="0" smtClean="0">
                          <a:latin typeface="Cambria Math" panose="02040503050406030204" pitchFamily="18" charset="0"/>
                        </a:rPr>
                        <m:t>+</m:t>
                      </m:r>
                      <m:sSub>
                        <m:sSubPr>
                          <m:ctrlPr>
                            <a:rPr lang="pt-BR" i="1" dirty="0" smtClean="0">
                              <a:latin typeface="Cambria Math" panose="02040503050406030204" pitchFamily="18" charset="0"/>
                            </a:rPr>
                          </m:ctrlPr>
                        </m:sSubPr>
                        <m:e>
                          <m:r>
                            <a:rPr lang="pt-BR" i="1" dirty="0" smtClean="0">
                              <a:latin typeface="Cambria Math" panose="02040503050406030204" pitchFamily="18" charset="0"/>
                            </a:rPr>
                            <m:t>𝐻</m:t>
                          </m:r>
                        </m:e>
                        <m:sub>
                          <m:r>
                            <a:rPr lang="pt-BR" i="1" dirty="0" smtClean="0">
                              <a:latin typeface="Cambria Math" panose="02040503050406030204" pitchFamily="18" charset="0"/>
                            </a:rPr>
                            <m:t>22</m:t>
                          </m:r>
                        </m:sub>
                      </m:sSub>
                      <m:r>
                        <a:rPr lang="pt-BR" i="1" dirty="0" smtClean="0">
                          <a:latin typeface="Cambria Math" panose="02040503050406030204" pitchFamily="18" charset="0"/>
                        </a:rPr>
                        <m:t>=1</m:t>
                      </m:r>
                    </m:oMath>
                  </m:oMathPara>
                </a14:m>
                <a:endParaRPr lang="pt-BR" dirty="0"/>
              </a:p>
            </p:txBody>
          </p:sp>
        </mc:Choice>
        <mc:Fallback>
          <p:sp>
            <p:nvSpPr>
              <p:cNvPr id="14" name="TextBox 13">
                <a:extLst>
                  <a:ext uri="{FF2B5EF4-FFF2-40B4-BE49-F238E27FC236}">
                    <a16:creationId xmlns:a16="http://schemas.microsoft.com/office/drawing/2014/main" id="{2AB8D56C-D0AB-8E99-084F-56C5CF409FD8}"/>
                  </a:ext>
                </a:extLst>
              </p:cNvPr>
              <p:cNvSpPr txBox="1">
                <a:spLocks noRot="1" noChangeAspect="1" noMove="1" noResize="1" noEditPoints="1" noAdjustHandles="1" noChangeArrowheads="1" noChangeShapeType="1" noTextEdit="1"/>
              </p:cNvSpPr>
              <p:nvPr/>
            </p:nvSpPr>
            <p:spPr>
              <a:xfrm>
                <a:off x="1445157" y="3912056"/>
                <a:ext cx="3124280" cy="369332"/>
              </a:xfrm>
              <a:prstGeom prst="rect">
                <a:avLst/>
              </a:prstGeom>
              <a:blipFill>
                <a:blip r:embed="rId8"/>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BC311DE0-5B99-6152-7552-B70727127515}"/>
              </a:ext>
            </a:extLst>
          </p:cNvPr>
          <p:cNvSpPr txBox="1"/>
          <p:nvPr/>
        </p:nvSpPr>
        <p:spPr>
          <a:xfrm>
            <a:off x="423455" y="4317209"/>
            <a:ext cx="5637600" cy="1477328"/>
          </a:xfrm>
          <a:prstGeom prst="rect">
            <a:avLst/>
          </a:prstGeom>
          <a:noFill/>
        </p:spPr>
        <p:txBody>
          <a:bodyPr wrap="square">
            <a:spAutoFit/>
          </a:bodyPr>
          <a:lstStyle/>
          <a:p>
            <a:r>
              <a:rPr lang="en-US" dirty="0"/>
              <a:t>This means that the power that does not exit through one port exits through the other port. When one output reaches a maximum, the other reaches a minimum. The MZI does not generate power; it only redistributes the optical power between the two output ports.</a:t>
            </a:r>
          </a:p>
        </p:txBody>
      </p:sp>
    </p:spTree>
    <p:extLst>
      <p:ext uri="{BB962C8B-B14F-4D97-AF65-F5344CB8AC3E}">
        <p14:creationId xmlns:p14="http://schemas.microsoft.com/office/powerpoint/2010/main" val="3171893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3F10149-70FF-9C7B-09CF-B86DE20664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2932" y="2227223"/>
            <a:ext cx="5614427" cy="3950216"/>
          </a:xfrm>
          <a:prstGeom prst="rect">
            <a:avLst/>
          </a:prstGeom>
        </p:spPr>
      </p:pic>
      <mc:AlternateContent xmlns:mc="http://schemas.openxmlformats.org/markup-compatibility/2006">
        <mc:Choice xmlns:a14="http://schemas.microsoft.com/office/drawing/2010/main"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09600" y="216277"/>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09600" y="216277"/>
                <a:ext cx="10994410" cy="782265"/>
              </a:xfrm>
              <a:prstGeom prst="rect">
                <a:avLst/>
              </a:prstGeom>
              <a:blipFill>
                <a:blip r:embed="rId4"/>
                <a:stretch>
                  <a:fillRect l="-1552" t="-9302"/>
                </a:stretch>
              </a:blipFill>
            </p:spPr>
            <p:txBody>
              <a:bodyPr/>
              <a:lstStyle/>
              <a:p>
                <a:r>
                  <a:rPr lang="en-U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9</a:t>
            </a:fld>
            <a:endParaRPr lang="es-ES"/>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533400" y="607409"/>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533400" y="607409"/>
                <a:ext cx="11048999" cy="4958137"/>
              </a:xfrm>
              <a:prstGeom prst="rect">
                <a:avLst/>
              </a:prstGeom>
              <a:blipFill>
                <a:blip r:embed="rId7"/>
                <a:stretch>
                  <a:fillRect l="-607" t="-73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CFDBBA6B-3646-055F-7A9C-EE01830137BE}"/>
                  </a:ext>
                </a:extLst>
              </p:cNvPr>
              <p:cNvSpPr txBox="1"/>
              <p:nvPr/>
            </p:nvSpPr>
            <p:spPr>
              <a:xfrm>
                <a:off x="399661" y="2286000"/>
                <a:ext cx="5716588" cy="3867213"/>
              </a:xfrm>
              <a:prstGeom prst="rect">
                <a:avLst/>
              </a:prstGeom>
              <a:solidFill>
                <a:schemeClr val="bg1">
                  <a:lumMod val="95000"/>
                </a:schemeClr>
              </a:solidFill>
              <a:ln w="28575">
                <a:solidFill>
                  <a:srgbClr val="E0700D"/>
                </a:solidFill>
              </a:ln>
            </p:spPr>
            <p:txBody>
              <a:bodyPr wrap="square" rtlCol="0">
                <a:spAutoFit/>
              </a:bodyPr>
              <a:lstStyle/>
              <a:p>
                <a:pPr algn="just"/>
                <a:r>
                  <a:rPr lang="en-US" sz="1400" dirty="0">
                    <a:latin typeface="Arial" panose="020B0604020202020204" pitchFamily="34" charset="0"/>
                    <a:cs typeface="Arial" panose="020B0604020202020204" pitchFamily="34" charset="0"/>
                  </a:rPr>
                  <a:t>From</a:t>
                </a:r>
                <a:r>
                  <a:rPr lang="en-US" sz="1400" dirty="0"/>
                  <a:t> </a:t>
                </a:r>
                <a:r>
                  <a:rPr lang="en-US" sz="1400" dirty="0">
                    <a:latin typeface="Arial" panose="020B0604020202020204" pitchFamily="34" charset="0"/>
                    <a:cs typeface="Arial" panose="020B0604020202020204" pitchFamily="34" charset="0"/>
                  </a:rPr>
                  <a:t>the</a:t>
                </a:r>
                <a:r>
                  <a:rPr lang="en-US" sz="1400" dirty="0"/>
                  <a:t> </a:t>
                </a:r>
                <a:r>
                  <a:rPr lang="en-US" sz="1400" dirty="0">
                    <a:latin typeface="Arial" panose="020B0604020202020204" pitchFamily="34" charset="0"/>
                    <a:cs typeface="Arial" panose="020B0604020202020204" pitchFamily="34" charset="0"/>
                  </a:rPr>
                  <a:t>recorded values of the effective index </a:t>
                </a:r>
                <a14:m>
                  <m:oMath xmlns:m="http://schemas.openxmlformats.org/officeDocument/2006/math">
                    <m:sSub>
                      <m:sSubPr>
                        <m:ctrlPr>
                          <a:rPr lang="en-US" sz="1400" dirty="0">
                            <a:latin typeface="Arial" panose="020B0604020202020204" pitchFamily="34" charset="0"/>
                            <a:cs typeface="Arial" panose="020B0604020202020204" pitchFamily="34" charset="0"/>
                          </a:rPr>
                        </m:ctrlPr>
                      </m:sSubPr>
                      <m:e>
                        <m:r>
                          <a:rPr lang="en-US" sz="1400" dirty="0">
                            <a:latin typeface="Arial" panose="020B0604020202020204" pitchFamily="34" charset="0"/>
                            <a:cs typeface="Arial" panose="020B0604020202020204" pitchFamily="34" charset="0"/>
                          </a:rPr>
                          <m:t>𝑛</m:t>
                        </m:r>
                      </m:e>
                      <m:sub>
                        <m:r>
                          <m:rPr>
                            <m:nor/>
                          </m:rPr>
                          <a:rPr lang="en-US" sz="1400" dirty="0">
                            <a:latin typeface="Arial" panose="020B0604020202020204" pitchFamily="34" charset="0"/>
                            <a:cs typeface="Arial" panose="020B0604020202020204" pitchFamily="34" charset="0"/>
                          </a:rPr>
                          <m:t>eff</m:t>
                        </m:r>
                      </m:sub>
                    </m:sSub>
                  </m:oMath>
                </a14:m>
                <a:r>
                  <a:rPr lang="en-US" sz="1400" dirty="0">
                    <a:latin typeface="Arial" panose="020B0604020202020204" pitchFamily="34" charset="0"/>
                    <a:cs typeface="Arial" panose="020B0604020202020204" pitchFamily="34" charset="0"/>
                  </a:rPr>
                  <a:t> at different wavelengths for the SOI waveguide, it is possible to calculate the group index </a:t>
                </a:r>
                <a14:m>
                  <m:oMath xmlns:m="http://schemas.openxmlformats.org/officeDocument/2006/math">
                    <m:sSub>
                      <m:sSubPr>
                        <m:ctrlPr>
                          <a:rPr lang="en-US" sz="1400" dirty="0">
                            <a:latin typeface="Arial" panose="020B0604020202020204" pitchFamily="34" charset="0"/>
                            <a:cs typeface="Arial" panose="020B0604020202020204" pitchFamily="34" charset="0"/>
                          </a:rPr>
                        </m:ctrlPr>
                      </m:sSubPr>
                      <m:e>
                        <m:r>
                          <a:rPr lang="en-US" sz="1400" dirty="0">
                            <a:latin typeface="Arial" panose="020B0604020202020204" pitchFamily="34" charset="0"/>
                            <a:cs typeface="Arial" panose="020B0604020202020204" pitchFamily="34" charset="0"/>
                          </a:rPr>
                          <m:t>𝑛</m:t>
                        </m:r>
                      </m:e>
                      <m:sub>
                        <m:r>
                          <a:rPr lang="en-US" sz="1400" dirty="0">
                            <a:latin typeface="Arial" panose="020B0604020202020204" pitchFamily="34" charset="0"/>
                            <a:cs typeface="Arial" panose="020B0604020202020204" pitchFamily="34" charset="0"/>
                          </a:rPr>
                          <m:t>𝑔</m:t>
                        </m:r>
                      </m:sub>
                    </m:sSub>
                  </m:oMath>
                </a14:m>
                <a:r>
                  <a:rPr lang="en-US" sz="1400" dirty="0">
                    <a:latin typeface="Arial" panose="020B0604020202020204" pitchFamily="34" charset="0"/>
                    <a:cs typeface="Arial" panose="020B0604020202020204" pitchFamily="34" charset="0"/>
                  </a:rPr>
                  <a:t>using the following equation:</a:t>
                </a:r>
              </a:p>
              <a:p>
                <a:pPr algn="just"/>
                <a:endParaRPr lang="en-U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s-CO" i="1" dirty="0" smtClean="0">
                          <a:latin typeface="Cambria Math" panose="02040503050406030204" pitchFamily="18" charset="0"/>
                        </a:rPr>
                        <m:t>𝑛𝑔</m:t>
                      </m:r>
                      <m:r>
                        <a:rPr lang="es-CO" i="1" dirty="0" smtClean="0">
                          <a:latin typeface="Cambria Math" panose="02040503050406030204" pitchFamily="18" charset="0"/>
                        </a:rPr>
                        <m:t>=</m:t>
                      </m:r>
                      <m:r>
                        <a:rPr lang="es-CO" i="1" dirty="0" smtClean="0">
                          <a:latin typeface="Cambria Math" panose="02040503050406030204" pitchFamily="18" charset="0"/>
                        </a:rPr>
                        <m:t>𝑛</m:t>
                      </m:r>
                      <m:r>
                        <m:rPr>
                          <m:nor/>
                        </m:rPr>
                        <a:rPr lang="es-CO" i="0" dirty="0" err="1">
                          <a:latin typeface="Cambria Math" panose="02040503050406030204" pitchFamily="18" charset="0"/>
                        </a:rPr>
                        <m:t>eff</m:t>
                      </m:r>
                      <m:r>
                        <a:rPr lang="es-CO" i="1" dirty="0">
                          <a:latin typeface="Cambria Math" panose="02040503050406030204" pitchFamily="18" charset="0"/>
                        </a:rPr>
                        <m:t>−</m:t>
                      </m:r>
                      <m:r>
                        <a:rPr lang="es-CO" i="1" dirty="0">
                          <a:latin typeface="Cambria Math" panose="02040503050406030204" pitchFamily="18" charset="0"/>
                        </a:rPr>
                        <m:t>𝜆</m:t>
                      </m:r>
                      <m:f>
                        <m:fPr>
                          <m:ctrlPr>
                            <a:rPr lang="es-CO" i="1" dirty="0">
                              <a:latin typeface="Cambria Math" panose="02040503050406030204" pitchFamily="18" charset="0"/>
                            </a:rPr>
                          </m:ctrlPr>
                        </m:fPr>
                        <m:num>
                          <m:r>
                            <a:rPr lang="es-CO" i="1" dirty="0">
                              <a:latin typeface="Cambria Math" panose="02040503050406030204" pitchFamily="18" charset="0"/>
                            </a:rPr>
                            <m:t>𝑑</m:t>
                          </m:r>
                          <m:sSub>
                            <m:sSubPr>
                              <m:ctrlPr>
                                <a:rPr lang="es-CO" i="1" dirty="0">
                                  <a:latin typeface="Cambria Math" panose="02040503050406030204" pitchFamily="18" charset="0"/>
                                </a:rPr>
                              </m:ctrlPr>
                            </m:sSubPr>
                            <m:e>
                              <m:r>
                                <a:rPr lang="es-CO" i="1" dirty="0">
                                  <a:latin typeface="Cambria Math" panose="02040503050406030204" pitchFamily="18" charset="0"/>
                                </a:rPr>
                                <m:t>𝑛</m:t>
                              </m:r>
                            </m:e>
                            <m:sub>
                              <m:r>
                                <m:rPr>
                                  <m:nor/>
                                </m:rPr>
                                <a:rPr lang="es-CO" i="0" dirty="0" err="1">
                                  <a:latin typeface="Cambria Math" panose="02040503050406030204" pitchFamily="18" charset="0"/>
                                </a:rPr>
                                <m:t>eff</m:t>
                              </m:r>
                            </m:sub>
                          </m:sSub>
                        </m:num>
                        <m:den>
                          <m:r>
                            <a:rPr lang="es-CO" i="1" dirty="0">
                              <a:latin typeface="Cambria Math" panose="02040503050406030204" pitchFamily="18" charset="0"/>
                            </a:rPr>
                            <m:t>𝑑</m:t>
                          </m:r>
                          <m:r>
                            <a:rPr lang="es-CO" i="1" dirty="0">
                              <a:latin typeface="Cambria Math" panose="02040503050406030204" pitchFamily="18" charset="0"/>
                            </a:rPr>
                            <m:t>𝜆</m:t>
                          </m:r>
                        </m:den>
                      </m:f>
                    </m:oMath>
                  </m:oMathPara>
                </a14:m>
                <a:endParaRPr lang="es-CO" dirty="0"/>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400" dirty="0">
                    <a:latin typeface="Arial" panose="020B0604020202020204" pitchFamily="34" charset="0"/>
                    <a:cs typeface="Arial" panose="020B0604020202020204" pitchFamily="34" charset="0"/>
                  </a:rPr>
                  <a:t>Using this value, the length difference between the two interferometer arms can be calculated for a desired FSR of 40 nm.</a:t>
                </a:r>
              </a:p>
              <a:p>
                <a:pPr algn="just"/>
                <a:endParaRPr lang="en-U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m:rPr>
                          <m:sty m:val="p"/>
                        </m:rPr>
                        <a:rPr lang="es-CO" sz="1600" i="0" dirty="0" smtClean="0">
                          <a:latin typeface="Cambria Math" panose="02040503050406030204" pitchFamily="18" charset="0"/>
                        </a:rPr>
                        <m:t>Δ</m:t>
                      </m:r>
                      <m:r>
                        <a:rPr lang="es-CO" sz="1600" i="1" dirty="0" smtClean="0">
                          <a:latin typeface="Cambria Math" panose="02040503050406030204" pitchFamily="18" charset="0"/>
                        </a:rPr>
                        <m:t>𝐿</m:t>
                      </m:r>
                      <m:r>
                        <a:rPr lang="es-CO" sz="1600" i="1" dirty="0" smtClean="0">
                          <a:latin typeface="Cambria Math" panose="02040503050406030204" pitchFamily="18" charset="0"/>
                        </a:rPr>
                        <m:t>=</m:t>
                      </m:r>
                      <m:f>
                        <m:fPr>
                          <m:ctrlPr>
                            <a:rPr lang="es-CO" sz="1600" i="1" dirty="0" smtClean="0">
                              <a:latin typeface="Cambria Math" panose="02040503050406030204" pitchFamily="18" charset="0"/>
                            </a:rPr>
                          </m:ctrlPr>
                        </m:fPr>
                        <m:num>
                          <m:sSubSup>
                            <m:sSubSupPr>
                              <m:ctrlPr>
                                <a:rPr lang="es-CO" sz="1600" i="1" dirty="0" smtClean="0">
                                  <a:latin typeface="Cambria Math" panose="02040503050406030204" pitchFamily="18" charset="0"/>
                                </a:rPr>
                              </m:ctrlPr>
                            </m:sSubSupPr>
                            <m:e>
                              <m:r>
                                <a:rPr lang="es-CO" sz="1600" i="1" dirty="0" smtClean="0">
                                  <a:latin typeface="Cambria Math" panose="02040503050406030204" pitchFamily="18" charset="0"/>
                                </a:rPr>
                                <m:t>𝜆</m:t>
                              </m:r>
                            </m:e>
                            <m:sub>
                              <m:r>
                                <a:rPr lang="es-CO" sz="1600" i="1" dirty="0" smtClean="0">
                                  <a:latin typeface="Cambria Math" panose="02040503050406030204" pitchFamily="18" charset="0"/>
                                </a:rPr>
                                <m:t>0</m:t>
                              </m:r>
                            </m:sub>
                            <m:sup>
                              <m:r>
                                <a:rPr lang="es-CO" sz="1600" i="1" dirty="0" smtClean="0">
                                  <a:latin typeface="Cambria Math" panose="02040503050406030204" pitchFamily="18" charset="0"/>
                                </a:rPr>
                                <m:t>2</m:t>
                              </m:r>
                            </m:sup>
                          </m:sSubSup>
                        </m:num>
                        <m:den>
                          <m:sSub>
                            <m:sSubPr>
                              <m:ctrlPr>
                                <a:rPr lang="es-CO" sz="1600" i="1" dirty="0" err="1" smtClean="0">
                                  <a:latin typeface="Cambria Math" panose="02040503050406030204" pitchFamily="18" charset="0"/>
                                </a:rPr>
                              </m:ctrlPr>
                            </m:sSubPr>
                            <m:e>
                              <m:r>
                                <a:rPr lang="es-CO" sz="1600" i="1" dirty="0" err="1">
                                  <a:latin typeface="Cambria Math" panose="02040503050406030204" pitchFamily="18" charset="0"/>
                                </a:rPr>
                                <m:t>𝑛</m:t>
                              </m:r>
                            </m:e>
                            <m:sub>
                              <m:r>
                                <a:rPr lang="es-CO" sz="1600" i="1" dirty="0" err="1">
                                  <a:latin typeface="Cambria Math" panose="02040503050406030204" pitchFamily="18" charset="0"/>
                                </a:rPr>
                                <m:t>𝑔</m:t>
                              </m:r>
                            </m:sub>
                          </m:sSub>
                          <m:r>
                            <a:rPr lang="es-CO" sz="1600" i="1" dirty="0">
                              <a:latin typeface="Cambria Math" panose="02040503050406030204" pitchFamily="18" charset="0"/>
                            </a:rPr>
                            <m:t>,</m:t>
                          </m:r>
                          <m:r>
                            <m:rPr>
                              <m:nor/>
                            </m:rPr>
                            <a:rPr lang="es-CO" sz="1600" i="0" dirty="0">
                              <a:latin typeface="Cambria Math" panose="02040503050406030204" pitchFamily="18" charset="0"/>
                            </a:rPr>
                            <m:t>FSR</m:t>
                          </m:r>
                        </m:den>
                      </m:f>
                    </m:oMath>
                  </m:oMathPara>
                </a14:m>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400" dirty="0">
                    <a:latin typeface="Arial" panose="020B0604020202020204" pitchFamily="34" charset="0"/>
                    <a:cs typeface="Arial" panose="020B0604020202020204" pitchFamily="34" charset="0"/>
                  </a:rPr>
                  <a:t>The results are </a:t>
                </a:r>
                <a14:m>
                  <m:oMath xmlns:m="http://schemas.openxmlformats.org/officeDocument/2006/math">
                    <m:sSub>
                      <m:sSubPr>
                        <m:ctrlPr>
                          <a:rPr lang="en-US" sz="1400" i="1" dirty="0" smtClean="0">
                            <a:latin typeface="Cambria Math" panose="02040503050406030204" pitchFamily="18" charset="0"/>
                            <a:cs typeface="Arial" panose="020B0604020202020204" pitchFamily="34" charset="0"/>
                          </a:rPr>
                        </m:ctrlPr>
                      </m:sSubPr>
                      <m:e>
                        <m:r>
                          <a:rPr lang="en-US" sz="1400" i="1" dirty="0" smtClean="0">
                            <a:latin typeface="Cambria Math" panose="02040503050406030204" pitchFamily="18" charset="0"/>
                            <a:cs typeface="Arial" panose="020B0604020202020204" pitchFamily="34" charset="0"/>
                          </a:rPr>
                          <m:t>𝑛</m:t>
                        </m:r>
                      </m:e>
                      <m:sub>
                        <m:r>
                          <a:rPr lang="en-US" sz="1400" i="1" dirty="0" smtClean="0">
                            <a:latin typeface="Cambria Math" panose="02040503050406030204" pitchFamily="18" charset="0"/>
                            <a:cs typeface="Arial" panose="020B0604020202020204" pitchFamily="34" charset="0"/>
                          </a:rPr>
                          <m:t>𝑔</m:t>
                        </m:r>
                      </m:sub>
                    </m:sSub>
                    <m:r>
                      <a:rPr lang="en-US" sz="1400" i="1" dirty="0" smtClean="0">
                        <a:latin typeface="Cambria Math" panose="02040503050406030204" pitchFamily="18" charset="0"/>
                        <a:cs typeface="Arial" panose="020B0604020202020204" pitchFamily="34" charset="0"/>
                      </a:rPr>
                      <m:t>=4,3</m:t>
                    </m:r>
                    <m:r>
                      <a:rPr lang="es-MX" sz="1400" b="0" i="1" dirty="0" smtClean="0">
                        <a:latin typeface="Cambria Math" panose="02040503050406030204" pitchFamily="18" charset="0"/>
                        <a:cs typeface="Arial" panose="020B0604020202020204" pitchFamily="34" charset="0"/>
                      </a:rPr>
                      <m:t> </m:t>
                    </m:r>
                  </m:oMath>
                </a14:m>
                <a:r>
                  <a:rPr lang="en-US" sz="1400" dirty="0">
                    <a:latin typeface="Arial" panose="020B0604020202020204" pitchFamily="34" charset="0"/>
                    <a:cs typeface="Arial" panose="020B0604020202020204" pitchFamily="34" charset="0"/>
                  </a:rPr>
                  <a:t>and </a:t>
                </a:r>
                <a14:m>
                  <m:oMath xmlns:m="http://schemas.openxmlformats.org/officeDocument/2006/math">
                    <m:r>
                      <m:rPr>
                        <m:sty m:val="p"/>
                      </m:rPr>
                      <a:rPr lang="en-US" sz="1400" i="0" dirty="0" smtClean="0">
                        <a:latin typeface="Cambria Math" panose="02040503050406030204" pitchFamily="18" charset="0"/>
                        <a:cs typeface="Arial" panose="020B0604020202020204" pitchFamily="34" charset="0"/>
                      </a:rPr>
                      <m:t>Δ</m:t>
                    </m:r>
                    <m:r>
                      <a:rPr lang="en-US" sz="1400" i="1" dirty="0" smtClean="0">
                        <a:latin typeface="Cambria Math" panose="02040503050406030204" pitchFamily="18" charset="0"/>
                        <a:cs typeface="Arial" panose="020B0604020202020204" pitchFamily="34" charset="0"/>
                      </a:rPr>
                      <m:t>𝐿</m:t>
                    </m:r>
                    <m:r>
                      <a:rPr lang="en-US" sz="1400" i="1" dirty="0" smtClean="0">
                        <a:latin typeface="Cambria Math" panose="02040503050406030204" pitchFamily="18" charset="0"/>
                        <a:cs typeface="Arial" panose="020B0604020202020204" pitchFamily="34" charset="0"/>
                      </a:rPr>
                      <m:t> = 14000 </m:t>
                    </m:r>
                    <m:r>
                      <a:rPr lang="en-US" sz="1400" i="1" dirty="0" smtClean="0">
                        <a:latin typeface="Cambria Math" panose="02040503050406030204" pitchFamily="18" charset="0"/>
                        <a:cs typeface="Arial" panose="020B0604020202020204" pitchFamily="34" charset="0"/>
                      </a:rPr>
                      <m:t>𝑛𝑚</m:t>
                    </m:r>
                  </m:oMath>
                </a14:m>
                <a:endParaRPr lang="en-US" sz="1400" dirty="0">
                  <a:latin typeface="Arial" panose="020B0604020202020204" pitchFamily="34" charset="0"/>
                  <a:cs typeface="Arial" panose="020B0604020202020204" pitchFamily="34" charset="0"/>
                </a:endParaRPr>
              </a:p>
              <a:p>
                <a:pPr algn="just"/>
                <a:endParaRPr lang="en-US" sz="14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CFDBBA6B-3646-055F-7A9C-EE01830137BE}"/>
                  </a:ext>
                </a:extLst>
              </p:cNvPr>
              <p:cNvSpPr txBox="1">
                <a:spLocks noRot="1" noChangeAspect="1" noMove="1" noResize="1" noEditPoints="1" noAdjustHandles="1" noChangeArrowheads="1" noChangeShapeType="1" noTextEdit="1"/>
              </p:cNvSpPr>
              <p:nvPr/>
            </p:nvSpPr>
            <p:spPr>
              <a:xfrm>
                <a:off x="399661" y="2286000"/>
                <a:ext cx="5716588" cy="3867213"/>
              </a:xfrm>
              <a:prstGeom prst="rect">
                <a:avLst/>
              </a:prstGeom>
              <a:blipFill>
                <a:blip r:embed="rId8"/>
                <a:stretch>
                  <a:fillRect l="-106" r="-106"/>
                </a:stretch>
              </a:blipFill>
              <a:ln w="28575">
                <a:solidFill>
                  <a:srgbClr val="E0700D"/>
                </a:solidFill>
              </a:ln>
            </p:spPr>
            <p:txBody>
              <a:bodyPr/>
              <a:lstStyle/>
              <a:p>
                <a:r>
                  <a:rPr lang="en-US">
                    <a:noFill/>
                  </a:rPr>
                  <a:t> </a:t>
                </a:r>
              </a:p>
            </p:txBody>
          </p:sp>
        </mc:Fallback>
      </mc:AlternateContent>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
        <p:nvSpPr>
          <p:cNvPr id="3" name="Rectángulo 4">
            <a:extLst>
              <a:ext uri="{FF2B5EF4-FFF2-40B4-BE49-F238E27FC236}">
                <a16:creationId xmlns:a16="http://schemas.microsoft.com/office/drawing/2014/main" id="{F68B131B-F506-E0A6-FB8B-4BB7A3D49157}"/>
              </a:ext>
            </a:extLst>
          </p:cNvPr>
          <p:cNvSpPr/>
          <p:nvPr/>
        </p:nvSpPr>
        <p:spPr>
          <a:xfrm>
            <a:off x="6272932" y="2227223"/>
            <a:ext cx="5614427" cy="39259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8CC3078-17ED-0CD4-C174-9D126BB74995}"/>
              </a:ext>
            </a:extLst>
          </p:cNvPr>
          <p:cNvSpPr/>
          <p:nvPr/>
        </p:nvSpPr>
        <p:spPr>
          <a:xfrm>
            <a:off x="8491959" y="2781677"/>
            <a:ext cx="1752600" cy="304800"/>
          </a:xfrm>
          <a:prstGeom prst="roundRect">
            <a:avLst/>
          </a:prstGeom>
          <a:solidFill>
            <a:srgbClr val="FFD8B7"/>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s-MX" dirty="0"/>
              <a:t>20 nm</a:t>
            </a:r>
            <a:endParaRPr lang="en-US" dirty="0"/>
          </a:p>
        </p:txBody>
      </p:sp>
      <p:sp>
        <p:nvSpPr>
          <p:cNvPr id="9" name="Rectangle: Rounded Corners 8">
            <a:extLst>
              <a:ext uri="{FF2B5EF4-FFF2-40B4-BE49-F238E27FC236}">
                <a16:creationId xmlns:a16="http://schemas.microsoft.com/office/drawing/2014/main" id="{C91381C0-41A3-8958-AF1D-0242CE59BFBC}"/>
              </a:ext>
            </a:extLst>
          </p:cNvPr>
          <p:cNvSpPr/>
          <p:nvPr/>
        </p:nvSpPr>
        <p:spPr>
          <a:xfrm>
            <a:off x="8491959" y="5197655"/>
            <a:ext cx="3585842" cy="304800"/>
          </a:xfrm>
          <a:prstGeom prst="roundRect">
            <a:avLst/>
          </a:prstGeom>
          <a:solidFill>
            <a:srgbClr val="FFD8B7"/>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s-MX" dirty="0"/>
              <a:t>40 nm </a:t>
            </a:r>
            <a:r>
              <a:rPr lang="es-MX" dirty="0" err="1"/>
              <a:t>for</a:t>
            </a:r>
            <a:r>
              <a:rPr lang="es-MX" dirty="0"/>
              <a:t> </a:t>
            </a:r>
            <a:r>
              <a:rPr lang="es-MX" dirty="0" err="1"/>
              <a:t>next</a:t>
            </a:r>
            <a:r>
              <a:rPr lang="es-MX" dirty="0"/>
              <a:t> </a:t>
            </a:r>
            <a:r>
              <a:rPr lang="es-MX" dirty="0" err="1"/>
              <a:t>peak</a:t>
            </a:r>
            <a:endParaRPr lang="en-US" dirty="0"/>
          </a:p>
        </p:txBody>
      </p:sp>
    </p:spTree>
    <p:extLst>
      <p:ext uri="{BB962C8B-B14F-4D97-AF65-F5344CB8AC3E}">
        <p14:creationId xmlns:p14="http://schemas.microsoft.com/office/powerpoint/2010/main" val="2337098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2B1D355-5109-0E07-710B-F30BE837DD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4678" y="2178534"/>
            <a:ext cx="5349251" cy="4023368"/>
          </a:xfrm>
          <a:prstGeom prst="rect">
            <a:avLst/>
          </a:prstGeom>
        </p:spPr>
      </p:pic>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26089" y="177177"/>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1" y="601104"/>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
        <p:nvSpPr>
          <p:cNvPr id="3" name="Rectángulo 4">
            <a:extLst>
              <a:ext uri="{FF2B5EF4-FFF2-40B4-BE49-F238E27FC236}">
                <a16:creationId xmlns:a16="http://schemas.microsoft.com/office/drawing/2014/main" id="{2B912BD3-AD6F-13B9-B139-91E27A97A178}"/>
              </a:ext>
            </a:extLst>
          </p:cNvPr>
          <p:cNvSpPr/>
          <p:nvPr/>
        </p:nvSpPr>
        <p:spPr>
          <a:xfrm>
            <a:off x="6272932" y="2227223"/>
            <a:ext cx="5614427" cy="39259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6436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1427</TotalTime>
  <Words>1365</Words>
  <Application>Microsoft Office PowerPoint</Application>
  <PresentationFormat>Widescreen</PresentationFormat>
  <Paragraphs>141</Paragraphs>
  <Slides>12</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Calibri</vt:lpstr>
      <vt:lpstr>Cambria Math</vt:lpstr>
      <vt:lpstr>Courier New</vt:lpstr>
      <vt:lpstr>Lucida Sans</vt:lpstr>
      <vt:lpstr>Wingdings</vt:lpstr>
      <vt:lpstr>Office Theme</vt:lpstr>
      <vt:lpstr>PowerPoint Presentation</vt:lpstr>
      <vt:lpstr>Instructions General</vt:lpstr>
      <vt:lpstr>ASSESSMENT #1 – Recap from theory – MZI configurations </vt:lpstr>
      <vt:lpstr>ASSESSMENT #1 – Recap from theory – MZI configurations </vt:lpstr>
      <vt:lpstr>ASSESSMENT #1 – Recap from theory – MZI configurations </vt:lpstr>
      <vt:lpstr>ASSESSMENT #1 – Recap from theory – MZI configurations </vt:lpstr>
      <vt:lpstr>ASSESSMENT #1 – Recap from theory – MZI configurations </vt:lpstr>
      <vt:lpstr>ASSESSMENT #1 – Recap from theory – MZI configurations </vt:lpstr>
      <vt:lpstr>ASSESSMENT #2 – Recap from theory – Calculation of ΔL  </vt:lpstr>
      <vt:lpstr>ASSESSMENT #3 – SAX implementation  </vt:lpstr>
      <vt:lpstr>Extra assessments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Nicolás Ospina Mendivelso</cp:lastModifiedBy>
  <cp:revision>30</cp:revision>
  <dcterms:created xsi:type="dcterms:W3CDTF">2025-01-27T02:46:57Z</dcterms:created>
  <dcterms:modified xsi:type="dcterms:W3CDTF">2026-03-23T18:32:47Z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