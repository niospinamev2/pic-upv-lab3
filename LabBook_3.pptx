
<file path=[Content_Types].xml><?xml version="1.0" encoding="utf-8"?>
<Types xmlns="http://schemas.openxmlformats.org/package/2006/content-types">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p:sldMasterIdLst>
    <p:sldMasterId id="2147483648" r:id="rId1"/>
  </p:sldMasterIdLst>
  <p:notesMasterIdLst>
    <p:notesMasterId r:id="rId12"/>
  </p:notesMasterIdLst>
  <p:handoutMasterIdLst>
    <p:handoutMasterId r:id="rId13"/>
  </p:handoutMasterIdLst>
  <p:sldIdLst>
    <p:sldId id="256" r:id="rId2"/>
    <p:sldId id="289" r:id="rId3"/>
    <p:sldId id="290" r:id="rId4"/>
    <p:sldId id="297" r:id="rId5"/>
    <p:sldId id="298" r:id="rId6"/>
    <p:sldId id="299" r:id="rId7"/>
    <p:sldId id="295" r:id="rId8"/>
    <p:sldId id="296" r:id="rId9"/>
    <p:sldId id="293" r:id="rId10"/>
    <p:sldId id="288" r:id="rId11"/>
  </p:sldIdLst>
  <p:sldSz cx="12192000" cy="6858000"/>
  <p:notesSz cx="12192000" cy="6858000"/>
  <p:defaultTextStyle>
    <a:defPPr>
      <a:defRPr lang="es-E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880">
          <p15:clr>
            <a:srgbClr val="A4A3A4"/>
          </p15:clr>
        </p15:guide>
        <p15:guide id="2" pos="2160">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5538" autoAdjust="0"/>
    <p:restoredTop sz="95033" autoAdjust="0"/>
  </p:normalViewPr>
  <p:slideViewPr>
    <p:cSldViewPr>
      <p:cViewPr varScale="1">
        <p:scale>
          <a:sx n="82" d="100"/>
          <a:sy n="82" d="100"/>
        </p:scale>
        <p:origin x="1152" y="72"/>
      </p:cViewPr>
      <p:guideLst>
        <p:guide orient="horz" pos="2880"/>
        <p:guide pos="2160"/>
      </p:guideLst>
    </p:cSldViewPr>
  </p:slideViewPr>
  <p:notesTextViewPr>
    <p:cViewPr>
      <p:scale>
        <a:sx n="100" d="100"/>
        <a:sy n="100" d="100"/>
      </p:scale>
      <p:origin x="0" y="0"/>
    </p:cViewPr>
  </p:notesTextViewPr>
  <p:notesViewPr>
    <p:cSldViewPr>
      <p:cViewPr varScale="1">
        <p:scale>
          <a:sx n="83" d="100"/>
          <a:sy n="83" d="100"/>
        </p:scale>
        <p:origin x="1392" y="62"/>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handoutMaster" Target="handoutMasters/handoutMaster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notesMaster" Target="notesMasters/notesMaster1.xml"/><Relationship Id="rId17"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viewProps" Target="view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presProps" Target="presProp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a:extLst>
              <a:ext uri="{FF2B5EF4-FFF2-40B4-BE49-F238E27FC236}">
                <a16:creationId xmlns:a16="http://schemas.microsoft.com/office/drawing/2014/main" id="{ADD96E76-517F-B468-04D8-38EFA44947EB}"/>
              </a:ext>
            </a:extLst>
          </p:cNvPr>
          <p:cNvSpPr>
            <a:spLocks noGrp="1"/>
          </p:cNvSpPr>
          <p:nvPr>
            <p:ph type="hdr" sz="quarter"/>
          </p:nvPr>
        </p:nvSpPr>
        <p:spPr>
          <a:xfrm>
            <a:off x="0" y="0"/>
            <a:ext cx="5283200" cy="344488"/>
          </a:xfrm>
          <a:prstGeom prst="rect">
            <a:avLst/>
          </a:prstGeom>
        </p:spPr>
        <p:txBody>
          <a:bodyPr vert="horz" lIns="91440" tIns="45720" rIns="91440" bIns="45720" rtlCol="0"/>
          <a:lstStyle>
            <a:lvl1pPr algn="l">
              <a:defRPr sz="1200"/>
            </a:lvl1pPr>
          </a:lstStyle>
          <a:p>
            <a:endParaRPr lang="es-ES"/>
          </a:p>
        </p:txBody>
      </p:sp>
      <p:sp>
        <p:nvSpPr>
          <p:cNvPr id="3" name="Marcador de fecha 2">
            <a:extLst>
              <a:ext uri="{FF2B5EF4-FFF2-40B4-BE49-F238E27FC236}">
                <a16:creationId xmlns:a16="http://schemas.microsoft.com/office/drawing/2014/main" id="{8678D0B9-782A-7C16-D731-EEB7F991FA76}"/>
              </a:ext>
            </a:extLst>
          </p:cNvPr>
          <p:cNvSpPr>
            <a:spLocks noGrp="1"/>
          </p:cNvSpPr>
          <p:nvPr>
            <p:ph type="dt" sz="quarter" idx="1"/>
          </p:nvPr>
        </p:nvSpPr>
        <p:spPr>
          <a:xfrm>
            <a:off x="6905625" y="0"/>
            <a:ext cx="5283200" cy="344488"/>
          </a:xfrm>
          <a:prstGeom prst="rect">
            <a:avLst/>
          </a:prstGeom>
        </p:spPr>
        <p:txBody>
          <a:bodyPr vert="horz" lIns="91440" tIns="45720" rIns="91440" bIns="45720" rtlCol="0"/>
          <a:lstStyle>
            <a:lvl1pPr algn="r">
              <a:defRPr sz="1200"/>
            </a:lvl1pPr>
          </a:lstStyle>
          <a:p>
            <a:fld id="{8438F8DC-35B0-48E6-A86E-42F1F08DD00F}" type="datetimeFigureOut">
              <a:rPr lang="es-ES" smtClean="0"/>
              <a:t>23/03/2026</a:t>
            </a:fld>
            <a:endParaRPr lang="es-ES"/>
          </a:p>
        </p:txBody>
      </p:sp>
      <p:sp>
        <p:nvSpPr>
          <p:cNvPr id="4" name="Marcador de pie de página 3">
            <a:extLst>
              <a:ext uri="{FF2B5EF4-FFF2-40B4-BE49-F238E27FC236}">
                <a16:creationId xmlns:a16="http://schemas.microsoft.com/office/drawing/2014/main" id="{2F2E7B1C-60E2-8A48-EEE0-6715FC30A8B7}"/>
              </a:ext>
            </a:extLst>
          </p:cNvPr>
          <p:cNvSpPr>
            <a:spLocks noGrp="1"/>
          </p:cNvSpPr>
          <p:nvPr>
            <p:ph type="ftr" sz="quarter" idx="2"/>
          </p:nvPr>
        </p:nvSpPr>
        <p:spPr>
          <a:xfrm>
            <a:off x="0" y="6513513"/>
            <a:ext cx="5283200" cy="344487"/>
          </a:xfrm>
          <a:prstGeom prst="rect">
            <a:avLst/>
          </a:prstGeom>
        </p:spPr>
        <p:txBody>
          <a:bodyPr vert="horz" lIns="91440" tIns="45720" rIns="91440" bIns="45720" rtlCol="0" anchor="b"/>
          <a:lstStyle>
            <a:lvl1pPr algn="l">
              <a:defRPr sz="1200"/>
            </a:lvl1pPr>
          </a:lstStyle>
          <a:p>
            <a:endParaRPr lang="es-ES"/>
          </a:p>
        </p:txBody>
      </p:sp>
      <p:sp>
        <p:nvSpPr>
          <p:cNvPr id="5" name="Marcador de número de diapositiva 4">
            <a:extLst>
              <a:ext uri="{FF2B5EF4-FFF2-40B4-BE49-F238E27FC236}">
                <a16:creationId xmlns:a16="http://schemas.microsoft.com/office/drawing/2014/main" id="{C428D795-4EA2-62F0-B78A-5F215C828C50}"/>
              </a:ext>
            </a:extLst>
          </p:cNvPr>
          <p:cNvSpPr>
            <a:spLocks noGrp="1"/>
          </p:cNvSpPr>
          <p:nvPr>
            <p:ph type="sldNum" sz="quarter" idx="3"/>
          </p:nvPr>
        </p:nvSpPr>
        <p:spPr>
          <a:xfrm>
            <a:off x="6905625" y="6513513"/>
            <a:ext cx="5283200" cy="344487"/>
          </a:xfrm>
          <a:prstGeom prst="rect">
            <a:avLst/>
          </a:prstGeom>
        </p:spPr>
        <p:txBody>
          <a:bodyPr vert="horz" lIns="91440" tIns="45720" rIns="91440" bIns="45720" rtlCol="0" anchor="b"/>
          <a:lstStyle>
            <a:lvl1pPr algn="r">
              <a:defRPr sz="1200"/>
            </a:lvl1pPr>
          </a:lstStyle>
          <a:p>
            <a:fld id="{4116A549-763A-4A89-A454-A94BAF51395E}" type="slidenum">
              <a:rPr lang="es-ES" smtClean="0"/>
              <a:t>‹#›</a:t>
            </a:fld>
            <a:endParaRPr lang="es-ES"/>
          </a:p>
        </p:txBody>
      </p:sp>
    </p:spTree>
    <p:extLst>
      <p:ext uri="{BB962C8B-B14F-4D97-AF65-F5344CB8AC3E}">
        <p14:creationId xmlns:p14="http://schemas.microsoft.com/office/powerpoint/2010/main" val="1403477749"/>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p:cNvSpPr>
            <a:spLocks noGrp="1"/>
          </p:cNvSpPr>
          <p:nvPr>
            <p:ph type="hdr" sz="quarter"/>
          </p:nvPr>
        </p:nvSpPr>
        <p:spPr>
          <a:xfrm>
            <a:off x="0" y="0"/>
            <a:ext cx="5283200" cy="344488"/>
          </a:xfrm>
          <a:prstGeom prst="rect">
            <a:avLst/>
          </a:prstGeom>
        </p:spPr>
        <p:txBody>
          <a:bodyPr vert="horz" lIns="91440" tIns="45720" rIns="91440" bIns="45720" rtlCol="0"/>
          <a:lstStyle>
            <a:lvl1pPr algn="l">
              <a:defRPr sz="1200"/>
            </a:lvl1pPr>
          </a:lstStyle>
          <a:p>
            <a:endParaRPr lang="es-ES"/>
          </a:p>
        </p:txBody>
      </p:sp>
      <p:sp>
        <p:nvSpPr>
          <p:cNvPr id="3" name="Marcador de fecha 2"/>
          <p:cNvSpPr>
            <a:spLocks noGrp="1"/>
          </p:cNvSpPr>
          <p:nvPr>
            <p:ph type="dt" idx="1"/>
          </p:nvPr>
        </p:nvSpPr>
        <p:spPr>
          <a:xfrm>
            <a:off x="6905625" y="0"/>
            <a:ext cx="5283200" cy="344488"/>
          </a:xfrm>
          <a:prstGeom prst="rect">
            <a:avLst/>
          </a:prstGeom>
        </p:spPr>
        <p:txBody>
          <a:bodyPr vert="horz" lIns="91440" tIns="45720" rIns="91440" bIns="45720" rtlCol="0"/>
          <a:lstStyle>
            <a:lvl1pPr algn="r">
              <a:defRPr sz="1200"/>
            </a:lvl1pPr>
          </a:lstStyle>
          <a:p>
            <a:fld id="{FACBDC12-F39B-4B97-8F4D-6734F9D366FF}" type="datetimeFigureOut">
              <a:rPr lang="es-ES" smtClean="0"/>
              <a:t>23/03/2026</a:t>
            </a:fld>
            <a:endParaRPr lang="es-ES"/>
          </a:p>
        </p:txBody>
      </p:sp>
      <p:sp>
        <p:nvSpPr>
          <p:cNvPr id="4" name="Marcador de imagen de diapositiva 3"/>
          <p:cNvSpPr>
            <a:spLocks noGrp="1" noRot="1" noChangeAspect="1"/>
          </p:cNvSpPr>
          <p:nvPr>
            <p:ph type="sldImg" idx="2"/>
          </p:nvPr>
        </p:nvSpPr>
        <p:spPr>
          <a:xfrm>
            <a:off x="4038600" y="857250"/>
            <a:ext cx="4114800" cy="2314575"/>
          </a:xfrm>
          <a:prstGeom prst="rect">
            <a:avLst/>
          </a:prstGeom>
          <a:noFill/>
          <a:ln w="12700">
            <a:solidFill>
              <a:prstClr val="black"/>
            </a:solidFill>
          </a:ln>
        </p:spPr>
        <p:txBody>
          <a:bodyPr vert="horz" lIns="91440" tIns="45720" rIns="91440" bIns="45720" rtlCol="0" anchor="ctr"/>
          <a:lstStyle/>
          <a:p>
            <a:endParaRPr lang="es-ES"/>
          </a:p>
        </p:txBody>
      </p:sp>
      <p:sp>
        <p:nvSpPr>
          <p:cNvPr id="5" name="Marcador de notas 4"/>
          <p:cNvSpPr>
            <a:spLocks noGrp="1"/>
          </p:cNvSpPr>
          <p:nvPr>
            <p:ph type="body" sz="quarter" idx="3"/>
          </p:nvPr>
        </p:nvSpPr>
        <p:spPr>
          <a:xfrm>
            <a:off x="1219200" y="3300413"/>
            <a:ext cx="9753600" cy="2700337"/>
          </a:xfrm>
          <a:prstGeom prst="rect">
            <a:avLst/>
          </a:prstGeom>
        </p:spPr>
        <p:txBody>
          <a:bodyPr vert="horz" lIns="91440" tIns="45720" rIns="91440" bIns="45720" rtlCol="0"/>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6" name="Marcador de pie de página 5"/>
          <p:cNvSpPr>
            <a:spLocks noGrp="1"/>
          </p:cNvSpPr>
          <p:nvPr>
            <p:ph type="ftr" sz="quarter" idx="4"/>
          </p:nvPr>
        </p:nvSpPr>
        <p:spPr>
          <a:xfrm>
            <a:off x="0" y="6513513"/>
            <a:ext cx="5283200" cy="344487"/>
          </a:xfrm>
          <a:prstGeom prst="rect">
            <a:avLst/>
          </a:prstGeom>
        </p:spPr>
        <p:txBody>
          <a:bodyPr vert="horz" lIns="91440" tIns="45720" rIns="91440" bIns="45720" rtlCol="0" anchor="b"/>
          <a:lstStyle>
            <a:lvl1pPr algn="l">
              <a:defRPr sz="1200"/>
            </a:lvl1pPr>
          </a:lstStyle>
          <a:p>
            <a:endParaRPr lang="es-ES"/>
          </a:p>
        </p:txBody>
      </p:sp>
      <p:sp>
        <p:nvSpPr>
          <p:cNvPr id="7" name="Marcador de número de diapositiva 6"/>
          <p:cNvSpPr>
            <a:spLocks noGrp="1"/>
          </p:cNvSpPr>
          <p:nvPr>
            <p:ph type="sldNum" sz="quarter" idx="5"/>
          </p:nvPr>
        </p:nvSpPr>
        <p:spPr>
          <a:xfrm>
            <a:off x="6905625" y="6513513"/>
            <a:ext cx="5283200" cy="344487"/>
          </a:xfrm>
          <a:prstGeom prst="rect">
            <a:avLst/>
          </a:prstGeom>
        </p:spPr>
        <p:txBody>
          <a:bodyPr vert="horz" lIns="91440" tIns="45720" rIns="91440" bIns="45720" rtlCol="0" anchor="b"/>
          <a:lstStyle>
            <a:lvl1pPr algn="r">
              <a:defRPr sz="1200"/>
            </a:lvl1pPr>
          </a:lstStyle>
          <a:p>
            <a:fld id="{676223B9-C868-4436-87D9-1A3152E1157A}" type="slidenum">
              <a:rPr lang="es-ES" smtClean="0"/>
              <a:t>‹#›</a:t>
            </a:fld>
            <a:endParaRPr lang="es-ES"/>
          </a:p>
        </p:txBody>
      </p:sp>
    </p:spTree>
    <p:extLst>
      <p:ext uri="{BB962C8B-B14F-4D97-AF65-F5344CB8AC3E}">
        <p14:creationId xmlns:p14="http://schemas.microsoft.com/office/powerpoint/2010/main" val="283421117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ES" dirty="0"/>
          </a:p>
        </p:txBody>
      </p:sp>
      <p:sp>
        <p:nvSpPr>
          <p:cNvPr id="4" name="Marcador de número de diapositiva 3"/>
          <p:cNvSpPr>
            <a:spLocks noGrp="1"/>
          </p:cNvSpPr>
          <p:nvPr>
            <p:ph type="sldNum" sz="quarter" idx="5"/>
          </p:nvPr>
        </p:nvSpPr>
        <p:spPr/>
        <p:txBody>
          <a:bodyPr/>
          <a:lstStyle/>
          <a:p>
            <a:fld id="{676223B9-C868-4436-87D9-1A3152E1157A}" type="slidenum">
              <a:rPr lang="es-ES" smtClean="0"/>
              <a:t>3</a:t>
            </a:fld>
            <a:endParaRPr lang="es-ES"/>
          </a:p>
        </p:txBody>
      </p:sp>
    </p:spTree>
    <p:extLst>
      <p:ext uri="{BB962C8B-B14F-4D97-AF65-F5344CB8AC3E}">
        <p14:creationId xmlns:p14="http://schemas.microsoft.com/office/powerpoint/2010/main" val="209253237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69AA65-166B-474B-A6C9-9858D86A9448}"/>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38158223-A8BA-05F6-464C-EC03A9FB8C56}"/>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F6ECB4DF-C329-8F47-9ECE-661B5B2BF9AC}"/>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041B2276-A4E2-DFBF-0088-6997E86C9FE1}"/>
              </a:ext>
            </a:extLst>
          </p:cNvPr>
          <p:cNvSpPr>
            <a:spLocks noGrp="1"/>
          </p:cNvSpPr>
          <p:nvPr>
            <p:ph type="sldNum" sz="quarter" idx="5"/>
          </p:nvPr>
        </p:nvSpPr>
        <p:spPr/>
        <p:txBody>
          <a:bodyPr/>
          <a:lstStyle/>
          <a:p>
            <a:fld id="{676223B9-C868-4436-87D9-1A3152E1157A}" type="slidenum">
              <a:rPr lang="es-ES" smtClean="0"/>
              <a:t>4</a:t>
            </a:fld>
            <a:endParaRPr lang="es-ES"/>
          </a:p>
        </p:txBody>
      </p:sp>
    </p:spTree>
    <p:extLst>
      <p:ext uri="{BB962C8B-B14F-4D97-AF65-F5344CB8AC3E}">
        <p14:creationId xmlns:p14="http://schemas.microsoft.com/office/powerpoint/2010/main" val="236231598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C4BC9F-98B2-66F1-35FF-48ED8BCB5FB0}"/>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C6E480F2-257B-80E6-FA55-FC36E8E06A69}"/>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A708A38C-1345-CF91-6B73-A33866A8DCBC}"/>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F232A2E9-E312-8DCB-8E7B-6C01DB44707A}"/>
              </a:ext>
            </a:extLst>
          </p:cNvPr>
          <p:cNvSpPr>
            <a:spLocks noGrp="1"/>
          </p:cNvSpPr>
          <p:nvPr>
            <p:ph type="sldNum" sz="quarter" idx="5"/>
          </p:nvPr>
        </p:nvSpPr>
        <p:spPr/>
        <p:txBody>
          <a:bodyPr/>
          <a:lstStyle/>
          <a:p>
            <a:fld id="{676223B9-C868-4436-87D9-1A3152E1157A}" type="slidenum">
              <a:rPr lang="es-ES" smtClean="0"/>
              <a:t>5</a:t>
            </a:fld>
            <a:endParaRPr lang="es-ES"/>
          </a:p>
        </p:txBody>
      </p:sp>
    </p:spTree>
    <p:extLst>
      <p:ext uri="{BB962C8B-B14F-4D97-AF65-F5344CB8AC3E}">
        <p14:creationId xmlns:p14="http://schemas.microsoft.com/office/powerpoint/2010/main" val="104110800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E4EBA3-0213-BA7A-7435-9B22EB7D46A3}"/>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231D264E-ED0C-5809-2B12-D0DB7A5F2BB5}"/>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B11F22E7-F6DD-2400-F4E8-7563A937BDE9}"/>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D3B72082-8262-802F-7FD5-E48A61933C44}"/>
              </a:ext>
            </a:extLst>
          </p:cNvPr>
          <p:cNvSpPr>
            <a:spLocks noGrp="1"/>
          </p:cNvSpPr>
          <p:nvPr>
            <p:ph type="sldNum" sz="quarter" idx="5"/>
          </p:nvPr>
        </p:nvSpPr>
        <p:spPr/>
        <p:txBody>
          <a:bodyPr/>
          <a:lstStyle/>
          <a:p>
            <a:fld id="{676223B9-C868-4436-87D9-1A3152E1157A}" type="slidenum">
              <a:rPr lang="es-ES" smtClean="0"/>
              <a:t>6</a:t>
            </a:fld>
            <a:endParaRPr lang="es-ES"/>
          </a:p>
        </p:txBody>
      </p:sp>
    </p:spTree>
    <p:extLst>
      <p:ext uri="{BB962C8B-B14F-4D97-AF65-F5344CB8AC3E}">
        <p14:creationId xmlns:p14="http://schemas.microsoft.com/office/powerpoint/2010/main" val="129011856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2B2A21-C6A2-C5B9-2DCA-3754617037C3}"/>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ABC95D30-E081-8AAE-817B-40A03306A70C}"/>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1A6FC665-BCC5-C316-DC0F-D9DFBC44401F}"/>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4DB17553-B500-6323-E98B-E84BE727295F}"/>
              </a:ext>
            </a:extLst>
          </p:cNvPr>
          <p:cNvSpPr>
            <a:spLocks noGrp="1"/>
          </p:cNvSpPr>
          <p:nvPr>
            <p:ph type="sldNum" sz="quarter" idx="5"/>
          </p:nvPr>
        </p:nvSpPr>
        <p:spPr/>
        <p:txBody>
          <a:bodyPr/>
          <a:lstStyle/>
          <a:p>
            <a:fld id="{676223B9-C868-4436-87D9-1A3152E1157A}" type="slidenum">
              <a:rPr lang="es-ES" smtClean="0"/>
              <a:t>7</a:t>
            </a:fld>
            <a:endParaRPr lang="es-ES"/>
          </a:p>
        </p:txBody>
      </p:sp>
    </p:spTree>
    <p:extLst>
      <p:ext uri="{BB962C8B-B14F-4D97-AF65-F5344CB8AC3E}">
        <p14:creationId xmlns:p14="http://schemas.microsoft.com/office/powerpoint/2010/main" val="253767480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0DDBC6-7EB2-AE62-0F4B-A0A0672ADDB9}"/>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998084C1-6F54-16C8-7D2F-21346675C890}"/>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9E869975-D523-6D26-7FF4-105B03035773}"/>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A0561EB6-B461-33D1-E122-96F4761D22F7}"/>
              </a:ext>
            </a:extLst>
          </p:cNvPr>
          <p:cNvSpPr>
            <a:spLocks noGrp="1"/>
          </p:cNvSpPr>
          <p:nvPr>
            <p:ph type="sldNum" sz="quarter" idx="5"/>
          </p:nvPr>
        </p:nvSpPr>
        <p:spPr/>
        <p:txBody>
          <a:bodyPr/>
          <a:lstStyle/>
          <a:p>
            <a:fld id="{676223B9-C868-4436-87D9-1A3152E1157A}" type="slidenum">
              <a:rPr lang="es-ES" smtClean="0"/>
              <a:t>8</a:t>
            </a:fld>
            <a:endParaRPr lang="es-ES"/>
          </a:p>
        </p:txBody>
      </p:sp>
    </p:spTree>
    <p:extLst>
      <p:ext uri="{BB962C8B-B14F-4D97-AF65-F5344CB8AC3E}">
        <p14:creationId xmlns:p14="http://schemas.microsoft.com/office/powerpoint/2010/main" val="107377314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023B86-D15F-9CD8-C5EA-3EAAD8BACCF7}"/>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5C73881A-26A5-ECF9-C6F2-3DEFA77AEFCC}"/>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3B7AFC79-4973-3930-959B-AEF8810CFE6A}"/>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8345D0F3-6273-0338-FCDA-175B73D7C9EB}"/>
              </a:ext>
            </a:extLst>
          </p:cNvPr>
          <p:cNvSpPr>
            <a:spLocks noGrp="1"/>
          </p:cNvSpPr>
          <p:nvPr>
            <p:ph type="sldNum" sz="quarter" idx="5"/>
          </p:nvPr>
        </p:nvSpPr>
        <p:spPr/>
        <p:txBody>
          <a:bodyPr/>
          <a:lstStyle/>
          <a:p>
            <a:fld id="{676223B9-C868-4436-87D9-1A3152E1157A}" type="slidenum">
              <a:rPr lang="es-ES" smtClean="0"/>
              <a:t>9</a:t>
            </a:fld>
            <a:endParaRPr lang="es-ES"/>
          </a:p>
        </p:txBody>
      </p:sp>
    </p:spTree>
    <p:extLst>
      <p:ext uri="{BB962C8B-B14F-4D97-AF65-F5344CB8AC3E}">
        <p14:creationId xmlns:p14="http://schemas.microsoft.com/office/powerpoint/2010/main" val="291738271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 Id="rId4" Type="http://schemas.openxmlformats.org/officeDocument/2006/relationships/image" Target="../media/image4.svg"/></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5.png"/><Relationship Id="rId1" Type="http://schemas.openxmlformats.org/officeDocument/2006/relationships/slideMaster" Target="../slideMasters/slideMaster1.xml"/><Relationship Id="rId4" Type="http://schemas.openxmlformats.org/officeDocument/2006/relationships/image" Target="../media/image4.svg"/></Relationships>
</file>

<file path=ppt/slideLayouts/slideLayout1.xml><?xml version="1.0" encoding="utf-8"?>
<p:sldLayout xmlns:a="http://schemas.openxmlformats.org/drawingml/2006/main" xmlns:r="http://schemas.openxmlformats.org/officeDocument/2006/relationships" xmlns:p="http://schemas.openxmlformats.org/presentationml/2006/main" type="obj" preserve="1">
  <p:cSld name="Title Slide">
    <p:spTree>
      <p:nvGrpSpPr>
        <p:cNvPr id="1" name=""/>
        <p:cNvGrpSpPr/>
        <p:nvPr/>
      </p:nvGrpSpPr>
      <p:grpSpPr>
        <a:xfrm>
          <a:off x="0" y="0"/>
          <a:ext cx="0" cy="0"/>
          <a:chOff x="0" y="0"/>
          <a:chExt cx="0" cy="0"/>
        </a:xfrm>
      </p:grpSpPr>
      <p:sp>
        <p:nvSpPr>
          <p:cNvPr id="2" name="Holder 2"/>
          <p:cNvSpPr>
            <a:spLocks noGrp="1"/>
          </p:cNvSpPr>
          <p:nvPr>
            <p:ph type="ctrTitle"/>
          </p:nvPr>
        </p:nvSpPr>
        <p:spPr>
          <a:xfrm>
            <a:off x="914400" y="2125980"/>
            <a:ext cx="10363200" cy="1440180"/>
          </a:xfrm>
          <a:prstGeom prst="rect">
            <a:avLst/>
          </a:prstGeom>
        </p:spPr>
        <p:txBody>
          <a:bodyPr wrap="square" lIns="0" tIns="0" rIns="0" bIns="0">
            <a:spAutoFit/>
          </a:bodyPr>
          <a:lstStyle>
            <a:lvl1pPr>
              <a:defRPr/>
            </a:lvl1pPr>
          </a:lstStyle>
          <a:p>
            <a:endParaRPr/>
          </a:p>
        </p:txBody>
      </p:sp>
      <p:sp>
        <p:nvSpPr>
          <p:cNvPr id="3" name="Holder 3"/>
          <p:cNvSpPr>
            <a:spLocks noGrp="1"/>
          </p:cNvSpPr>
          <p:nvPr>
            <p:ph type="subTitle" idx="4"/>
          </p:nvPr>
        </p:nvSpPr>
        <p:spPr>
          <a:xfrm>
            <a:off x="1828800" y="3840480"/>
            <a:ext cx="8534400" cy="1714500"/>
          </a:xfrm>
          <a:prstGeom prst="rect">
            <a:avLst/>
          </a:prstGeom>
        </p:spPr>
        <p:txBody>
          <a:bodyPr wrap="square" lIns="0" tIns="0" rIns="0" bIns="0">
            <a:spAutoFit/>
          </a:bodyPr>
          <a:lstStyle>
            <a:lvl1pPr>
              <a:defRPr/>
            </a:lvl1pPr>
          </a:lstStyle>
          <a:p>
            <a:endParaRPr/>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endParaRPr lang="en-US"/>
          </a:p>
        </p:txBody>
      </p:sp>
      <p:sp>
        <p:nvSpPr>
          <p:cNvPr id="6" name="Holder 6"/>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sp>
        <p:nvSpPr>
          <p:cNvPr id="8" name="Holder 4">
            <a:extLst>
              <a:ext uri="{FF2B5EF4-FFF2-40B4-BE49-F238E27FC236}">
                <a16:creationId xmlns:a16="http://schemas.microsoft.com/office/drawing/2014/main" id="{4A8576ED-D269-3C6B-30E8-402BA30F4741}"/>
              </a:ext>
            </a:extLst>
          </p:cNvPr>
          <p:cNvSpPr>
            <a:spLocks noGrp="1"/>
          </p:cNvSpPr>
          <p:nvPr>
            <p:ph type="ftr" sz="quarter" idx="5"/>
          </p:nvPr>
        </p:nvSpPr>
        <p:spPr>
          <a:xfrm>
            <a:off x="5486400" y="6465069"/>
            <a:ext cx="1676400" cy="138499"/>
          </a:xfrm>
          <a:prstGeom prst="rect">
            <a:avLst/>
          </a:prstGeom>
        </p:spPr>
        <p:txBody>
          <a:bodyPr wrap="square" lIns="0" tIns="0" rIns="0" bIns="0">
            <a:spAutoFit/>
          </a:bodyPr>
          <a:lstStyle>
            <a:lvl1pPr>
              <a:defRPr sz="900" b="0" i="0">
                <a:solidFill>
                  <a:srgbClr val="585858"/>
                </a:solidFill>
                <a:latin typeface="Arial"/>
                <a:cs typeface="Arial"/>
              </a:defRPr>
            </a:lvl1pPr>
          </a:lstStyle>
          <a:p>
            <a:pPr marL="12700">
              <a:lnSpc>
                <a:spcPct val="100000"/>
              </a:lnSpc>
              <a:spcBef>
                <a:spcPts val="15"/>
              </a:spcBef>
            </a:pPr>
            <a:r>
              <a:rPr lang="es-ES" spc="-5"/>
              <a:t>LAB 3. INTERFEROMETERS I</a:t>
            </a:r>
            <a:endParaRPr spc="-5" dirty="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Holder 2"/>
          <p:cNvSpPr>
            <a:spLocks noGrp="1"/>
          </p:cNvSpPr>
          <p:nvPr>
            <p:ph type="title"/>
          </p:nvPr>
        </p:nvSpPr>
        <p:spPr>
          <a:xfrm>
            <a:off x="590550" y="206752"/>
            <a:ext cx="10991850" cy="307777"/>
          </a:xfrm>
        </p:spPr>
        <p:txBody>
          <a:bodyPr lIns="0" tIns="0" rIns="0" bIns="0"/>
          <a:lstStyle>
            <a:lvl1pPr>
              <a:defRPr sz="2000" b="1" i="0">
                <a:solidFill>
                  <a:schemeClr val="tx1"/>
                </a:solidFill>
                <a:latin typeface="Calibri"/>
                <a:cs typeface="Calibri"/>
              </a:defRPr>
            </a:lvl1pPr>
          </a:lstStyle>
          <a:p>
            <a:endParaRPr dirty="0"/>
          </a:p>
        </p:txBody>
      </p:sp>
      <p:sp>
        <p:nvSpPr>
          <p:cNvPr id="3" name="Holder 3"/>
          <p:cNvSpPr>
            <a:spLocks noGrp="1"/>
          </p:cNvSpPr>
          <p:nvPr>
            <p:ph type="body" idx="1"/>
          </p:nvPr>
        </p:nvSpPr>
        <p:spPr>
          <a:xfrm>
            <a:off x="609600" y="2152910"/>
            <a:ext cx="10972800" cy="3950710"/>
          </a:xfrm>
        </p:spPr>
        <p:txBody>
          <a:bodyPr lIns="0" tIns="0" rIns="0" bIns="0"/>
          <a:lstStyle>
            <a:lvl1pPr>
              <a:defRPr/>
            </a:lvl1pPr>
          </a:lstStyle>
          <a:p>
            <a:endParaRPr dirty="0"/>
          </a:p>
        </p:txBody>
      </p:sp>
      <p:sp>
        <p:nvSpPr>
          <p:cNvPr id="4" name="Holder 4"/>
          <p:cNvSpPr>
            <a:spLocks noGrp="1"/>
          </p:cNvSpPr>
          <p:nvPr>
            <p:ph type="ftr" sz="quarter" idx="5"/>
          </p:nvPr>
        </p:nvSpPr>
        <p:spPr>
          <a:xfrm>
            <a:off x="609600" y="6457057"/>
            <a:ext cx="2743200" cy="184666"/>
          </a:xfrm>
        </p:spPr>
        <p:txBody>
          <a:bodyPr lIns="0" tIns="0" rIns="0" bIns="0" anchor="ctr"/>
          <a:lstStyle>
            <a:lvl1pPr>
              <a:defRPr sz="1200" b="0" i="0">
                <a:solidFill>
                  <a:srgbClr val="585858"/>
                </a:solidFill>
                <a:latin typeface="Arial"/>
                <a:cs typeface="Arial"/>
              </a:defRPr>
            </a:lvl1pPr>
          </a:lstStyle>
          <a:p>
            <a:pPr marL="12700">
              <a:spcBef>
                <a:spcPts val="15"/>
              </a:spcBef>
            </a:pPr>
            <a:r>
              <a:rPr lang="es-ES" spc="-5"/>
              <a:t>LAB 3. INTERFEROMETERS I</a:t>
            </a:r>
            <a:endParaRPr lang="es-ES" spc="-5" dirty="0"/>
          </a:p>
        </p:txBody>
      </p:sp>
      <p:sp>
        <p:nvSpPr>
          <p:cNvPr id="6" name="Holder 6"/>
          <p:cNvSpPr>
            <a:spLocks noGrp="1"/>
          </p:cNvSpPr>
          <p:nvPr>
            <p:ph type="sldNum" sz="quarter" idx="7"/>
          </p:nvPr>
        </p:nvSpPr>
        <p:spPr>
          <a:xfrm>
            <a:off x="9311640" y="6377940"/>
            <a:ext cx="2804160" cy="342900"/>
          </a:xfrm>
        </p:spPr>
        <p:txBody>
          <a:bodyPr lIns="0" tIns="0" rIns="0" bIns="0"/>
          <a:lstStyle>
            <a:lvl1pPr algn="r">
              <a:defRPr>
                <a:solidFill>
                  <a:schemeClr val="tx1">
                    <a:tint val="75000"/>
                  </a:schemeClr>
                </a:solidFill>
              </a:defRPr>
            </a:lvl1pPr>
          </a:lstStyle>
          <a:p>
            <a:fld id="{B6F15528-21DE-4FAA-801E-634DDDAF4B2B}" type="slidenum">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wo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1600" b="0" i="0">
                <a:solidFill>
                  <a:schemeClr val="tx1"/>
                </a:solidFill>
                <a:latin typeface="Calibri"/>
                <a:cs typeface="Calibri"/>
              </a:defRPr>
            </a:lvl1pPr>
          </a:lstStyle>
          <a:p>
            <a:endParaRPr/>
          </a:p>
        </p:txBody>
      </p:sp>
      <p:sp>
        <p:nvSpPr>
          <p:cNvPr id="3" name="Holder 3"/>
          <p:cNvSpPr>
            <a:spLocks noGrp="1"/>
          </p:cNvSpPr>
          <p:nvPr>
            <p:ph sz="half" idx="2"/>
          </p:nvPr>
        </p:nvSpPr>
        <p:spPr>
          <a:xfrm>
            <a:off x="609600" y="1577340"/>
            <a:ext cx="5303520" cy="4526280"/>
          </a:xfrm>
          <a:prstGeom prst="rect">
            <a:avLst/>
          </a:prstGeom>
        </p:spPr>
        <p:txBody>
          <a:bodyPr wrap="square" lIns="0" tIns="0" rIns="0" bIns="0">
            <a:spAutoFit/>
          </a:bodyPr>
          <a:lstStyle>
            <a:lvl1pPr>
              <a:defRPr/>
            </a:lvl1pPr>
          </a:lstStyle>
          <a:p>
            <a:endParaRPr/>
          </a:p>
        </p:txBody>
      </p:sp>
      <p:sp>
        <p:nvSpPr>
          <p:cNvPr id="4" name="Holder 4"/>
          <p:cNvSpPr>
            <a:spLocks noGrp="1"/>
          </p:cNvSpPr>
          <p:nvPr>
            <p:ph sz="half" idx="3"/>
          </p:nvPr>
        </p:nvSpPr>
        <p:spPr>
          <a:xfrm>
            <a:off x="6278880" y="1577340"/>
            <a:ext cx="5303520" cy="4526280"/>
          </a:xfrm>
          <a:prstGeom prst="rect">
            <a:avLst/>
          </a:prstGeom>
        </p:spPr>
        <p:txBody>
          <a:bodyPr wrap="square" lIns="0" tIns="0" rIns="0" bIns="0">
            <a:spAutoFit/>
          </a:bodyPr>
          <a:lstStyle>
            <a:lvl1pPr>
              <a:defRPr/>
            </a:lvl1pPr>
          </a:lstStyle>
          <a:p>
            <a:endParaRPr/>
          </a:p>
        </p:txBody>
      </p:sp>
      <p:sp>
        <p:nvSpPr>
          <p:cNvPr id="6" name="Holder 6"/>
          <p:cNvSpPr>
            <a:spLocks noGrp="1"/>
          </p:cNvSpPr>
          <p:nvPr>
            <p:ph type="dt" sz="half" idx="6"/>
          </p:nvPr>
        </p:nvSpPr>
        <p:spPr/>
        <p:txBody>
          <a:bodyPr lIns="0" tIns="0" rIns="0" bIns="0"/>
          <a:lstStyle>
            <a:lvl1pPr algn="l">
              <a:defRPr>
                <a:solidFill>
                  <a:schemeClr val="tx1">
                    <a:tint val="75000"/>
                  </a:schemeClr>
                </a:solidFill>
              </a:defRPr>
            </a:lvl1pPr>
          </a:lstStyle>
          <a:p>
            <a:endParaRPr lang="en-US"/>
          </a:p>
        </p:txBody>
      </p:sp>
      <p:sp>
        <p:nvSpPr>
          <p:cNvPr id="7" name="Holder 7"/>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sp>
        <p:nvSpPr>
          <p:cNvPr id="8" name="Holder 4">
            <a:extLst>
              <a:ext uri="{FF2B5EF4-FFF2-40B4-BE49-F238E27FC236}">
                <a16:creationId xmlns:a16="http://schemas.microsoft.com/office/drawing/2014/main" id="{085B3A29-7AE1-3DAD-3BD8-A0E9707EE888}"/>
              </a:ext>
            </a:extLst>
          </p:cNvPr>
          <p:cNvSpPr>
            <a:spLocks noGrp="1"/>
          </p:cNvSpPr>
          <p:nvPr>
            <p:ph type="ftr" sz="quarter" idx="5"/>
          </p:nvPr>
        </p:nvSpPr>
        <p:spPr>
          <a:xfrm>
            <a:off x="5486400" y="6465069"/>
            <a:ext cx="1676400" cy="138499"/>
          </a:xfrm>
          <a:prstGeom prst="rect">
            <a:avLst/>
          </a:prstGeom>
        </p:spPr>
        <p:txBody>
          <a:bodyPr wrap="square" lIns="0" tIns="0" rIns="0" bIns="0">
            <a:spAutoFit/>
          </a:bodyPr>
          <a:lstStyle>
            <a:lvl1pPr>
              <a:defRPr sz="900" b="0" i="0">
                <a:solidFill>
                  <a:srgbClr val="585858"/>
                </a:solidFill>
                <a:latin typeface="Arial"/>
                <a:cs typeface="Arial"/>
              </a:defRPr>
            </a:lvl1pPr>
          </a:lstStyle>
          <a:p>
            <a:pPr marL="12700">
              <a:lnSpc>
                <a:spcPct val="100000"/>
              </a:lnSpc>
              <a:spcBef>
                <a:spcPts val="15"/>
              </a:spcBef>
            </a:pPr>
            <a:r>
              <a:rPr lang="es-ES" spc="-5"/>
              <a:t>LAB 3. INTERFEROMETERS I</a:t>
            </a:r>
            <a:endParaRPr spc="-5"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type="obj" preserve="1">
  <p:cSld name="Title Only">
    <p:bg>
      <p:bgPr>
        <a:solidFill>
          <a:schemeClr val="bg1"/>
        </a:solidFill>
        <a:effectLst/>
      </p:bgPr>
    </p:bg>
    <p:spTree>
      <p:nvGrpSpPr>
        <p:cNvPr id="1" name=""/>
        <p:cNvGrpSpPr/>
        <p:nvPr/>
      </p:nvGrpSpPr>
      <p:grpSpPr>
        <a:xfrm>
          <a:off x="0" y="0"/>
          <a:ext cx="0" cy="0"/>
          <a:chOff x="0" y="0"/>
          <a:chExt cx="0" cy="0"/>
        </a:xfrm>
      </p:grpSpPr>
      <p:sp>
        <p:nvSpPr>
          <p:cNvPr id="16" name="bk object 16"/>
          <p:cNvSpPr/>
          <p:nvPr/>
        </p:nvSpPr>
        <p:spPr>
          <a:xfrm>
            <a:off x="0" y="2636520"/>
            <a:ext cx="3944620" cy="1584960"/>
          </a:xfrm>
          <a:custGeom>
            <a:avLst/>
            <a:gdLst/>
            <a:ahLst/>
            <a:cxnLst/>
            <a:rect l="l" t="t" r="r" b="b"/>
            <a:pathLst>
              <a:path w="3944620" h="1584960">
                <a:moveTo>
                  <a:pt x="0" y="1584959"/>
                </a:moveTo>
                <a:lnTo>
                  <a:pt x="3944112" y="1584959"/>
                </a:lnTo>
                <a:lnTo>
                  <a:pt x="3944112" y="0"/>
                </a:lnTo>
                <a:lnTo>
                  <a:pt x="0" y="0"/>
                </a:lnTo>
                <a:lnTo>
                  <a:pt x="0" y="1584959"/>
                </a:lnTo>
                <a:close/>
              </a:path>
            </a:pathLst>
          </a:custGeom>
          <a:solidFill>
            <a:srgbClr val="000000"/>
          </a:solidFill>
        </p:spPr>
        <p:txBody>
          <a:bodyPr wrap="square" lIns="0" tIns="0" rIns="0" bIns="0" rtlCol="0"/>
          <a:lstStyle/>
          <a:p>
            <a:endParaRPr/>
          </a:p>
        </p:txBody>
      </p:sp>
      <p:sp>
        <p:nvSpPr>
          <p:cNvPr id="17" name="bk object 17"/>
          <p:cNvSpPr/>
          <p:nvPr/>
        </p:nvSpPr>
        <p:spPr>
          <a:xfrm>
            <a:off x="771144" y="2951988"/>
            <a:ext cx="2403348" cy="954024"/>
          </a:xfrm>
          <a:prstGeom prst="rect">
            <a:avLst/>
          </a:prstGeom>
          <a:blipFill>
            <a:blip r:embed="rId2" cstate="print"/>
            <a:stretch>
              <a:fillRect/>
            </a:stretch>
          </a:blipFill>
        </p:spPr>
        <p:txBody>
          <a:bodyPr wrap="square" lIns="0" tIns="0" rIns="0" bIns="0" rtlCol="0"/>
          <a:lstStyle/>
          <a:p>
            <a:endParaRPr/>
          </a:p>
        </p:txBody>
      </p:sp>
      <p:sp>
        <p:nvSpPr>
          <p:cNvPr id="2" name="Holder 2"/>
          <p:cNvSpPr>
            <a:spLocks noGrp="1"/>
          </p:cNvSpPr>
          <p:nvPr>
            <p:ph type="title"/>
          </p:nvPr>
        </p:nvSpPr>
        <p:spPr/>
        <p:txBody>
          <a:bodyPr lIns="0" tIns="0" rIns="0" bIns="0"/>
          <a:lstStyle>
            <a:lvl1pPr>
              <a:defRPr sz="1600" b="0" i="0">
                <a:solidFill>
                  <a:schemeClr val="tx1"/>
                </a:solidFill>
                <a:latin typeface="Calibri"/>
                <a:cs typeface="Calibri"/>
              </a:defRPr>
            </a:lvl1pPr>
          </a:lstStyle>
          <a:p>
            <a:endParaRPr/>
          </a:p>
        </p:txBody>
      </p:sp>
      <p:sp>
        <p:nvSpPr>
          <p:cNvPr id="4" name="Holder 4"/>
          <p:cNvSpPr>
            <a:spLocks noGrp="1"/>
          </p:cNvSpPr>
          <p:nvPr>
            <p:ph type="dt" sz="half" idx="6"/>
          </p:nvPr>
        </p:nvSpPr>
        <p:spPr/>
        <p:txBody>
          <a:bodyPr lIns="0" tIns="0" rIns="0" bIns="0"/>
          <a:lstStyle>
            <a:lvl1pPr algn="l">
              <a:defRPr>
                <a:solidFill>
                  <a:schemeClr val="tx1">
                    <a:tint val="75000"/>
                  </a:schemeClr>
                </a:solidFill>
              </a:defRPr>
            </a:lvl1pPr>
          </a:lstStyle>
          <a:p>
            <a:endParaRPr lang="en-US"/>
          </a:p>
        </p:txBody>
      </p:sp>
      <p:sp>
        <p:nvSpPr>
          <p:cNvPr id="5" name="Holder 5"/>
          <p:cNvSpPr>
            <a:spLocks noGrp="1"/>
          </p:cNvSpPr>
          <p:nvPr>
            <p:ph type="sldNum" sz="quarter" idx="7"/>
          </p:nvPr>
        </p:nvSpPr>
        <p:spPr>
          <a:xfrm>
            <a:off x="9296400" y="6377940"/>
            <a:ext cx="2804160" cy="342900"/>
          </a:xfrm>
        </p:spPr>
        <p:txBody>
          <a:bodyPr lIns="0" tIns="0" rIns="0" bIns="0"/>
          <a:lstStyle>
            <a:lvl1pPr algn="r">
              <a:defRPr>
                <a:solidFill>
                  <a:schemeClr val="tx1">
                    <a:tint val="75000"/>
                  </a:schemeClr>
                </a:solidFill>
              </a:defRPr>
            </a:lvl1pPr>
          </a:lstStyle>
          <a:p>
            <a:fld id="{B6F15528-21DE-4FAA-801E-634DDDAF4B2B}" type="slidenum">
              <a:t>‹#›</a:t>
            </a:fld>
            <a:endParaRPr/>
          </a:p>
        </p:txBody>
      </p:sp>
      <p:pic>
        <p:nvPicPr>
          <p:cNvPr id="6" name="Gráfico 5">
            <a:extLst>
              <a:ext uri="{FF2B5EF4-FFF2-40B4-BE49-F238E27FC236}">
                <a16:creationId xmlns:a16="http://schemas.microsoft.com/office/drawing/2014/main" id="{F5CB4B75-CC85-5F87-B13B-97FD63FFBC56}"/>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2891213" y="6357666"/>
            <a:ext cx="6409575" cy="363174"/>
          </a:xfrm>
          <a:prstGeom prst="rect">
            <a:avLst/>
          </a:prstGeom>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type="obj" preserve="1">
  <p:cSld name="Blank">
    <p:bg>
      <p:bgPr>
        <a:solidFill>
          <a:schemeClr val="bg1"/>
        </a:solidFill>
        <a:effectLst/>
      </p:bgPr>
    </p:bg>
    <p:spTree>
      <p:nvGrpSpPr>
        <p:cNvPr id="1" name=""/>
        <p:cNvGrpSpPr/>
        <p:nvPr/>
      </p:nvGrpSpPr>
      <p:grpSpPr>
        <a:xfrm>
          <a:off x="0" y="0"/>
          <a:ext cx="0" cy="0"/>
          <a:chOff x="0" y="0"/>
          <a:chExt cx="0" cy="0"/>
        </a:xfrm>
      </p:grpSpPr>
      <p:sp>
        <p:nvSpPr>
          <p:cNvPr id="16" name="bk object 16"/>
          <p:cNvSpPr/>
          <p:nvPr/>
        </p:nvSpPr>
        <p:spPr>
          <a:xfrm>
            <a:off x="594327" y="4722313"/>
            <a:ext cx="1521016" cy="1253853"/>
          </a:xfrm>
          <a:prstGeom prst="rect">
            <a:avLst/>
          </a:prstGeom>
          <a:blipFill>
            <a:blip r:embed="rId2" cstate="print"/>
            <a:stretch>
              <a:fillRect/>
            </a:stretch>
          </a:blipFill>
        </p:spPr>
        <p:txBody>
          <a:bodyPr wrap="square" lIns="0" tIns="0" rIns="0" bIns="0" rtlCol="0"/>
          <a:lstStyle/>
          <a:p>
            <a:endParaRPr/>
          </a:p>
        </p:txBody>
      </p:sp>
      <p:sp>
        <p:nvSpPr>
          <p:cNvPr id="3" name="Holder 3"/>
          <p:cNvSpPr>
            <a:spLocks noGrp="1"/>
          </p:cNvSpPr>
          <p:nvPr>
            <p:ph type="dt" sz="half" idx="6"/>
          </p:nvPr>
        </p:nvSpPr>
        <p:spPr/>
        <p:txBody>
          <a:bodyPr lIns="0" tIns="0" rIns="0" bIns="0"/>
          <a:lstStyle>
            <a:lvl1pPr algn="l">
              <a:defRPr>
                <a:solidFill>
                  <a:schemeClr val="tx1">
                    <a:tint val="75000"/>
                  </a:schemeClr>
                </a:solidFill>
              </a:defRPr>
            </a:lvl1pPr>
          </a:lstStyle>
          <a:p>
            <a:endParaRPr lang="en-US"/>
          </a:p>
        </p:txBody>
      </p:sp>
      <p:sp>
        <p:nvSpPr>
          <p:cNvPr id="4" name="Holder 4"/>
          <p:cNvSpPr>
            <a:spLocks noGrp="1"/>
          </p:cNvSpPr>
          <p:nvPr>
            <p:ph type="sldNum" sz="quarter" idx="7"/>
          </p:nvPr>
        </p:nvSpPr>
        <p:spPr>
          <a:xfrm>
            <a:off x="9372600" y="6377940"/>
            <a:ext cx="2804160" cy="342900"/>
          </a:xfrm>
        </p:spPr>
        <p:txBody>
          <a:bodyPr lIns="0" tIns="0" rIns="0" bIns="0"/>
          <a:lstStyle>
            <a:lvl1pPr algn="r">
              <a:defRPr>
                <a:solidFill>
                  <a:schemeClr val="tx1">
                    <a:tint val="75000"/>
                  </a:schemeClr>
                </a:solidFill>
              </a:defRPr>
            </a:lvl1pPr>
          </a:lstStyle>
          <a:p>
            <a:fld id="{B6F15528-21DE-4FAA-801E-634DDDAF4B2B}" type="slidenum">
              <a:t>‹#›</a:t>
            </a:fld>
            <a:endParaRPr/>
          </a:p>
        </p:txBody>
      </p:sp>
      <p:pic>
        <p:nvPicPr>
          <p:cNvPr id="5" name="Gráfico 4">
            <a:extLst>
              <a:ext uri="{FF2B5EF4-FFF2-40B4-BE49-F238E27FC236}">
                <a16:creationId xmlns:a16="http://schemas.microsoft.com/office/drawing/2014/main" id="{9F3DE434-B07E-429D-5547-0D42DA9B05A1}"/>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1.png"/><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6" name="bk object 16"/>
          <p:cNvSpPr/>
          <p:nvPr/>
        </p:nvSpPr>
        <p:spPr>
          <a:xfrm>
            <a:off x="891539" y="5283707"/>
            <a:ext cx="2624328" cy="1574289"/>
          </a:xfrm>
          <a:prstGeom prst="rect">
            <a:avLst/>
          </a:prstGeom>
          <a:blipFill>
            <a:blip r:embed="rId7" cstate="print"/>
            <a:stretch>
              <a:fillRect/>
            </a:stretch>
          </a:blipFill>
        </p:spPr>
        <p:txBody>
          <a:bodyPr wrap="square" lIns="0" tIns="0" rIns="0" bIns="0" rtlCol="0"/>
          <a:lstStyle/>
          <a:p>
            <a:endParaRPr/>
          </a:p>
        </p:txBody>
      </p:sp>
      <p:sp>
        <p:nvSpPr>
          <p:cNvPr id="2" name="Holder 2"/>
          <p:cNvSpPr>
            <a:spLocks noGrp="1"/>
          </p:cNvSpPr>
          <p:nvPr>
            <p:ph type="title"/>
          </p:nvPr>
        </p:nvSpPr>
        <p:spPr>
          <a:xfrm>
            <a:off x="3986910" y="1699005"/>
            <a:ext cx="2599054" cy="269239"/>
          </a:xfrm>
          <a:prstGeom prst="rect">
            <a:avLst/>
          </a:prstGeom>
        </p:spPr>
        <p:txBody>
          <a:bodyPr wrap="square" lIns="0" tIns="0" rIns="0" bIns="0">
            <a:spAutoFit/>
          </a:bodyPr>
          <a:lstStyle>
            <a:lvl1pPr>
              <a:defRPr sz="1600" b="0" i="0">
                <a:solidFill>
                  <a:schemeClr val="tx1"/>
                </a:solidFill>
                <a:latin typeface="Calibri"/>
                <a:cs typeface="Calibri"/>
              </a:defRPr>
            </a:lvl1pPr>
          </a:lstStyle>
          <a:p>
            <a:endParaRPr/>
          </a:p>
        </p:txBody>
      </p:sp>
      <p:sp>
        <p:nvSpPr>
          <p:cNvPr id="3" name="Holder 3"/>
          <p:cNvSpPr>
            <a:spLocks noGrp="1"/>
          </p:cNvSpPr>
          <p:nvPr>
            <p:ph type="body" idx="1"/>
          </p:nvPr>
        </p:nvSpPr>
        <p:spPr>
          <a:xfrm>
            <a:off x="609600" y="1577340"/>
            <a:ext cx="10972800" cy="4526280"/>
          </a:xfrm>
          <a:prstGeom prst="rect">
            <a:avLst/>
          </a:prstGeom>
        </p:spPr>
        <p:txBody>
          <a:bodyPr wrap="square" lIns="0" tIns="0" rIns="0" bIns="0">
            <a:spAutoFit/>
          </a:bodyPr>
          <a:lstStyle>
            <a:lvl1pPr>
              <a:defRPr/>
            </a:lvl1pPr>
          </a:lstStyle>
          <a:p>
            <a:endParaRPr/>
          </a:p>
        </p:txBody>
      </p:sp>
      <p:sp>
        <p:nvSpPr>
          <p:cNvPr id="4" name="Holder 4"/>
          <p:cNvSpPr>
            <a:spLocks noGrp="1"/>
          </p:cNvSpPr>
          <p:nvPr>
            <p:ph type="ftr" sz="quarter" idx="5"/>
          </p:nvPr>
        </p:nvSpPr>
        <p:spPr>
          <a:xfrm>
            <a:off x="5486400" y="6465069"/>
            <a:ext cx="1676400" cy="138499"/>
          </a:xfrm>
          <a:prstGeom prst="rect">
            <a:avLst/>
          </a:prstGeom>
        </p:spPr>
        <p:txBody>
          <a:bodyPr wrap="square" lIns="0" tIns="0" rIns="0" bIns="0">
            <a:spAutoFit/>
          </a:bodyPr>
          <a:lstStyle>
            <a:lvl1pPr>
              <a:defRPr sz="900" b="0" i="0">
                <a:solidFill>
                  <a:srgbClr val="585858"/>
                </a:solidFill>
                <a:latin typeface="Arial"/>
                <a:cs typeface="Arial"/>
              </a:defRPr>
            </a:lvl1pPr>
          </a:lstStyle>
          <a:p>
            <a:pPr marL="12700">
              <a:lnSpc>
                <a:spcPct val="100000"/>
              </a:lnSpc>
              <a:spcBef>
                <a:spcPts val="15"/>
              </a:spcBef>
            </a:pPr>
            <a:r>
              <a:rPr lang="es-ES" spc="-5"/>
              <a:t>LAB 3. INTERFEROMETERS I</a:t>
            </a:r>
            <a:endParaRPr spc="-5" dirty="0"/>
          </a:p>
        </p:txBody>
      </p:sp>
      <p:sp>
        <p:nvSpPr>
          <p:cNvPr id="5" name="Holder 5"/>
          <p:cNvSpPr>
            <a:spLocks noGrp="1"/>
          </p:cNvSpPr>
          <p:nvPr>
            <p:ph type="dt" sz="half" idx="6"/>
          </p:nvPr>
        </p:nvSpPr>
        <p:spPr>
          <a:xfrm>
            <a:off x="609600" y="6377940"/>
            <a:ext cx="2804160" cy="342900"/>
          </a:xfrm>
          <a:prstGeom prst="rect">
            <a:avLst/>
          </a:prstGeom>
        </p:spPr>
        <p:txBody>
          <a:bodyPr wrap="square" lIns="0" tIns="0" rIns="0" bIns="0">
            <a:spAutoFit/>
          </a:bodyPr>
          <a:lstStyle>
            <a:lvl1pPr algn="l">
              <a:defRPr>
                <a:solidFill>
                  <a:schemeClr val="tx1">
                    <a:tint val="75000"/>
                  </a:schemeClr>
                </a:solidFill>
              </a:defRPr>
            </a:lvl1pPr>
          </a:lstStyle>
          <a:p>
            <a:endParaRPr lang="en-US"/>
          </a:p>
        </p:txBody>
      </p:sp>
      <p:sp>
        <p:nvSpPr>
          <p:cNvPr id="6" name="Holder 6"/>
          <p:cNvSpPr>
            <a:spLocks noGrp="1"/>
          </p:cNvSpPr>
          <p:nvPr>
            <p:ph type="sldNum" sz="quarter" idx="7"/>
          </p:nvPr>
        </p:nvSpPr>
        <p:spPr>
          <a:xfrm>
            <a:off x="9311640" y="6377940"/>
            <a:ext cx="2804160" cy="342900"/>
          </a:xfrm>
          <a:prstGeom prst="rect">
            <a:avLst/>
          </a:prstGeom>
        </p:spPr>
        <p:txBody>
          <a:bodyPr wrap="square" lIns="0" tIns="0" rIns="0" bIns="0">
            <a:spAutoFit/>
          </a:bodyPr>
          <a:lstStyle>
            <a:lvl1pPr algn="r">
              <a:defRPr>
                <a:solidFill>
                  <a:schemeClr val="tx1">
                    <a:tint val="75000"/>
                  </a:schemeClr>
                </a:solidFill>
              </a:defRPr>
            </a:lvl1pPr>
          </a:lstStyle>
          <a:p>
            <a:fld id="{B6F15528-21DE-4FAA-801E-634DDDAF4B2B}" type="slidenum">
              <a:t>‹#›</a:t>
            </a:fld>
            <a:endParaRPr/>
          </a:p>
        </p:txBody>
      </p:sp>
    </p:spTree>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Lst>
  <p:hf hdr="0" dt="0"/>
  <p:txStyles>
    <p:titleStyle>
      <a:lvl1pPr>
        <a:defRPr>
          <a:latin typeface="+mj-lt"/>
          <a:ea typeface="+mj-ea"/>
          <a:cs typeface="+mj-cs"/>
        </a:defRPr>
      </a:lvl1pPr>
    </p:titleStyle>
    <p:body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bodyStyle>
    <p:other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5.xml"/></Relationships>
</file>

<file path=ppt/slides/_rels/slide2.xml.rels><?xml version="1.0" encoding="UTF-8" standalone="yes"?>
<Relationships xmlns="http://schemas.openxmlformats.org/package/2006/relationships"><Relationship Id="rId8" Type="http://schemas.openxmlformats.org/officeDocument/2006/relationships/image" Target="../media/image10.png"/><Relationship Id="rId3" Type="http://schemas.openxmlformats.org/officeDocument/2006/relationships/image" Target="../media/image4.svg"/><Relationship Id="rId7" Type="http://schemas.openxmlformats.org/officeDocument/2006/relationships/image" Target="../media/image9.png"/><Relationship Id="rId2" Type="http://schemas.openxmlformats.org/officeDocument/2006/relationships/image" Target="../media/image3.png"/><Relationship Id="rId1" Type="http://schemas.openxmlformats.org/officeDocument/2006/relationships/slideLayout" Target="../slideLayouts/slideLayout2.xml"/><Relationship Id="rId6" Type="http://schemas.openxmlformats.org/officeDocument/2006/relationships/image" Target="../media/image8.png"/><Relationship Id="rId5" Type="http://schemas.openxmlformats.org/officeDocument/2006/relationships/image" Target="../media/image7.png"/><Relationship Id="rId4" Type="http://schemas.openxmlformats.org/officeDocument/2006/relationships/hyperlink" Target="https://github.com/cccanvas-upv/pic-upv-lab3.git" TargetMode="Externa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xml"/><Relationship Id="rId1" Type="http://schemas.openxmlformats.org/officeDocument/2006/relationships/slideLayout" Target="../slideLayouts/slideLayout2.xml"/><Relationship Id="rId5" Type="http://schemas.openxmlformats.org/officeDocument/2006/relationships/image" Target="../media/image11.png"/><Relationship Id="rId4" Type="http://schemas.openxmlformats.org/officeDocument/2006/relationships/image" Target="../media/image4.svg"/></Relationships>
</file>

<file path=ppt/slides/_rels/slide4.xml.rels><?xml version="1.0" encoding="UTF-8" standalone="yes"?>
<Relationships xmlns="http://schemas.openxmlformats.org/package/2006/relationships"><Relationship Id="rId8" Type="http://schemas.openxmlformats.org/officeDocument/2006/relationships/image" Target="../media/image15.png"/><Relationship Id="rId3" Type="http://schemas.openxmlformats.org/officeDocument/2006/relationships/image" Target="../media/image12.png"/><Relationship Id="rId7" Type="http://schemas.openxmlformats.org/officeDocument/2006/relationships/image" Target="../media/image14.png"/><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image" Target="../media/image13.png"/><Relationship Id="rId5" Type="http://schemas.openxmlformats.org/officeDocument/2006/relationships/image" Target="../media/image4.svg"/><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image" Target="../media/image17.png"/><Relationship Id="rId5" Type="http://schemas.openxmlformats.org/officeDocument/2006/relationships/image" Target="../media/image4.svg"/><Relationship Id="rId4" Type="http://schemas.openxmlformats.org/officeDocument/2006/relationships/image" Target="../media/image3.png"/></Relationships>
</file>

<file path=ppt/slides/_rels/slide6.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4.svg"/><Relationship Id="rId4" Type="http://schemas.openxmlformats.org/officeDocument/2006/relationships/image" Target="../media/image3.png"/></Relationships>
</file>

<file path=ppt/slides/_rels/slide7.xml.rels><?xml version="1.0" encoding="UTF-8" standalone="yes"?>
<Relationships xmlns="http://schemas.openxmlformats.org/package/2006/relationships"><Relationship Id="rId3" Type="http://schemas.openxmlformats.org/officeDocument/2006/relationships/image" Target="../media/image120.png"/><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image" Target="../media/image130.png"/><Relationship Id="rId5" Type="http://schemas.openxmlformats.org/officeDocument/2006/relationships/image" Target="../media/image4.svg"/><Relationship Id="rId4" Type="http://schemas.openxmlformats.org/officeDocument/2006/relationships/image" Target="../media/image3.png"/></Relationships>
</file>

<file path=ppt/slides/_rels/slide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xml"/><Relationship Id="rId1" Type="http://schemas.openxmlformats.org/officeDocument/2006/relationships/slideLayout" Target="../slideLayouts/slideLayout2.xml"/><Relationship Id="rId4" Type="http://schemas.openxmlformats.org/officeDocument/2006/relationships/image" Target="../media/image4.svg"/></Relationships>
</file>

<file path=ppt/slides/_rels/slide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xml"/><Relationship Id="rId1" Type="http://schemas.openxmlformats.org/officeDocument/2006/relationships/slideLayout" Target="../slideLayouts/slideLayout2.xml"/><Relationship Id="rId4" Type="http://schemas.openxmlformats.org/officeDocument/2006/relationships/image" Target="../media/image4.svg"/></Relationships>
</file>

<file path=ppt/slides/_rels/slide10.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object 3"/>
          <p:cNvSpPr txBox="1"/>
          <p:nvPr/>
        </p:nvSpPr>
        <p:spPr>
          <a:xfrm>
            <a:off x="2749676" y="4919853"/>
            <a:ext cx="8299324" cy="1010533"/>
          </a:xfrm>
          <a:prstGeom prst="rect">
            <a:avLst/>
          </a:prstGeom>
        </p:spPr>
        <p:txBody>
          <a:bodyPr vert="horz" wrap="square" lIns="0" tIns="12700" rIns="0" bIns="0" rtlCol="0">
            <a:spAutoFit/>
          </a:bodyPr>
          <a:lstStyle/>
          <a:p>
            <a:pPr marL="12700">
              <a:lnSpc>
                <a:spcPct val="100000"/>
              </a:lnSpc>
              <a:spcBef>
                <a:spcPts val="100"/>
              </a:spcBef>
            </a:pPr>
            <a:r>
              <a:rPr lang="es-ES" sz="3200" b="1" dirty="0" err="1">
                <a:latin typeface="Lucida Sans"/>
                <a:cs typeface="Lucida Sans"/>
              </a:rPr>
              <a:t>Lab</a:t>
            </a:r>
            <a:r>
              <a:rPr lang="es-ES" sz="3200" b="1" dirty="0">
                <a:latin typeface="Lucida Sans"/>
                <a:cs typeface="Lucida Sans"/>
              </a:rPr>
              <a:t> Book 3. </a:t>
            </a:r>
            <a:r>
              <a:rPr lang="es-ES" sz="3200" b="1" dirty="0" err="1">
                <a:latin typeface="Lucida Sans"/>
                <a:cs typeface="Lucida Sans"/>
              </a:rPr>
              <a:t>Interferometers</a:t>
            </a:r>
            <a:r>
              <a:rPr lang="es-ES" sz="3200" b="1" dirty="0">
                <a:latin typeface="Lucida Sans"/>
                <a:cs typeface="Lucida Sans"/>
              </a:rPr>
              <a:t> I – MZI</a:t>
            </a:r>
          </a:p>
          <a:p>
            <a:pPr marL="12700">
              <a:lnSpc>
                <a:spcPct val="100000"/>
              </a:lnSpc>
              <a:spcBef>
                <a:spcPts val="100"/>
              </a:spcBef>
            </a:pPr>
            <a:endParaRPr sz="3200" dirty="0">
              <a:latin typeface="Lucida Sans"/>
              <a:cs typeface="Lucida Sans"/>
            </a:endParaRPr>
          </a:p>
        </p:txBody>
      </p:sp>
      <p:sp>
        <p:nvSpPr>
          <p:cNvPr id="4" name="object 4"/>
          <p:cNvSpPr txBox="1"/>
          <p:nvPr/>
        </p:nvSpPr>
        <p:spPr>
          <a:xfrm>
            <a:off x="2749676" y="5610250"/>
            <a:ext cx="8223124" cy="289823"/>
          </a:xfrm>
          <a:prstGeom prst="rect">
            <a:avLst/>
          </a:prstGeom>
        </p:spPr>
        <p:txBody>
          <a:bodyPr vert="horz" wrap="square" lIns="0" tIns="12700" rIns="0" bIns="0" rtlCol="0">
            <a:spAutoFit/>
          </a:bodyPr>
          <a:lstStyle/>
          <a:p>
            <a:pPr marL="12700">
              <a:lnSpc>
                <a:spcPct val="100000"/>
              </a:lnSpc>
              <a:spcBef>
                <a:spcPts val="100"/>
              </a:spcBef>
            </a:pPr>
            <a:r>
              <a:rPr lang="es-ES" spc="165" dirty="0" err="1">
                <a:latin typeface="Arial"/>
                <a:cs typeface="Arial"/>
              </a:rPr>
              <a:t>Student</a:t>
            </a:r>
            <a:r>
              <a:rPr lang="es-ES" spc="165" dirty="0">
                <a:latin typeface="Arial"/>
                <a:cs typeface="Arial"/>
              </a:rPr>
              <a:t>: </a:t>
            </a:r>
            <a:endParaRPr sz="1800" dirty="0">
              <a:latin typeface="Arial"/>
              <a:cs typeface="Arial"/>
            </a:endParaRPr>
          </a:p>
        </p:txBody>
      </p:sp>
      <p:sp>
        <p:nvSpPr>
          <p:cNvPr id="5" name="object 5"/>
          <p:cNvSpPr/>
          <p:nvPr/>
        </p:nvSpPr>
        <p:spPr>
          <a:xfrm>
            <a:off x="0" y="0"/>
            <a:ext cx="12192000" cy="4189476"/>
          </a:xfrm>
          <a:prstGeom prst="rect">
            <a:avLst/>
          </a:prstGeom>
          <a:blipFill>
            <a:blip r:embed="rId2" cstate="print"/>
            <a:stretch>
              <a:fillRect/>
            </a:stretch>
          </a:blipFill>
        </p:spPr>
        <p:txBody>
          <a:bodyPr wrap="square" lIns="0" tIns="0" rIns="0" bIns="0" rtlCol="0"/>
          <a:lstStyle/>
          <a:p>
            <a:endParaRPr/>
          </a:p>
        </p:txBody>
      </p:sp>
      <p:sp>
        <p:nvSpPr>
          <p:cNvPr id="7" name="Marcador de número de diapositiva 6">
            <a:extLst>
              <a:ext uri="{FF2B5EF4-FFF2-40B4-BE49-F238E27FC236}">
                <a16:creationId xmlns:a16="http://schemas.microsoft.com/office/drawing/2014/main" id="{F6F66F51-9238-50FE-85C2-BAC3DA79D767}"/>
              </a:ext>
            </a:extLst>
          </p:cNvPr>
          <p:cNvSpPr>
            <a:spLocks noGrp="1"/>
          </p:cNvSpPr>
          <p:nvPr>
            <p:ph type="sldNum" sz="quarter" idx="7"/>
          </p:nvPr>
        </p:nvSpPr>
        <p:spPr/>
        <p:txBody>
          <a:bodyPr/>
          <a:lstStyle/>
          <a:p>
            <a:fld id="{B6F15528-21DE-4FAA-801E-634DDDAF4B2B}" type="slidenum">
              <a:rPr lang="es-ES" smtClean="0"/>
              <a:t>1</a:t>
            </a:fld>
            <a:endParaRPr lang="es-E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48A4D4-C3C4-085B-A7AD-EA04D83F480F}"/>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1B7433F1-7A0E-D925-6140-7305139D053A}"/>
              </a:ext>
            </a:extLst>
          </p:cNvPr>
          <p:cNvSpPr txBox="1">
            <a:spLocks noGrp="1"/>
          </p:cNvSpPr>
          <p:nvPr>
            <p:ph type="title"/>
          </p:nvPr>
        </p:nvSpPr>
        <p:spPr>
          <a:xfrm>
            <a:off x="685800" y="408883"/>
            <a:ext cx="6153785" cy="705321"/>
          </a:xfrm>
          <a:prstGeom prst="rect">
            <a:avLst/>
          </a:prstGeom>
        </p:spPr>
        <p:txBody>
          <a:bodyPr vert="horz" wrap="square" lIns="0" tIns="12700" rIns="0" bIns="0" rtlCol="0">
            <a:spAutoFit/>
          </a:bodyPr>
          <a:lstStyle/>
          <a:p>
            <a:pPr marL="12700">
              <a:lnSpc>
                <a:spcPct val="100000"/>
              </a:lnSpc>
              <a:spcBef>
                <a:spcPts val="100"/>
              </a:spcBef>
            </a:pPr>
            <a:r>
              <a:rPr lang="es-ES" sz="2500" u="sng" spc="-5" dirty="0" err="1">
                <a:latin typeface="+mj-lt"/>
                <a:cs typeface="Lucida Sans"/>
              </a:rPr>
              <a:t>Instructions</a:t>
            </a:r>
            <a:br>
              <a:rPr lang="es-ES" sz="2400" spc="-5" dirty="0">
                <a:latin typeface="+mj-lt"/>
                <a:cs typeface="Lucida Sans"/>
              </a:rPr>
            </a:br>
            <a:r>
              <a:rPr lang="es-ES" b="0" spc="-5" dirty="0">
                <a:latin typeface="+mj-lt"/>
                <a:cs typeface="Lucida Sans"/>
              </a:rPr>
              <a:t>General</a:t>
            </a:r>
            <a:endParaRPr sz="2400" b="0" dirty="0">
              <a:latin typeface="+mj-lt"/>
              <a:cs typeface="Lucida Sans"/>
            </a:endParaRPr>
          </a:p>
        </p:txBody>
      </p:sp>
      <p:pic>
        <p:nvPicPr>
          <p:cNvPr id="83" name="Gráfico 82">
            <a:extLst>
              <a:ext uri="{FF2B5EF4-FFF2-40B4-BE49-F238E27FC236}">
                <a16:creationId xmlns:a16="http://schemas.microsoft.com/office/drawing/2014/main" id="{E518E73B-CE22-A00C-9C86-634FB762EE69}"/>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1E163A6B-DFE4-C67D-5F3E-A56ACEF2EA4C}"/>
              </a:ext>
            </a:extLst>
          </p:cNvPr>
          <p:cNvSpPr>
            <a:spLocks noGrp="1"/>
          </p:cNvSpPr>
          <p:nvPr>
            <p:ph type="sldNum" sz="quarter" idx="7"/>
          </p:nvPr>
        </p:nvSpPr>
        <p:spPr/>
        <p:txBody>
          <a:bodyPr/>
          <a:lstStyle/>
          <a:p>
            <a:fld id="{B6F15528-21DE-4FAA-801E-634DDDAF4B2B}" type="slidenum">
              <a:rPr lang="es-ES" smtClean="0"/>
              <a:t>2</a:t>
            </a:fld>
            <a:endParaRPr lang="es-ES"/>
          </a:p>
        </p:txBody>
      </p:sp>
      <p:sp>
        <p:nvSpPr>
          <p:cNvPr id="3" name="Marcador de pie de página 2">
            <a:extLst>
              <a:ext uri="{FF2B5EF4-FFF2-40B4-BE49-F238E27FC236}">
                <a16:creationId xmlns:a16="http://schemas.microsoft.com/office/drawing/2014/main" id="{95FC84FF-30D3-FDAB-0A5A-0F07F8EE1161}"/>
              </a:ext>
            </a:extLst>
          </p:cNvPr>
          <p:cNvSpPr>
            <a:spLocks noGrp="1"/>
          </p:cNvSpPr>
          <p:nvPr>
            <p:ph type="ftr" sz="quarter" idx="5"/>
          </p:nvPr>
        </p:nvSpPr>
        <p:spPr/>
        <p:txBody>
          <a:bodyPr/>
          <a:lstStyle/>
          <a:p>
            <a:pPr marL="12700">
              <a:spcBef>
                <a:spcPts val="15"/>
              </a:spcBef>
            </a:pPr>
            <a:r>
              <a:rPr lang="es-ES" spc="-5"/>
              <a:t>LAB 3. INTERFEROMETERS I</a:t>
            </a:r>
            <a:endParaRPr lang="es-ES" spc="-5" dirty="0"/>
          </a:p>
        </p:txBody>
      </p:sp>
      <p:sp>
        <p:nvSpPr>
          <p:cNvPr id="4" name="Marcador de texto 2">
            <a:extLst>
              <a:ext uri="{FF2B5EF4-FFF2-40B4-BE49-F238E27FC236}">
                <a16:creationId xmlns:a16="http://schemas.microsoft.com/office/drawing/2014/main" id="{9F7BC140-B3D8-C3CB-55AD-9064C7CDE9CA}"/>
              </a:ext>
            </a:extLst>
          </p:cNvPr>
          <p:cNvSpPr txBox="1">
            <a:spLocks/>
          </p:cNvSpPr>
          <p:nvPr/>
        </p:nvSpPr>
        <p:spPr>
          <a:xfrm>
            <a:off x="608011" y="1163263"/>
            <a:ext cx="11048999" cy="4958137"/>
          </a:xfrm>
          <a:prstGeom prst="rect">
            <a:avLst/>
          </a:prstGeom>
        </p:spPr>
        <p:txBody>
          <a:bodyPr>
            <a:normAutofit/>
          </a:bodyPr>
          <a:lst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a:lstStyle>
          <a:p>
            <a:r>
              <a:rPr lang="en-US" sz="2000" b="1" kern="0" dirty="0">
                <a:solidFill>
                  <a:sysClr val="windowText" lastClr="000000"/>
                </a:solidFill>
              </a:rPr>
              <a:t>SOFTWARE</a:t>
            </a:r>
          </a:p>
          <a:p>
            <a:pPr marL="342900" indent="-342900">
              <a:buFont typeface="Arial" panose="020B0604020202020204" pitchFamily="34" charset="0"/>
              <a:buChar char="•"/>
            </a:pPr>
            <a:r>
              <a:rPr lang="en-US" kern="0" dirty="0">
                <a:solidFill>
                  <a:sysClr val="windowText" lastClr="000000"/>
                </a:solidFill>
              </a:rPr>
              <a:t>Python notebook supplied by instructors</a:t>
            </a:r>
            <a:endParaRPr lang="en-US" kern="0" dirty="0">
              <a:solidFill>
                <a:sysClr val="windowText" lastClr="000000"/>
              </a:solidFill>
              <a:sym typeface="Wingdings" pitchFamily="2" charset="2"/>
            </a:endParaRPr>
          </a:p>
          <a:p>
            <a:pPr algn="just"/>
            <a:endParaRPr lang="en-US" sz="2000" b="1" kern="0" dirty="0">
              <a:solidFill>
                <a:sysClr val="windowText" lastClr="000000"/>
              </a:solidFill>
              <a:sym typeface="Wingdings" pitchFamily="2" charset="2"/>
            </a:endParaRPr>
          </a:p>
          <a:p>
            <a:pPr algn="just"/>
            <a:r>
              <a:rPr lang="en-US" sz="2000" b="1" kern="0" dirty="0">
                <a:solidFill>
                  <a:sysClr val="windowText" lastClr="000000"/>
                </a:solidFill>
                <a:sym typeface="Wingdings" pitchFamily="2" charset="2"/>
              </a:rPr>
              <a:t>SCRIPTS</a:t>
            </a:r>
          </a:p>
          <a:p>
            <a:pPr marL="342900" indent="-342900" algn="just">
              <a:buFont typeface="Arial" panose="020B0604020202020204" pitchFamily="34" charset="0"/>
              <a:buChar char="•"/>
            </a:pPr>
            <a:r>
              <a:rPr lang="en-US" kern="0" dirty="0">
                <a:solidFill>
                  <a:sysClr val="windowText" lastClr="000000"/>
                </a:solidFill>
                <a:sym typeface="Wingdings" pitchFamily="2" charset="2"/>
              </a:rPr>
              <a:t>From </a:t>
            </a:r>
            <a:r>
              <a:rPr lang="en-US" kern="0" dirty="0" err="1">
                <a:solidFill>
                  <a:sysClr val="windowText" lastClr="000000"/>
                </a:solidFill>
                <a:sym typeface="Wingdings" pitchFamily="2" charset="2"/>
              </a:rPr>
              <a:t>Poliformat</a:t>
            </a:r>
            <a:r>
              <a:rPr lang="en-US" kern="0" dirty="0">
                <a:solidFill>
                  <a:sysClr val="windowText" lastClr="000000"/>
                </a:solidFill>
                <a:sym typeface="Wingdings" pitchFamily="2" charset="2"/>
              </a:rPr>
              <a:t>  download the 030_INTERFEROMETERS_v2025_Student_UPDATE2.ipynb</a:t>
            </a:r>
          </a:p>
          <a:p>
            <a:pPr marL="342900" indent="-342900" algn="just">
              <a:buFont typeface="Arial" panose="020B0604020202020204" pitchFamily="34" charset="0"/>
              <a:buChar char="•"/>
            </a:pPr>
            <a:r>
              <a:rPr lang="es-ES" dirty="0">
                <a:hlinkClick r:id="rId4" tooltip="https://github.com/cccanvas-upv/pic-upv-lab3.git"/>
              </a:rPr>
              <a:t>https://github.com/cccanvas-upv/pic-upv-lab3.git</a:t>
            </a:r>
            <a:endParaRPr lang="en-US" kern="0" dirty="0">
              <a:solidFill>
                <a:sysClr val="windowText" lastClr="000000"/>
              </a:solidFill>
              <a:sym typeface="Wingdings" pitchFamily="2" charset="2"/>
            </a:endParaRPr>
          </a:p>
          <a:p>
            <a:pPr algn="just"/>
            <a:endParaRPr lang="en-US" b="1" i="1" dirty="0"/>
          </a:p>
          <a:p>
            <a:pPr algn="just"/>
            <a:r>
              <a:rPr lang="en-US" b="1" i="1" dirty="0"/>
              <a:t>COMPONENT </a:t>
            </a:r>
            <a:r>
              <a:rPr lang="en-US" i="1" dirty="0"/>
              <a:t>to be studied: Mach-</a:t>
            </a:r>
            <a:r>
              <a:rPr lang="en-US" i="1" dirty="0" err="1"/>
              <a:t>Zendher</a:t>
            </a:r>
            <a:r>
              <a:rPr lang="en-US" i="1" dirty="0"/>
              <a:t> Interferometer (MZI)</a:t>
            </a:r>
            <a:endParaRPr lang="en-US" b="1" i="1" dirty="0"/>
          </a:p>
          <a:p>
            <a:pPr algn="just"/>
            <a:endParaRPr lang="en-US" sz="2000" b="1" i="1" dirty="0"/>
          </a:p>
          <a:p>
            <a:pPr algn="just"/>
            <a:endParaRPr lang="en-US" sz="2000" kern="0" dirty="0">
              <a:solidFill>
                <a:sysClr val="windowText" lastClr="000000"/>
              </a:solidFill>
            </a:endParaRPr>
          </a:p>
        </p:txBody>
      </p:sp>
      <p:sp>
        <p:nvSpPr>
          <p:cNvPr id="6" name="Rectángulo 5">
            <a:extLst>
              <a:ext uri="{FF2B5EF4-FFF2-40B4-BE49-F238E27FC236}">
                <a16:creationId xmlns:a16="http://schemas.microsoft.com/office/drawing/2014/main" id="{35FA208B-932F-D4ED-88E9-25FD18EC7B01}"/>
              </a:ext>
            </a:extLst>
          </p:cNvPr>
          <p:cNvSpPr/>
          <p:nvPr/>
        </p:nvSpPr>
        <p:spPr>
          <a:xfrm>
            <a:off x="4561100" y="4664608"/>
            <a:ext cx="3222171" cy="47897"/>
          </a:xfrm>
          <a:prstGeom prst="rect">
            <a:avLst/>
          </a:prstGeom>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solidFill>
                <a:schemeClr val="bg1">
                  <a:lumMod val="65000"/>
                </a:schemeClr>
              </a:solidFill>
            </a:endParaRPr>
          </a:p>
        </p:txBody>
      </p:sp>
      <p:sp>
        <p:nvSpPr>
          <p:cNvPr id="13" name="Rectángulo 12">
            <a:extLst>
              <a:ext uri="{FF2B5EF4-FFF2-40B4-BE49-F238E27FC236}">
                <a16:creationId xmlns:a16="http://schemas.microsoft.com/office/drawing/2014/main" id="{C4EDD22A-FE36-2345-71E2-5ADFA2129F2D}"/>
              </a:ext>
            </a:extLst>
          </p:cNvPr>
          <p:cNvSpPr/>
          <p:nvPr/>
        </p:nvSpPr>
        <p:spPr>
          <a:xfrm>
            <a:off x="4561099" y="5095683"/>
            <a:ext cx="3222171" cy="47897"/>
          </a:xfrm>
          <a:prstGeom prst="rect">
            <a:avLst/>
          </a:prstGeom>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solidFill>
                <a:schemeClr val="bg1">
                  <a:lumMod val="65000"/>
                </a:schemeClr>
              </a:solidFill>
            </a:endParaRPr>
          </a:p>
        </p:txBody>
      </p:sp>
      <mc:AlternateContent xmlns:mc="http://schemas.openxmlformats.org/markup-compatibility/2006" xmlns:a14="http://schemas.microsoft.com/office/drawing/2010/main">
        <mc:Choice Requires="a14">
          <p:sp>
            <p:nvSpPr>
              <p:cNvPr id="22" name="CuadroTexto 21">
                <a:extLst>
                  <a:ext uri="{FF2B5EF4-FFF2-40B4-BE49-F238E27FC236}">
                    <a16:creationId xmlns:a16="http://schemas.microsoft.com/office/drawing/2014/main" id="{0D94160E-A324-6E21-DC14-0EE2D556E973}"/>
                  </a:ext>
                </a:extLst>
              </p:cNvPr>
              <p:cNvSpPr txBox="1"/>
              <p:nvPr/>
            </p:nvSpPr>
            <p:spPr>
              <a:xfrm>
                <a:off x="5634197" y="4293214"/>
                <a:ext cx="1245321" cy="369332"/>
              </a:xfrm>
              <a:prstGeom prst="rect">
                <a:avLst/>
              </a:prstGeom>
              <a:noFill/>
            </p:spPr>
            <p:txBody>
              <a:bodyPr wrap="square" rtlCol="0">
                <a:spAutoFit/>
              </a:bodyPr>
              <a:lstStyle/>
              <a:p>
                <a:pPr algn="ctr"/>
                <a14:m>
                  <m:oMath xmlns:m="http://schemas.openxmlformats.org/officeDocument/2006/math">
                    <m:sSub>
                      <m:sSubPr>
                        <m:ctrlPr>
                          <a:rPr lang="en-US" i="1" dirty="0" smtClean="0">
                            <a:solidFill>
                              <a:schemeClr val="tx1"/>
                            </a:solidFill>
                            <a:latin typeface="Cambria Math" panose="02040503050406030204" pitchFamily="18" charset="0"/>
                          </a:rPr>
                        </m:ctrlPr>
                      </m:sSubPr>
                      <m:e>
                        <m:r>
                          <a:rPr lang="es-ES" b="0" i="1" dirty="0" smtClean="0">
                            <a:solidFill>
                              <a:schemeClr val="tx1"/>
                            </a:solidFill>
                            <a:latin typeface="Cambria Math" panose="02040503050406030204" pitchFamily="18" charset="0"/>
                          </a:rPr>
                          <m:t>𝛽</m:t>
                        </m:r>
                      </m:e>
                      <m:sub>
                        <m:r>
                          <a:rPr lang="es-ES" b="0" i="1" dirty="0" smtClean="0">
                            <a:solidFill>
                              <a:schemeClr val="tx1"/>
                            </a:solidFill>
                            <a:latin typeface="Cambria Math" panose="02040503050406030204" pitchFamily="18" charset="0"/>
                          </a:rPr>
                          <m:t>𝑢</m:t>
                        </m:r>
                      </m:sub>
                    </m:sSub>
                  </m:oMath>
                </a14:m>
                <a:r>
                  <a:rPr lang="en-US" dirty="0">
                    <a:solidFill>
                      <a:schemeClr val="tx1"/>
                    </a:solidFill>
                  </a:rPr>
                  <a:t>, </a:t>
                </a:r>
                <a14:m>
                  <m:oMath xmlns:m="http://schemas.openxmlformats.org/officeDocument/2006/math">
                    <m:sSub>
                      <m:sSubPr>
                        <m:ctrlPr>
                          <a:rPr lang="en-US" i="1" dirty="0">
                            <a:solidFill>
                              <a:schemeClr val="tx1"/>
                            </a:solidFill>
                            <a:latin typeface="Cambria Math" panose="02040503050406030204" pitchFamily="18" charset="0"/>
                          </a:rPr>
                        </m:ctrlPr>
                      </m:sSubPr>
                      <m:e>
                        <m:r>
                          <a:rPr lang="es-ES" b="0" i="1" dirty="0" smtClean="0">
                            <a:solidFill>
                              <a:schemeClr val="tx1"/>
                            </a:solidFill>
                            <a:latin typeface="Cambria Math" panose="02040503050406030204" pitchFamily="18" charset="0"/>
                          </a:rPr>
                          <m:t>𝐿</m:t>
                        </m:r>
                      </m:e>
                      <m:sub>
                        <m:r>
                          <a:rPr lang="es-ES" i="1" dirty="0">
                            <a:solidFill>
                              <a:schemeClr val="tx1"/>
                            </a:solidFill>
                            <a:latin typeface="Cambria Math" panose="02040503050406030204" pitchFamily="18" charset="0"/>
                          </a:rPr>
                          <m:t>𝑢</m:t>
                        </m:r>
                      </m:sub>
                    </m:sSub>
                  </m:oMath>
                </a14:m>
                <a:r>
                  <a:rPr lang="en-US" dirty="0">
                    <a:solidFill>
                      <a:schemeClr val="tx1"/>
                    </a:solidFill>
                  </a:rPr>
                  <a:t> </a:t>
                </a:r>
              </a:p>
            </p:txBody>
          </p:sp>
        </mc:Choice>
        <mc:Fallback xmlns="">
          <p:sp>
            <p:nvSpPr>
              <p:cNvPr id="22" name="CuadroTexto 21">
                <a:extLst>
                  <a:ext uri="{FF2B5EF4-FFF2-40B4-BE49-F238E27FC236}">
                    <a16:creationId xmlns:a16="http://schemas.microsoft.com/office/drawing/2014/main" id="{0D94160E-A324-6E21-DC14-0EE2D556E973}"/>
                  </a:ext>
                </a:extLst>
              </p:cNvPr>
              <p:cNvSpPr txBox="1">
                <a:spLocks noRot="1" noChangeAspect="1" noMove="1" noResize="1" noEditPoints="1" noAdjustHandles="1" noChangeArrowheads="1" noChangeShapeType="1" noTextEdit="1"/>
              </p:cNvSpPr>
              <p:nvPr/>
            </p:nvSpPr>
            <p:spPr>
              <a:xfrm>
                <a:off x="5634197" y="4293214"/>
                <a:ext cx="1245321" cy="369332"/>
              </a:xfrm>
              <a:prstGeom prst="rect">
                <a:avLst/>
              </a:prstGeom>
              <a:blipFill>
                <a:blip r:embed="rId5"/>
                <a:stretch>
                  <a:fillRect t="-8197" b="-24590"/>
                </a:stretch>
              </a:blipFill>
            </p:spPr>
            <p:txBody>
              <a:bodyPr/>
              <a:lstStyle/>
              <a:p>
                <a:r>
                  <a:rPr lang="es-ES">
                    <a:noFill/>
                  </a:rPr>
                  <a:t> </a:t>
                </a:r>
              </a:p>
            </p:txBody>
          </p:sp>
        </mc:Fallback>
      </mc:AlternateContent>
      <p:sp>
        <p:nvSpPr>
          <p:cNvPr id="14" name="Rectángulo 13">
            <a:extLst>
              <a:ext uri="{FF2B5EF4-FFF2-40B4-BE49-F238E27FC236}">
                <a16:creationId xmlns:a16="http://schemas.microsoft.com/office/drawing/2014/main" id="{ECE69EBF-757C-A9D1-FFC8-627784359781}"/>
              </a:ext>
            </a:extLst>
          </p:cNvPr>
          <p:cNvSpPr/>
          <p:nvPr/>
        </p:nvSpPr>
        <p:spPr>
          <a:xfrm>
            <a:off x="2642165" y="4667484"/>
            <a:ext cx="1886532" cy="47897"/>
          </a:xfrm>
          <a:prstGeom prst="rect">
            <a:avLst/>
          </a:prstGeom>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solidFill>
                <a:schemeClr val="bg1">
                  <a:lumMod val="65000"/>
                </a:schemeClr>
              </a:solidFill>
            </a:endParaRPr>
          </a:p>
        </p:txBody>
      </p:sp>
      <p:sp>
        <p:nvSpPr>
          <p:cNvPr id="15" name="Rectángulo 14">
            <a:extLst>
              <a:ext uri="{FF2B5EF4-FFF2-40B4-BE49-F238E27FC236}">
                <a16:creationId xmlns:a16="http://schemas.microsoft.com/office/drawing/2014/main" id="{EE13A858-EE2A-8624-F13C-636DED623D27}"/>
              </a:ext>
            </a:extLst>
          </p:cNvPr>
          <p:cNvSpPr/>
          <p:nvPr/>
        </p:nvSpPr>
        <p:spPr>
          <a:xfrm>
            <a:off x="2642164" y="5098559"/>
            <a:ext cx="1886532" cy="47897"/>
          </a:xfrm>
          <a:prstGeom prst="rect">
            <a:avLst/>
          </a:prstGeom>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solidFill>
                <a:schemeClr val="bg1">
                  <a:lumMod val="65000"/>
                </a:schemeClr>
              </a:solidFill>
            </a:endParaRPr>
          </a:p>
        </p:txBody>
      </p:sp>
      <p:sp>
        <p:nvSpPr>
          <p:cNvPr id="19" name="Rectángulo 18">
            <a:extLst>
              <a:ext uri="{FF2B5EF4-FFF2-40B4-BE49-F238E27FC236}">
                <a16:creationId xmlns:a16="http://schemas.microsoft.com/office/drawing/2014/main" id="{C1076A0B-8DBA-DB5F-DC0F-1CF449A81D38}"/>
              </a:ext>
            </a:extLst>
          </p:cNvPr>
          <p:cNvSpPr/>
          <p:nvPr/>
        </p:nvSpPr>
        <p:spPr>
          <a:xfrm>
            <a:off x="2856086" y="4458476"/>
            <a:ext cx="1375954" cy="914400"/>
          </a:xfrm>
          <a:prstGeom prst="rect">
            <a:avLst/>
          </a:prstGeom>
        </p:spPr>
        <p:style>
          <a:lnRef idx="0">
            <a:schemeClr val="accent6"/>
          </a:lnRef>
          <a:fillRef idx="3">
            <a:schemeClr val="accent6"/>
          </a:fillRef>
          <a:effectRef idx="3">
            <a:schemeClr val="accent6"/>
          </a:effectRef>
          <a:fontRef idx="minor">
            <a:schemeClr val="lt1"/>
          </a:fontRef>
        </p:style>
        <p:txBody>
          <a:bodyPr rtlCol="0" anchor="ctr"/>
          <a:lstStyle/>
          <a:p>
            <a:pPr algn="ctr"/>
            <a:endParaRPr lang="en-US">
              <a:solidFill>
                <a:schemeClr val="bg1">
                  <a:lumMod val="65000"/>
                </a:schemeClr>
              </a:solidFill>
            </a:endParaRPr>
          </a:p>
        </p:txBody>
      </p:sp>
      <mc:AlternateContent xmlns:mc="http://schemas.openxmlformats.org/markup-compatibility/2006" xmlns:a14="http://schemas.microsoft.com/office/drawing/2010/main">
        <mc:Choice Requires="a14">
          <p:sp>
            <p:nvSpPr>
              <p:cNvPr id="20" name="CuadroTexto 19">
                <a:extLst>
                  <a:ext uri="{FF2B5EF4-FFF2-40B4-BE49-F238E27FC236}">
                    <a16:creationId xmlns:a16="http://schemas.microsoft.com/office/drawing/2014/main" id="{EF5E72A5-F125-01A3-6239-44DD988AC98A}"/>
                  </a:ext>
                </a:extLst>
              </p:cNvPr>
              <p:cNvSpPr txBox="1"/>
              <p:nvPr/>
            </p:nvSpPr>
            <p:spPr>
              <a:xfrm>
                <a:off x="2919955" y="4694053"/>
                <a:ext cx="1291674"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s-ES" b="0" i="1" smtClean="0">
                              <a:solidFill>
                                <a:schemeClr val="tx1"/>
                              </a:solidFill>
                              <a:latin typeface="Cambria Math" panose="02040503050406030204" pitchFamily="18" charset="0"/>
                            </a:rPr>
                          </m:ctrlPr>
                        </m:sSubPr>
                        <m:e>
                          <m:r>
                            <a:rPr lang="es-ES" b="0" i="1" smtClean="0">
                              <a:solidFill>
                                <a:schemeClr val="tx1"/>
                              </a:solidFill>
                              <a:latin typeface="Cambria Math" panose="02040503050406030204" pitchFamily="18" charset="0"/>
                            </a:rPr>
                            <m:t>𝑘</m:t>
                          </m:r>
                        </m:e>
                        <m:sub>
                          <m:r>
                            <a:rPr lang="es-ES" b="0" i="1" smtClean="0">
                              <a:solidFill>
                                <a:schemeClr val="tx1"/>
                              </a:solidFill>
                              <a:latin typeface="Cambria Math" panose="02040503050406030204" pitchFamily="18" charset="0"/>
                            </a:rPr>
                            <m:t>𝑎</m:t>
                          </m:r>
                        </m:sub>
                      </m:sSub>
                    </m:oMath>
                  </m:oMathPara>
                </a14:m>
                <a:endParaRPr lang="en-US" dirty="0">
                  <a:solidFill>
                    <a:schemeClr val="tx1"/>
                  </a:solidFill>
                </a:endParaRPr>
              </a:p>
            </p:txBody>
          </p:sp>
        </mc:Choice>
        <mc:Fallback xmlns="">
          <p:sp>
            <p:nvSpPr>
              <p:cNvPr id="20" name="CuadroTexto 19">
                <a:extLst>
                  <a:ext uri="{FF2B5EF4-FFF2-40B4-BE49-F238E27FC236}">
                    <a16:creationId xmlns:a16="http://schemas.microsoft.com/office/drawing/2014/main" id="{EF5E72A5-F125-01A3-6239-44DD988AC98A}"/>
                  </a:ext>
                </a:extLst>
              </p:cNvPr>
              <p:cNvSpPr txBox="1">
                <a:spLocks noRot="1" noChangeAspect="1" noMove="1" noResize="1" noEditPoints="1" noAdjustHandles="1" noChangeArrowheads="1" noChangeShapeType="1" noTextEdit="1"/>
              </p:cNvSpPr>
              <p:nvPr/>
            </p:nvSpPr>
            <p:spPr>
              <a:xfrm>
                <a:off x="2919955" y="4694053"/>
                <a:ext cx="1291674" cy="369332"/>
              </a:xfrm>
              <a:prstGeom prst="rect">
                <a:avLst/>
              </a:prstGeom>
              <a:blipFill>
                <a:blip r:embed="rId6"/>
                <a:stretch>
                  <a:fillRect/>
                </a:stretch>
              </a:blipFill>
            </p:spPr>
            <p:txBody>
              <a:bodyPr/>
              <a:lstStyle/>
              <a:p>
                <a:r>
                  <a:rPr lang="es-ES">
                    <a:noFill/>
                  </a:rPr>
                  <a:t> </a:t>
                </a:r>
              </a:p>
            </p:txBody>
          </p:sp>
        </mc:Fallback>
      </mc:AlternateContent>
      <p:sp>
        <p:nvSpPr>
          <p:cNvPr id="24" name="CuadroTexto 23">
            <a:extLst>
              <a:ext uri="{FF2B5EF4-FFF2-40B4-BE49-F238E27FC236}">
                <a16:creationId xmlns:a16="http://schemas.microsoft.com/office/drawing/2014/main" id="{E82D8A99-C12E-9B5A-D44F-DC39CF2187E7}"/>
              </a:ext>
            </a:extLst>
          </p:cNvPr>
          <p:cNvSpPr txBox="1"/>
          <p:nvPr/>
        </p:nvSpPr>
        <p:spPr>
          <a:xfrm>
            <a:off x="1422486" y="4934965"/>
            <a:ext cx="1245321" cy="369332"/>
          </a:xfrm>
          <a:prstGeom prst="rect">
            <a:avLst/>
          </a:prstGeom>
          <a:noFill/>
        </p:spPr>
        <p:txBody>
          <a:bodyPr wrap="square" rtlCol="0">
            <a:spAutoFit/>
          </a:bodyPr>
          <a:lstStyle/>
          <a:p>
            <a:pPr algn="r"/>
            <a:r>
              <a:rPr lang="en-US" dirty="0">
                <a:solidFill>
                  <a:schemeClr val="bg1">
                    <a:lumMod val="65000"/>
                  </a:schemeClr>
                </a:solidFill>
              </a:rPr>
              <a:t>In1</a:t>
            </a:r>
          </a:p>
        </p:txBody>
      </p:sp>
      <p:sp>
        <p:nvSpPr>
          <p:cNvPr id="25" name="CuadroTexto 24">
            <a:extLst>
              <a:ext uri="{FF2B5EF4-FFF2-40B4-BE49-F238E27FC236}">
                <a16:creationId xmlns:a16="http://schemas.microsoft.com/office/drawing/2014/main" id="{AF3AEF45-E8B3-D1F2-8A9B-3A0585B1DA38}"/>
              </a:ext>
            </a:extLst>
          </p:cNvPr>
          <p:cNvSpPr txBox="1"/>
          <p:nvPr/>
        </p:nvSpPr>
        <p:spPr>
          <a:xfrm>
            <a:off x="1438475" y="4491415"/>
            <a:ext cx="1245321" cy="369332"/>
          </a:xfrm>
          <a:prstGeom prst="rect">
            <a:avLst/>
          </a:prstGeom>
          <a:noFill/>
        </p:spPr>
        <p:txBody>
          <a:bodyPr wrap="square" rtlCol="0">
            <a:spAutoFit/>
          </a:bodyPr>
          <a:lstStyle/>
          <a:p>
            <a:pPr algn="r"/>
            <a:r>
              <a:rPr lang="en-US" dirty="0">
                <a:solidFill>
                  <a:schemeClr val="bg1">
                    <a:lumMod val="65000"/>
                  </a:schemeClr>
                </a:solidFill>
              </a:rPr>
              <a:t>In2</a:t>
            </a:r>
          </a:p>
        </p:txBody>
      </p:sp>
      <p:sp>
        <p:nvSpPr>
          <p:cNvPr id="17" name="Rectángulo 16">
            <a:extLst>
              <a:ext uri="{FF2B5EF4-FFF2-40B4-BE49-F238E27FC236}">
                <a16:creationId xmlns:a16="http://schemas.microsoft.com/office/drawing/2014/main" id="{6C1DD7CE-5AFF-6AAD-ABB0-7F12BBFDC181}"/>
              </a:ext>
            </a:extLst>
          </p:cNvPr>
          <p:cNvSpPr/>
          <p:nvPr/>
        </p:nvSpPr>
        <p:spPr>
          <a:xfrm>
            <a:off x="7822666" y="4652133"/>
            <a:ext cx="1818832" cy="47897"/>
          </a:xfrm>
          <a:prstGeom prst="rect">
            <a:avLst/>
          </a:prstGeom>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solidFill>
                <a:schemeClr val="bg1">
                  <a:lumMod val="65000"/>
                </a:schemeClr>
              </a:solidFill>
            </a:endParaRPr>
          </a:p>
        </p:txBody>
      </p:sp>
      <p:sp>
        <p:nvSpPr>
          <p:cNvPr id="18" name="Rectángulo 17">
            <a:extLst>
              <a:ext uri="{FF2B5EF4-FFF2-40B4-BE49-F238E27FC236}">
                <a16:creationId xmlns:a16="http://schemas.microsoft.com/office/drawing/2014/main" id="{BF18895E-AB87-954B-BE18-94A83ABEF83B}"/>
              </a:ext>
            </a:extLst>
          </p:cNvPr>
          <p:cNvSpPr/>
          <p:nvPr/>
        </p:nvSpPr>
        <p:spPr>
          <a:xfrm>
            <a:off x="7822665" y="5083208"/>
            <a:ext cx="1818832" cy="47897"/>
          </a:xfrm>
          <a:prstGeom prst="rect">
            <a:avLst/>
          </a:prstGeom>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solidFill>
                <a:schemeClr val="bg1">
                  <a:lumMod val="65000"/>
                </a:schemeClr>
              </a:solidFill>
            </a:endParaRPr>
          </a:p>
        </p:txBody>
      </p:sp>
      <p:sp>
        <p:nvSpPr>
          <p:cNvPr id="21" name="Rectángulo 20">
            <a:extLst>
              <a:ext uri="{FF2B5EF4-FFF2-40B4-BE49-F238E27FC236}">
                <a16:creationId xmlns:a16="http://schemas.microsoft.com/office/drawing/2014/main" id="{EC9EBD3D-98EF-BFF4-3EF2-FB53BDFDC1B9}"/>
              </a:ext>
            </a:extLst>
          </p:cNvPr>
          <p:cNvSpPr/>
          <p:nvPr/>
        </p:nvSpPr>
        <p:spPr>
          <a:xfrm>
            <a:off x="8037575" y="4467074"/>
            <a:ext cx="1375954" cy="914400"/>
          </a:xfrm>
          <a:prstGeom prst="rect">
            <a:avLst/>
          </a:prstGeom>
        </p:spPr>
        <p:style>
          <a:lnRef idx="0">
            <a:schemeClr val="accent6"/>
          </a:lnRef>
          <a:fillRef idx="3">
            <a:schemeClr val="accent6"/>
          </a:fillRef>
          <a:effectRef idx="3">
            <a:schemeClr val="accent6"/>
          </a:effectRef>
          <a:fontRef idx="minor">
            <a:schemeClr val="lt1"/>
          </a:fontRef>
        </p:style>
        <p:txBody>
          <a:bodyPr rtlCol="0" anchor="ctr"/>
          <a:lstStyle/>
          <a:p>
            <a:pPr algn="ctr"/>
            <a:endParaRPr lang="en-US">
              <a:solidFill>
                <a:schemeClr val="bg1">
                  <a:lumMod val="65000"/>
                </a:schemeClr>
              </a:solidFill>
            </a:endParaRPr>
          </a:p>
        </p:txBody>
      </p:sp>
      <p:sp>
        <p:nvSpPr>
          <p:cNvPr id="34" name="CuadroTexto 33">
            <a:extLst>
              <a:ext uri="{FF2B5EF4-FFF2-40B4-BE49-F238E27FC236}">
                <a16:creationId xmlns:a16="http://schemas.microsoft.com/office/drawing/2014/main" id="{1C2F6896-54D4-8706-AA99-764079F2D35D}"/>
              </a:ext>
            </a:extLst>
          </p:cNvPr>
          <p:cNvSpPr txBox="1"/>
          <p:nvPr/>
        </p:nvSpPr>
        <p:spPr>
          <a:xfrm>
            <a:off x="9659709" y="4916768"/>
            <a:ext cx="1245321" cy="369332"/>
          </a:xfrm>
          <a:prstGeom prst="rect">
            <a:avLst/>
          </a:prstGeom>
          <a:noFill/>
        </p:spPr>
        <p:txBody>
          <a:bodyPr wrap="square" rtlCol="0">
            <a:spAutoFit/>
          </a:bodyPr>
          <a:lstStyle/>
          <a:p>
            <a:r>
              <a:rPr lang="en-US" dirty="0">
                <a:solidFill>
                  <a:schemeClr val="bg1">
                    <a:lumMod val="65000"/>
                  </a:schemeClr>
                </a:solidFill>
              </a:rPr>
              <a:t>Out1</a:t>
            </a:r>
          </a:p>
        </p:txBody>
      </p:sp>
      <p:sp>
        <p:nvSpPr>
          <p:cNvPr id="36" name="CuadroTexto 35">
            <a:extLst>
              <a:ext uri="{FF2B5EF4-FFF2-40B4-BE49-F238E27FC236}">
                <a16:creationId xmlns:a16="http://schemas.microsoft.com/office/drawing/2014/main" id="{5006711D-654E-EB6C-E90D-0190AA8EE20A}"/>
              </a:ext>
            </a:extLst>
          </p:cNvPr>
          <p:cNvSpPr txBox="1"/>
          <p:nvPr/>
        </p:nvSpPr>
        <p:spPr>
          <a:xfrm>
            <a:off x="9680893" y="4458476"/>
            <a:ext cx="1245321" cy="369332"/>
          </a:xfrm>
          <a:prstGeom prst="rect">
            <a:avLst/>
          </a:prstGeom>
          <a:noFill/>
        </p:spPr>
        <p:txBody>
          <a:bodyPr wrap="square" rtlCol="0">
            <a:spAutoFit/>
          </a:bodyPr>
          <a:lstStyle/>
          <a:p>
            <a:r>
              <a:rPr lang="en-US" dirty="0">
                <a:solidFill>
                  <a:schemeClr val="bg1">
                    <a:lumMod val="65000"/>
                  </a:schemeClr>
                </a:solidFill>
              </a:rPr>
              <a:t>Out2</a:t>
            </a:r>
          </a:p>
        </p:txBody>
      </p:sp>
      <mc:AlternateContent xmlns:mc="http://schemas.openxmlformats.org/markup-compatibility/2006" xmlns:a14="http://schemas.microsoft.com/office/drawing/2010/main">
        <mc:Choice Requires="a14">
          <p:sp>
            <p:nvSpPr>
              <p:cNvPr id="39" name="CuadroTexto 38">
                <a:extLst>
                  <a:ext uri="{FF2B5EF4-FFF2-40B4-BE49-F238E27FC236}">
                    <a16:creationId xmlns:a16="http://schemas.microsoft.com/office/drawing/2014/main" id="{979C4EB3-5014-92C7-FAAB-64D3285CF6AC}"/>
                  </a:ext>
                </a:extLst>
              </p:cNvPr>
              <p:cNvSpPr txBox="1"/>
              <p:nvPr/>
            </p:nvSpPr>
            <p:spPr>
              <a:xfrm>
                <a:off x="8119322" y="4706953"/>
                <a:ext cx="1291674"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s-ES" b="0" i="1" smtClean="0">
                              <a:solidFill>
                                <a:schemeClr val="tx1"/>
                              </a:solidFill>
                              <a:latin typeface="Cambria Math" panose="02040503050406030204" pitchFamily="18" charset="0"/>
                            </a:rPr>
                          </m:ctrlPr>
                        </m:sSubPr>
                        <m:e>
                          <m:r>
                            <a:rPr lang="es-ES" b="0" i="1" smtClean="0">
                              <a:solidFill>
                                <a:schemeClr val="tx1"/>
                              </a:solidFill>
                              <a:latin typeface="Cambria Math" panose="02040503050406030204" pitchFamily="18" charset="0"/>
                            </a:rPr>
                            <m:t>𝑘</m:t>
                          </m:r>
                        </m:e>
                        <m:sub>
                          <m:r>
                            <a:rPr lang="es-ES" b="0" i="1" smtClean="0">
                              <a:solidFill>
                                <a:schemeClr val="tx1"/>
                              </a:solidFill>
                              <a:latin typeface="Cambria Math" panose="02040503050406030204" pitchFamily="18" charset="0"/>
                            </a:rPr>
                            <m:t>𝑏</m:t>
                          </m:r>
                        </m:sub>
                      </m:sSub>
                    </m:oMath>
                  </m:oMathPara>
                </a14:m>
                <a:endParaRPr lang="en-US" dirty="0">
                  <a:solidFill>
                    <a:schemeClr val="tx1"/>
                  </a:solidFill>
                </a:endParaRPr>
              </a:p>
            </p:txBody>
          </p:sp>
        </mc:Choice>
        <mc:Fallback xmlns="">
          <p:sp>
            <p:nvSpPr>
              <p:cNvPr id="39" name="CuadroTexto 38">
                <a:extLst>
                  <a:ext uri="{FF2B5EF4-FFF2-40B4-BE49-F238E27FC236}">
                    <a16:creationId xmlns:a16="http://schemas.microsoft.com/office/drawing/2014/main" id="{979C4EB3-5014-92C7-FAAB-64D3285CF6AC}"/>
                  </a:ext>
                </a:extLst>
              </p:cNvPr>
              <p:cNvSpPr txBox="1">
                <a:spLocks noRot="1" noChangeAspect="1" noMove="1" noResize="1" noEditPoints="1" noAdjustHandles="1" noChangeArrowheads="1" noChangeShapeType="1" noTextEdit="1"/>
              </p:cNvSpPr>
              <p:nvPr/>
            </p:nvSpPr>
            <p:spPr>
              <a:xfrm>
                <a:off x="8119322" y="4706953"/>
                <a:ext cx="1291674" cy="369332"/>
              </a:xfrm>
              <a:prstGeom prst="rect">
                <a:avLst/>
              </a:prstGeom>
              <a:blipFill>
                <a:blip r:embed="rId7"/>
                <a:stretch>
                  <a:fillRect/>
                </a:stretch>
              </a:blipFill>
            </p:spPr>
            <p:txBody>
              <a:bodyPr/>
              <a:lstStyle/>
              <a:p>
                <a:r>
                  <a:rPr lang="es-ES">
                    <a:noFill/>
                  </a:rPr>
                  <a:t> </a:t>
                </a:r>
              </a:p>
            </p:txBody>
          </p:sp>
        </mc:Fallback>
      </mc:AlternateContent>
      <mc:AlternateContent xmlns:mc="http://schemas.openxmlformats.org/markup-compatibility/2006" xmlns:a14="http://schemas.microsoft.com/office/drawing/2010/main">
        <mc:Choice Requires="a14">
          <p:sp>
            <p:nvSpPr>
              <p:cNvPr id="40" name="CuadroTexto 39">
                <a:extLst>
                  <a:ext uri="{FF2B5EF4-FFF2-40B4-BE49-F238E27FC236}">
                    <a16:creationId xmlns:a16="http://schemas.microsoft.com/office/drawing/2014/main" id="{72F4EC49-F7E4-B921-90B7-75679E5144D1}"/>
                  </a:ext>
                </a:extLst>
              </p:cNvPr>
              <p:cNvSpPr txBox="1"/>
              <p:nvPr/>
            </p:nvSpPr>
            <p:spPr>
              <a:xfrm>
                <a:off x="5653085" y="5192639"/>
                <a:ext cx="1245321" cy="369332"/>
              </a:xfrm>
              <a:prstGeom prst="rect">
                <a:avLst/>
              </a:prstGeom>
              <a:noFill/>
            </p:spPr>
            <p:txBody>
              <a:bodyPr wrap="square" rtlCol="0">
                <a:spAutoFit/>
              </a:bodyPr>
              <a:lstStyle/>
              <a:p>
                <a:pPr algn="ctr"/>
                <a14:m>
                  <m:oMath xmlns:m="http://schemas.openxmlformats.org/officeDocument/2006/math">
                    <m:sSub>
                      <m:sSubPr>
                        <m:ctrlPr>
                          <a:rPr lang="en-US" i="1" dirty="0" smtClean="0">
                            <a:solidFill>
                              <a:schemeClr val="tx1"/>
                            </a:solidFill>
                            <a:latin typeface="Cambria Math" panose="02040503050406030204" pitchFamily="18" charset="0"/>
                          </a:rPr>
                        </m:ctrlPr>
                      </m:sSubPr>
                      <m:e>
                        <m:r>
                          <a:rPr lang="es-ES" b="0" i="1" dirty="0" smtClean="0">
                            <a:solidFill>
                              <a:schemeClr val="tx1"/>
                            </a:solidFill>
                            <a:latin typeface="Cambria Math" panose="02040503050406030204" pitchFamily="18" charset="0"/>
                          </a:rPr>
                          <m:t>𝛽</m:t>
                        </m:r>
                      </m:e>
                      <m:sub>
                        <m:r>
                          <a:rPr lang="es-ES" b="0" i="1" dirty="0" smtClean="0">
                            <a:solidFill>
                              <a:schemeClr val="tx1"/>
                            </a:solidFill>
                            <a:latin typeface="Cambria Math" panose="02040503050406030204" pitchFamily="18" charset="0"/>
                          </a:rPr>
                          <m:t>𝑑</m:t>
                        </m:r>
                      </m:sub>
                    </m:sSub>
                  </m:oMath>
                </a14:m>
                <a:r>
                  <a:rPr lang="en-US" dirty="0">
                    <a:solidFill>
                      <a:schemeClr val="tx1"/>
                    </a:solidFill>
                  </a:rPr>
                  <a:t>, </a:t>
                </a:r>
                <a14:m>
                  <m:oMath xmlns:m="http://schemas.openxmlformats.org/officeDocument/2006/math">
                    <m:sSub>
                      <m:sSubPr>
                        <m:ctrlPr>
                          <a:rPr lang="en-US" i="1" dirty="0">
                            <a:solidFill>
                              <a:schemeClr val="tx1"/>
                            </a:solidFill>
                            <a:latin typeface="Cambria Math" panose="02040503050406030204" pitchFamily="18" charset="0"/>
                          </a:rPr>
                        </m:ctrlPr>
                      </m:sSubPr>
                      <m:e>
                        <m:r>
                          <a:rPr lang="es-ES" b="0" i="1" dirty="0" smtClean="0">
                            <a:solidFill>
                              <a:schemeClr val="tx1"/>
                            </a:solidFill>
                            <a:latin typeface="Cambria Math" panose="02040503050406030204" pitchFamily="18" charset="0"/>
                          </a:rPr>
                          <m:t>𝐿</m:t>
                        </m:r>
                      </m:e>
                      <m:sub>
                        <m:r>
                          <a:rPr lang="es-ES" b="0" i="1" dirty="0" smtClean="0">
                            <a:solidFill>
                              <a:schemeClr val="tx1"/>
                            </a:solidFill>
                            <a:latin typeface="Cambria Math" panose="02040503050406030204" pitchFamily="18" charset="0"/>
                          </a:rPr>
                          <m:t>𝑑</m:t>
                        </m:r>
                      </m:sub>
                    </m:sSub>
                  </m:oMath>
                </a14:m>
                <a:r>
                  <a:rPr lang="en-US" dirty="0">
                    <a:solidFill>
                      <a:schemeClr val="tx1"/>
                    </a:solidFill>
                  </a:rPr>
                  <a:t> </a:t>
                </a:r>
              </a:p>
            </p:txBody>
          </p:sp>
        </mc:Choice>
        <mc:Fallback xmlns="">
          <p:sp>
            <p:nvSpPr>
              <p:cNvPr id="40" name="CuadroTexto 39">
                <a:extLst>
                  <a:ext uri="{FF2B5EF4-FFF2-40B4-BE49-F238E27FC236}">
                    <a16:creationId xmlns:a16="http://schemas.microsoft.com/office/drawing/2014/main" id="{72F4EC49-F7E4-B921-90B7-75679E5144D1}"/>
                  </a:ext>
                </a:extLst>
              </p:cNvPr>
              <p:cNvSpPr txBox="1">
                <a:spLocks noRot="1" noChangeAspect="1" noMove="1" noResize="1" noEditPoints="1" noAdjustHandles="1" noChangeArrowheads="1" noChangeShapeType="1" noTextEdit="1"/>
              </p:cNvSpPr>
              <p:nvPr/>
            </p:nvSpPr>
            <p:spPr>
              <a:xfrm>
                <a:off x="5653085" y="5192639"/>
                <a:ext cx="1245321" cy="369332"/>
              </a:xfrm>
              <a:prstGeom prst="rect">
                <a:avLst/>
              </a:prstGeom>
              <a:blipFill>
                <a:blip r:embed="rId8"/>
                <a:stretch>
                  <a:fillRect t="-10000" b="-26667"/>
                </a:stretch>
              </a:blipFill>
            </p:spPr>
            <p:txBody>
              <a:bodyPr/>
              <a:lstStyle/>
              <a:p>
                <a:r>
                  <a:rPr lang="es-ES">
                    <a:noFill/>
                  </a:rPr>
                  <a:t> </a:t>
                </a:r>
              </a:p>
            </p:txBody>
          </p:sp>
        </mc:Fallback>
      </mc:AlternateContent>
    </p:spTree>
    <p:extLst>
      <p:ext uri="{BB962C8B-B14F-4D97-AF65-F5344CB8AC3E}">
        <p14:creationId xmlns:p14="http://schemas.microsoft.com/office/powerpoint/2010/main" val="56023462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80DA9C-35AF-A1D7-01E5-BFD9DEF1550F}"/>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471E1424-6C4B-2D9A-1352-30AFB987AD41}"/>
              </a:ext>
            </a:extLst>
          </p:cNvPr>
          <p:cNvSpPr txBox="1">
            <a:spLocks noGrp="1"/>
          </p:cNvSpPr>
          <p:nvPr>
            <p:ph type="title"/>
          </p:nvPr>
        </p:nvSpPr>
        <p:spPr>
          <a:xfrm>
            <a:off x="685800" y="408883"/>
            <a:ext cx="10994410" cy="782265"/>
          </a:xfrm>
          <a:prstGeom prst="rect">
            <a:avLst/>
          </a:prstGeom>
        </p:spPr>
        <p:txBody>
          <a:bodyPr vert="horz" wrap="square" lIns="0" tIns="12700" rIns="0" bIns="0" rtlCol="0">
            <a:spAutoFit/>
          </a:bodyPr>
          <a:lstStyle/>
          <a:p>
            <a:pPr marL="12700">
              <a:lnSpc>
                <a:spcPct val="100000"/>
              </a:lnSpc>
              <a:spcBef>
                <a:spcPts val="100"/>
              </a:spcBef>
            </a:pPr>
            <a:r>
              <a:rPr lang="en-US" sz="2400" b="1" dirty="0"/>
              <a:t>ASSESSMENT #1 </a:t>
            </a:r>
            <a:r>
              <a:rPr lang="en-US" sz="2500" dirty="0"/>
              <a:t>– Recap from theory – MZI configurations</a:t>
            </a:r>
            <a:br>
              <a:rPr lang="es-ES" sz="2500" spc="-5" dirty="0">
                <a:latin typeface="+mj-lt"/>
                <a:cs typeface="Lucida Sans"/>
              </a:rPr>
            </a:br>
            <a:endParaRPr sz="2500" b="0" dirty="0">
              <a:latin typeface="+mj-lt"/>
              <a:cs typeface="Lucida Sans"/>
            </a:endParaRPr>
          </a:p>
        </p:txBody>
      </p:sp>
      <p:pic>
        <p:nvPicPr>
          <p:cNvPr id="83" name="Gráfico 82">
            <a:extLst>
              <a:ext uri="{FF2B5EF4-FFF2-40B4-BE49-F238E27FC236}">
                <a16:creationId xmlns:a16="http://schemas.microsoft.com/office/drawing/2014/main" id="{9DCFD462-4416-65F8-5696-B0135B632765}"/>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293F5C1D-AFFF-4EA6-CA59-6503F34EBF5F}"/>
              </a:ext>
            </a:extLst>
          </p:cNvPr>
          <p:cNvSpPr>
            <a:spLocks noGrp="1"/>
          </p:cNvSpPr>
          <p:nvPr>
            <p:ph type="sldNum" sz="quarter" idx="7"/>
          </p:nvPr>
        </p:nvSpPr>
        <p:spPr/>
        <p:txBody>
          <a:bodyPr/>
          <a:lstStyle/>
          <a:p>
            <a:fld id="{B6F15528-21DE-4FAA-801E-634DDDAF4B2B}" type="slidenum">
              <a:rPr lang="es-ES" smtClean="0"/>
              <a:t>3</a:t>
            </a:fld>
            <a:endParaRPr lang="es-ES"/>
          </a:p>
        </p:txBody>
      </p:sp>
      <mc:AlternateContent xmlns:mc="http://schemas.openxmlformats.org/markup-compatibility/2006" xmlns:a14="http://schemas.microsoft.com/office/drawing/2010/main">
        <mc:Choice Requires="a14">
          <p:sp>
            <p:nvSpPr>
              <p:cNvPr id="4" name="Marcador de texto 2">
                <a:extLst>
                  <a:ext uri="{FF2B5EF4-FFF2-40B4-BE49-F238E27FC236}">
                    <a16:creationId xmlns:a16="http://schemas.microsoft.com/office/drawing/2014/main" id="{AA9E72FF-B948-6B7A-8909-97C6BE95D6FB}"/>
                  </a:ext>
                </a:extLst>
              </p:cNvPr>
              <p:cNvSpPr txBox="1">
                <a:spLocks/>
              </p:cNvSpPr>
              <p:nvPr/>
            </p:nvSpPr>
            <p:spPr>
              <a:xfrm>
                <a:off x="608012" y="1295400"/>
                <a:ext cx="11048999" cy="4958137"/>
              </a:xfrm>
              <a:prstGeom prst="rect">
                <a:avLst/>
              </a:prstGeom>
            </p:spPr>
            <p:txBody>
              <a:bodyPr>
                <a:normAutofit/>
              </a:bodyPr>
              <a:lst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a:lstStyle>
              <a:p>
                <a:r>
                  <a:rPr lang="en-US" sz="2000" dirty="0"/>
                  <a:t>Provide one example of implementation for each one of the configurations studied during MZI lecture:</a:t>
                </a:r>
              </a:p>
              <a:p>
                <a:pPr lvl="1"/>
                <a:r>
                  <a:rPr lang="en-US" sz="2000" dirty="0"/>
                  <a:t>1. Balanced configuration</a:t>
                </a:r>
              </a:p>
              <a:p>
                <a:pPr lvl="1"/>
                <a:r>
                  <a:rPr lang="en-US" sz="2000" dirty="0"/>
                  <a:t>2. Unbalanced configuration:</a:t>
                </a:r>
              </a:p>
              <a:p>
                <a:pPr lvl="1"/>
                <a:r>
                  <a:rPr lang="en-US" sz="2000" dirty="0"/>
                  <a:t>  2.1.   Phase difference </a:t>
                </a:r>
              </a:p>
              <a:p>
                <a:pPr lvl="1"/>
                <a:r>
                  <a:rPr lang="en-US" sz="2000" dirty="0"/>
                  <a:t>  2.2.   Delay imbalance</a:t>
                </a:r>
              </a:p>
              <a:p>
                <a:r>
                  <a:rPr lang="en-US" sz="2000" dirty="0"/>
                  <a:t>Compute also some examples with </a:t>
                </a:r>
                <a14:m>
                  <m:oMath xmlns:m="http://schemas.openxmlformats.org/officeDocument/2006/math">
                    <m:r>
                      <m:rPr>
                        <m:sty m:val="p"/>
                      </m:rPr>
                      <a:rPr lang="es-ES" sz="2000" b="0" i="1" smtClean="0">
                        <a:latin typeface="Cambria Math" panose="02040503050406030204" pitchFamily="18" charset="0"/>
                      </a:rPr>
                      <m:t>α</m:t>
                    </m:r>
                    <m:r>
                      <a:rPr lang="es-ES" sz="2000" i="1">
                        <a:latin typeface="Cambria Math" panose="02040503050406030204" pitchFamily="18" charset="0"/>
                        <a:ea typeface="Cambria Math" panose="02040503050406030204" pitchFamily="18" charset="0"/>
                      </a:rPr>
                      <m:t>≠0</m:t>
                    </m:r>
                  </m:oMath>
                </a14:m>
                <a:r>
                  <a:rPr lang="en-US" sz="2000" kern="0" dirty="0">
                    <a:solidFill>
                      <a:sysClr val="windowText" lastClr="000000"/>
                    </a:solidFill>
                  </a:rPr>
                  <a:t> and </a:t>
                </a:r>
                <a14:m>
                  <m:oMath xmlns:m="http://schemas.openxmlformats.org/officeDocument/2006/math">
                    <m:r>
                      <m:rPr>
                        <m:sty m:val="p"/>
                      </m:rPr>
                      <a:rPr lang="es-ES" sz="2000" i="1">
                        <a:latin typeface="Cambria Math" panose="02040503050406030204" pitchFamily="18" charset="0"/>
                      </a:rPr>
                      <m:t>γ</m:t>
                    </m:r>
                    <m:r>
                      <a:rPr lang="es-ES" sz="2000" i="1">
                        <a:latin typeface="Cambria Math" panose="02040503050406030204" pitchFamily="18" charset="0"/>
                        <a:ea typeface="Cambria Math" panose="02040503050406030204" pitchFamily="18" charset="0"/>
                      </a:rPr>
                      <m:t>≠0</m:t>
                    </m:r>
                  </m:oMath>
                </a14:m>
                <a:endParaRPr lang="es-ES" sz="2000" dirty="0"/>
              </a:p>
              <a:p>
                <a:r>
                  <a:rPr lang="en-US" sz="2000" dirty="0"/>
                  <a:t> </a:t>
                </a:r>
              </a:p>
              <a:p>
                <a:pPr algn="just"/>
                <a:endParaRPr lang="en-US" sz="2000" dirty="0"/>
              </a:p>
              <a:p>
                <a:pPr algn="just"/>
                <a:endParaRPr lang="en-US" sz="2000" b="1" i="1" dirty="0"/>
              </a:p>
              <a:p>
                <a:pPr algn="just"/>
                <a:endParaRPr lang="en-US" sz="2000" kern="0" dirty="0">
                  <a:solidFill>
                    <a:sysClr val="windowText" lastClr="000000"/>
                  </a:solidFill>
                </a:endParaRPr>
              </a:p>
              <a:p>
                <a:endParaRPr lang="en-US" sz="2000" kern="0" dirty="0">
                  <a:solidFill>
                    <a:sysClr val="windowText" lastClr="000000"/>
                  </a:solidFill>
                </a:endParaRPr>
              </a:p>
            </p:txBody>
          </p:sp>
        </mc:Choice>
        <mc:Fallback xmlns="">
          <p:sp>
            <p:nvSpPr>
              <p:cNvPr id="4" name="Marcador de texto 2">
                <a:extLst>
                  <a:ext uri="{FF2B5EF4-FFF2-40B4-BE49-F238E27FC236}">
                    <a16:creationId xmlns:a16="http://schemas.microsoft.com/office/drawing/2014/main" id="{AA9E72FF-B948-6B7A-8909-97C6BE95D6FB}"/>
                  </a:ext>
                </a:extLst>
              </p:cNvPr>
              <p:cNvSpPr txBox="1">
                <a:spLocks noRot="1" noChangeAspect="1" noMove="1" noResize="1" noEditPoints="1" noAdjustHandles="1" noChangeArrowheads="1" noChangeShapeType="1" noTextEdit="1"/>
              </p:cNvSpPr>
              <p:nvPr/>
            </p:nvSpPr>
            <p:spPr>
              <a:xfrm>
                <a:off x="608012" y="1295400"/>
                <a:ext cx="11048999" cy="4958137"/>
              </a:xfrm>
              <a:prstGeom prst="rect">
                <a:avLst/>
              </a:prstGeom>
              <a:blipFill>
                <a:blip r:embed="rId5"/>
                <a:stretch>
                  <a:fillRect l="-607" t="-738"/>
                </a:stretch>
              </a:blipFill>
            </p:spPr>
            <p:txBody>
              <a:bodyPr/>
              <a:lstStyle/>
              <a:p>
                <a:r>
                  <a:rPr lang="es-ES">
                    <a:noFill/>
                  </a:rPr>
                  <a:t> </a:t>
                </a:r>
              </a:p>
            </p:txBody>
          </p:sp>
        </mc:Fallback>
      </mc:AlternateContent>
      <p:sp>
        <p:nvSpPr>
          <p:cNvPr id="2" name="CuadroTexto 1">
            <a:extLst>
              <a:ext uri="{FF2B5EF4-FFF2-40B4-BE49-F238E27FC236}">
                <a16:creationId xmlns:a16="http://schemas.microsoft.com/office/drawing/2014/main" id="{D0F8CF3B-B920-DBFC-F825-0C87B51EADA7}"/>
              </a:ext>
            </a:extLst>
          </p:cNvPr>
          <p:cNvSpPr txBox="1"/>
          <p:nvPr/>
        </p:nvSpPr>
        <p:spPr>
          <a:xfrm>
            <a:off x="609441" y="4860334"/>
            <a:ext cx="11199971" cy="1200329"/>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Document all your results (</a:t>
            </a:r>
            <a:r>
              <a:rPr lang="en-US" sz="1200" dirty="0" err="1">
                <a:latin typeface="Arial" panose="020B0604020202020204" pitchFamily="34" charset="0"/>
                <a:cs typeface="Arial" panose="020B0604020202020204" pitchFamily="34" charset="0"/>
              </a:rPr>
              <a:t>neff</a:t>
            </a:r>
            <a:r>
              <a:rPr lang="en-US" sz="1200" dirty="0">
                <a:latin typeface="Arial" panose="020B0604020202020204" pitchFamily="34" charset="0"/>
                <a:cs typeface="Arial" panose="020B0604020202020204" pitchFamily="34" charset="0"/>
              </a:rPr>
              <a:t>, alpha, gamma, transfer function plots, etc.) and comment on the obtained results (in terms of FSR, amplitude, losses, etc.).</a:t>
            </a: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sp>
        <p:nvSpPr>
          <p:cNvPr id="5" name="Marcador de pie de página 2">
            <a:extLst>
              <a:ext uri="{FF2B5EF4-FFF2-40B4-BE49-F238E27FC236}">
                <a16:creationId xmlns:a16="http://schemas.microsoft.com/office/drawing/2014/main" id="{14E1523F-57E7-BC79-8739-6F62FB1C8B3D}"/>
              </a:ext>
            </a:extLst>
          </p:cNvPr>
          <p:cNvSpPr>
            <a:spLocks noGrp="1"/>
          </p:cNvSpPr>
          <p:nvPr>
            <p:ph type="ftr" sz="quarter" idx="5"/>
          </p:nvPr>
        </p:nvSpPr>
        <p:spPr>
          <a:xfrm>
            <a:off x="609600" y="6457057"/>
            <a:ext cx="2743200" cy="184666"/>
          </a:xfrm>
        </p:spPr>
        <p:txBody>
          <a:bodyPr/>
          <a:lstStyle/>
          <a:p>
            <a:pPr marL="12700">
              <a:spcBef>
                <a:spcPts val="15"/>
              </a:spcBef>
            </a:pPr>
            <a:r>
              <a:rPr lang="es-ES" spc="-5"/>
              <a:t>LAB 3. INTERFEROMETERS I</a:t>
            </a:r>
            <a:endParaRPr lang="es-ES" spc="-5" dirty="0"/>
          </a:p>
        </p:txBody>
      </p:sp>
    </p:spTree>
    <p:extLst>
      <p:ext uri="{BB962C8B-B14F-4D97-AF65-F5344CB8AC3E}">
        <p14:creationId xmlns:p14="http://schemas.microsoft.com/office/powerpoint/2010/main" val="73050131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1DA0F9-B230-D9FC-3CE7-03BD08CF54F7}"/>
            </a:ext>
          </a:extLst>
        </p:cNvPr>
        <p:cNvGrpSpPr/>
        <p:nvPr/>
      </p:nvGrpSpPr>
      <p:grpSpPr>
        <a:xfrm>
          <a:off x="0" y="0"/>
          <a:ext cx="0" cy="0"/>
          <a:chOff x="0" y="0"/>
          <a:chExt cx="0" cy="0"/>
        </a:xfrm>
      </p:grpSpPr>
      <p:pic>
        <p:nvPicPr>
          <p:cNvPr id="10" name="Picture 9">
            <a:extLst>
              <a:ext uri="{FF2B5EF4-FFF2-40B4-BE49-F238E27FC236}">
                <a16:creationId xmlns:a16="http://schemas.microsoft.com/office/drawing/2014/main" id="{D86AC4DA-0321-D9F4-C1A6-44838C881CC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31254" y="1447800"/>
            <a:ext cx="5349251" cy="4023368"/>
          </a:xfrm>
          <a:prstGeom prst="rect">
            <a:avLst/>
          </a:prstGeom>
        </p:spPr>
      </p:pic>
      <p:pic>
        <p:nvPicPr>
          <p:cNvPr id="83" name="Gráfico 82">
            <a:extLst>
              <a:ext uri="{FF2B5EF4-FFF2-40B4-BE49-F238E27FC236}">
                <a16:creationId xmlns:a16="http://schemas.microsoft.com/office/drawing/2014/main" id="{4D53B68D-17ED-7EFB-F2B4-10DA7A772E17}"/>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09AB8697-C1EE-6E9A-6550-ACA2C3AE6630}"/>
              </a:ext>
            </a:extLst>
          </p:cNvPr>
          <p:cNvSpPr>
            <a:spLocks noGrp="1"/>
          </p:cNvSpPr>
          <p:nvPr>
            <p:ph type="sldNum" sz="quarter" idx="7"/>
          </p:nvPr>
        </p:nvSpPr>
        <p:spPr/>
        <p:txBody>
          <a:bodyPr/>
          <a:lstStyle/>
          <a:p>
            <a:fld id="{B6F15528-21DE-4FAA-801E-634DDDAF4B2B}" type="slidenum">
              <a:rPr lang="es-ES" smtClean="0"/>
              <a:t>4</a:t>
            </a:fld>
            <a:endParaRPr lang="es-ES"/>
          </a:p>
        </p:txBody>
      </p:sp>
      <p:sp>
        <p:nvSpPr>
          <p:cNvPr id="3" name="Marcador de pie de página 2">
            <a:extLst>
              <a:ext uri="{FF2B5EF4-FFF2-40B4-BE49-F238E27FC236}">
                <a16:creationId xmlns:a16="http://schemas.microsoft.com/office/drawing/2014/main" id="{970D4A6C-5B37-EDF5-6242-74B16127E96B}"/>
              </a:ext>
            </a:extLst>
          </p:cNvPr>
          <p:cNvSpPr>
            <a:spLocks noGrp="1"/>
          </p:cNvSpPr>
          <p:nvPr>
            <p:ph type="ftr" sz="quarter" idx="5"/>
          </p:nvPr>
        </p:nvSpPr>
        <p:spPr/>
        <p:txBody>
          <a:bodyPr/>
          <a:lstStyle/>
          <a:p>
            <a:pPr marL="12700">
              <a:spcBef>
                <a:spcPts val="15"/>
              </a:spcBef>
            </a:pPr>
            <a:r>
              <a:rPr lang="es-ES" spc="-5"/>
              <a:t>LAB 1.0. WAVEGUIDES</a:t>
            </a:r>
            <a:endParaRPr lang="es-ES" spc="-5" dirty="0"/>
          </a:p>
        </p:txBody>
      </p:sp>
      <p:sp>
        <p:nvSpPr>
          <p:cNvPr id="5" name="Rectángulo 4">
            <a:extLst>
              <a:ext uri="{FF2B5EF4-FFF2-40B4-BE49-F238E27FC236}">
                <a16:creationId xmlns:a16="http://schemas.microsoft.com/office/drawing/2014/main" id="{A6B92C76-6772-2E00-346F-532321092C04}"/>
              </a:ext>
            </a:extLst>
          </p:cNvPr>
          <p:cNvSpPr/>
          <p:nvPr/>
        </p:nvSpPr>
        <p:spPr>
          <a:xfrm>
            <a:off x="609441" y="1463032"/>
            <a:ext cx="5486559" cy="402336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object 16">
            <a:extLst>
              <a:ext uri="{FF2B5EF4-FFF2-40B4-BE49-F238E27FC236}">
                <a16:creationId xmlns:a16="http://schemas.microsoft.com/office/drawing/2014/main" id="{413EE84B-06C8-C286-4D0A-7D5B8CFC747D}"/>
              </a:ext>
            </a:extLst>
          </p:cNvPr>
          <p:cNvSpPr txBox="1">
            <a:spLocks noGrp="1"/>
          </p:cNvSpPr>
          <p:nvPr>
            <p:ph type="title"/>
          </p:nvPr>
        </p:nvSpPr>
        <p:spPr>
          <a:xfrm>
            <a:off x="631254" y="194877"/>
            <a:ext cx="10994410" cy="782265"/>
          </a:xfrm>
          <a:prstGeom prst="rect">
            <a:avLst/>
          </a:prstGeom>
        </p:spPr>
        <p:txBody>
          <a:bodyPr vert="horz" wrap="square" lIns="0" tIns="12700" rIns="0" bIns="0" rtlCol="0">
            <a:spAutoFit/>
          </a:bodyPr>
          <a:lstStyle/>
          <a:p>
            <a:pPr marL="12700">
              <a:lnSpc>
                <a:spcPct val="100000"/>
              </a:lnSpc>
              <a:spcBef>
                <a:spcPts val="100"/>
              </a:spcBef>
            </a:pPr>
            <a:r>
              <a:rPr lang="en-US" sz="2400" b="1" dirty="0"/>
              <a:t>ASSESSMENT #1 </a:t>
            </a:r>
            <a:r>
              <a:rPr lang="en-US" sz="2500" dirty="0"/>
              <a:t>– Recap from theory – MZI configurations</a:t>
            </a:r>
            <a:br>
              <a:rPr lang="es-ES" sz="2500" spc="-5" dirty="0">
                <a:latin typeface="+mj-lt"/>
                <a:cs typeface="Lucida Sans"/>
              </a:rPr>
            </a:br>
            <a:endParaRPr sz="2500" b="0" dirty="0">
              <a:latin typeface="+mj-lt"/>
              <a:cs typeface="Lucida Sans"/>
            </a:endParaRPr>
          </a:p>
        </p:txBody>
      </p:sp>
      <p:sp>
        <p:nvSpPr>
          <p:cNvPr id="12" name="TextBox 11">
            <a:extLst>
              <a:ext uri="{FF2B5EF4-FFF2-40B4-BE49-F238E27FC236}">
                <a16:creationId xmlns:a16="http://schemas.microsoft.com/office/drawing/2014/main" id="{6D21F016-DFD2-CBE1-0732-7E1DF4C3A0C2}"/>
              </a:ext>
            </a:extLst>
          </p:cNvPr>
          <p:cNvSpPr txBox="1"/>
          <p:nvPr/>
        </p:nvSpPr>
        <p:spPr>
          <a:xfrm>
            <a:off x="566336" y="828306"/>
            <a:ext cx="6128794" cy="369332"/>
          </a:xfrm>
          <a:prstGeom prst="rect">
            <a:avLst/>
          </a:prstGeom>
          <a:noFill/>
        </p:spPr>
        <p:txBody>
          <a:bodyPr wrap="square">
            <a:spAutoFit/>
          </a:bodyPr>
          <a:lstStyle/>
          <a:p>
            <a:r>
              <a:rPr lang="en-US" sz="1800" dirty="0"/>
              <a:t>SOI Balanced configuration</a:t>
            </a:r>
            <a:endParaRPr lang="es-CO" dirty="0"/>
          </a:p>
        </p:txBody>
      </p:sp>
      <mc:AlternateContent xmlns:mc="http://schemas.openxmlformats.org/markup-compatibility/2006">
        <mc:Choice xmlns:a14="http://schemas.microsoft.com/office/drawing/2010/main" Requires="a14">
          <p:sp>
            <p:nvSpPr>
              <p:cNvPr id="4" name="TextBox 3">
                <a:extLst>
                  <a:ext uri="{FF2B5EF4-FFF2-40B4-BE49-F238E27FC236}">
                    <a16:creationId xmlns:a16="http://schemas.microsoft.com/office/drawing/2014/main" id="{F894F083-0CBA-575B-A085-E759834EB9A2}"/>
                  </a:ext>
                </a:extLst>
              </p:cNvPr>
              <p:cNvSpPr txBox="1"/>
              <p:nvPr/>
            </p:nvSpPr>
            <p:spPr>
              <a:xfrm>
                <a:off x="6324600" y="1463032"/>
                <a:ext cx="5638333" cy="646331"/>
              </a:xfrm>
              <a:prstGeom prst="rect">
                <a:avLst/>
              </a:prstGeom>
              <a:noFill/>
            </p:spPr>
            <p:txBody>
              <a:bodyPr wrap="square">
                <a:spAutoFit/>
              </a:bodyPr>
              <a:lstStyle/>
              <a:p>
                <a:pPr algn="just">
                  <a:buNone/>
                </a:pPr>
                <a:r>
                  <a:rPr lang="en-US" b="1" dirty="0"/>
                  <a:t>Why does a perfectly balanced MZI (</a:t>
                </a:r>
                <a14:m>
                  <m:oMath xmlns:m="http://schemas.openxmlformats.org/officeDocument/2006/math">
                    <m:r>
                      <a:rPr lang="en-US" b="1" i="0" dirty="0" smtClean="0">
                        <a:latin typeface="Cambria Math" panose="02040503050406030204" pitchFamily="18" charset="0"/>
                      </a:rPr>
                      <m:t>𝚫</m:t>
                    </m:r>
                    <m:r>
                      <a:rPr lang="en-US" b="1" i="1" dirty="0">
                        <a:latin typeface="Cambria Math" panose="02040503050406030204" pitchFamily="18" charset="0"/>
                      </a:rPr>
                      <m:t>𝑳</m:t>
                    </m:r>
                    <m:r>
                      <a:rPr lang="en-US" b="1" i="1" dirty="0">
                        <a:latin typeface="Cambria Math" panose="02040503050406030204" pitchFamily="18" charset="0"/>
                      </a:rPr>
                      <m:t> = </m:t>
                    </m:r>
                    <m:r>
                      <a:rPr lang="en-US" b="1" i="1" dirty="0" smtClean="0">
                        <a:latin typeface="Cambria Math" panose="02040503050406030204" pitchFamily="18" charset="0"/>
                      </a:rPr>
                      <m:t>𝟎</m:t>
                    </m:r>
                    <m:r>
                      <a:rPr lang="es-MX" b="1" i="1" dirty="0" smtClean="0">
                        <a:latin typeface="Cambria Math" panose="02040503050406030204" pitchFamily="18" charset="0"/>
                      </a:rPr>
                      <m:t> </m:t>
                    </m:r>
                  </m:oMath>
                </a14:m>
                <a:r>
                  <a:rPr lang="en-US" b="1" dirty="0"/>
                  <a:t>, identical arms and 50:50 couplers) not exhibit spectral periodicity? </a:t>
                </a:r>
              </a:p>
            </p:txBody>
          </p:sp>
        </mc:Choice>
        <mc:Fallback>
          <p:sp>
            <p:nvSpPr>
              <p:cNvPr id="4" name="TextBox 3">
                <a:extLst>
                  <a:ext uri="{FF2B5EF4-FFF2-40B4-BE49-F238E27FC236}">
                    <a16:creationId xmlns:a16="http://schemas.microsoft.com/office/drawing/2014/main" id="{F894F083-0CBA-575B-A085-E759834EB9A2}"/>
                  </a:ext>
                </a:extLst>
              </p:cNvPr>
              <p:cNvSpPr txBox="1">
                <a:spLocks noRot="1" noChangeAspect="1" noMove="1" noResize="1" noEditPoints="1" noAdjustHandles="1" noChangeArrowheads="1" noChangeShapeType="1" noTextEdit="1"/>
              </p:cNvSpPr>
              <p:nvPr/>
            </p:nvSpPr>
            <p:spPr>
              <a:xfrm>
                <a:off x="6324600" y="1463032"/>
                <a:ext cx="5638333" cy="646331"/>
              </a:xfrm>
              <a:prstGeom prst="rect">
                <a:avLst/>
              </a:prstGeom>
              <a:blipFill>
                <a:blip r:embed="rId6"/>
                <a:stretch>
                  <a:fillRect l="-974" t="-5660" r="-974" b="-14151"/>
                </a:stretch>
              </a:blipFill>
            </p:spPr>
            <p:txBody>
              <a:bodyPr/>
              <a:lstStyle/>
              <a:p>
                <a:r>
                  <a:rPr lang="en-US">
                    <a:noFill/>
                  </a:rPr>
                  <a:t> </a:t>
                </a:r>
              </a:p>
            </p:txBody>
          </p:sp>
        </mc:Fallback>
      </mc:AlternateContent>
      <p:sp>
        <p:nvSpPr>
          <p:cNvPr id="7" name="TextBox 6">
            <a:extLst>
              <a:ext uri="{FF2B5EF4-FFF2-40B4-BE49-F238E27FC236}">
                <a16:creationId xmlns:a16="http://schemas.microsoft.com/office/drawing/2014/main" id="{36591DDB-E6F4-9E69-71D9-A269DD535BFB}"/>
              </a:ext>
            </a:extLst>
          </p:cNvPr>
          <p:cNvSpPr txBox="1"/>
          <p:nvPr/>
        </p:nvSpPr>
        <p:spPr>
          <a:xfrm>
            <a:off x="6346767" y="2131246"/>
            <a:ext cx="5486559" cy="369332"/>
          </a:xfrm>
          <a:prstGeom prst="rect">
            <a:avLst/>
          </a:prstGeom>
          <a:noFill/>
        </p:spPr>
        <p:txBody>
          <a:bodyPr wrap="square">
            <a:spAutoFit/>
          </a:bodyPr>
          <a:lstStyle/>
          <a:p>
            <a:pPr>
              <a:buNone/>
            </a:pPr>
            <a:r>
              <a:rPr lang="en-US" dirty="0"/>
              <a:t>On a MZI transmission depends on a phase difference</a:t>
            </a:r>
          </a:p>
        </p:txBody>
      </p:sp>
      <mc:AlternateContent xmlns:mc="http://schemas.openxmlformats.org/markup-compatibility/2006">
        <mc:Choice xmlns:a14="http://schemas.microsoft.com/office/drawing/2010/main" Requires="a14">
          <p:sp>
            <p:nvSpPr>
              <p:cNvPr id="11" name="TextBox 10">
                <a:extLst>
                  <a:ext uri="{FF2B5EF4-FFF2-40B4-BE49-F238E27FC236}">
                    <a16:creationId xmlns:a16="http://schemas.microsoft.com/office/drawing/2014/main" id="{D5A7F511-33A0-39EF-64D2-D41F8BC5985F}"/>
                  </a:ext>
                </a:extLst>
              </p:cNvPr>
              <p:cNvSpPr txBox="1"/>
              <p:nvPr/>
            </p:nvSpPr>
            <p:spPr>
              <a:xfrm>
                <a:off x="6514019" y="2643956"/>
                <a:ext cx="5152053" cy="369332"/>
              </a:xfrm>
              <a:prstGeom prst="rect">
                <a:avLst/>
              </a:prstGeom>
              <a:noFill/>
            </p:spPr>
            <p:txBody>
              <a:bodyPr wrap="square">
                <a:spAutoFit/>
              </a:bodyPr>
              <a:lstStyle/>
              <a:p>
                <a:pPr>
                  <a:buNone/>
                </a:pPr>
                <a14:m>
                  <m:oMathPara xmlns:m="http://schemas.openxmlformats.org/officeDocument/2006/math">
                    <m:oMathParaPr>
                      <m:jc m:val="centerGroup"/>
                    </m:oMathParaPr>
                    <m:oMath xmlns:m="http://schemas.openxmlformats.org/officeDocument/2006/math">
                      <m:r>
                        <m:rPr>
                          <m:sty m:val="p"/>
                        </m:rPr>
                        <a:rPr lang="es-CO" i="0" dirty="0" smtClean="0">
                          <a:latin typeface="Cambria Math" panose="02040503050406030204" pitchFamily="18" charset="0"/>
                        </a:rPr>
                        <m:t>Δ</m:t>
                      </m:r>
                      <m:sSub>
                        <m:sSubPr>
                          <m:ctrlPr>
                            <a:rPr lang="es-CO" i="1" dirty="0" smtClean="0">
                              <a:latin typeface="Cambria Math" panose="02040503050406030204" pitchFamily="18" charset="0"/>
                            </a:rPr>
                          </m:ctrlPr>
                        </m:sSubPr>
                        <m:e>
                          <m:r>
                            <a:rPr lang="es-CO" i="1" dirty="0" smtClean="0">
                              <a:latin typeface="Cambria Math" panose="02040503050406030204" pitchFamily="18" charset="0"/>
                            </a:rPr>
                            <m:t>𝜙</m:t>
                          </m:r>
                        </m:e>
                        <m:sub>
                          <m:r>
                            <a:rPr lang="es-CO" i="1" dirty="0" err="1">
                              <a:latin typeface="Cambria Math" panose="02040503050406030204" pitchFamily="18" charset="0"/>
                            </a:rPr>
                            <m:t>𝑢𝑑</m:t>
                          </m:r>
                        </m:sub>
                      </m:sSub>
                      <m:r>
                        <a:rPr lang="es-CO" i="1" dirty="0">
                          <a:latin typeface="Cambria Math" panose="02040503050406030204" pitchFamily="18" charset="0"/>
                        </a:rPr>
                        <m:t>=</m:t>
                      </m:r>
                      <m:sSub>
                        <m:sSubPr>
                          <m:ctrlPr>
                            <a:rPr lang="es-CO" i="1" dirty="0" err="1">
                              <a:latin typeface="Cambria Math" panose="02040503050406030204" pitchFamily="18" charset="0"/>
                            </a:rPr>
                          </m:ctrlPr>
                        </m:sSubPr>
                        <m:e>
                          <m:r>
                            <a:rPr lang="es-CO" i="1" dirty="0">
                              <a:latin typeface="Cambria Math" panose="02040503050406030204" pitchFamily="18" charset="0"/>
                            </a:rPr>
                            <m:t>𝛽</m:t>
                          </m:r>
                        </m:e>
                        <m:sub>
                          <m:r>
                            <a:rPr lang="es-CO" i="1" dirty="0" err="1">
                              <a:latin typeface="Cambria Math" panose="02040503050406030204" pitchFamily="18" charset="0"/>
                            </a:rPr>
                            <m:t>𝑢</m:t>
                          </m:r>
                        </m:sub>
                      </m:sSub>
                      <m:d>
                        <m:dPr>
                          <m:ctrlPr>
                            <a:rPr lang="es-CO" i="1" dirty="0">
                              <a:latin typeface="Cambria Math" panose="02040503050406030204" pitchFamily="18" charset="0"/>
                            </a:rPr>
                          </m:ctrlPr>
                        </m:dPr>
                        <m:e>
                          <m:r>
                            <a:rPr lang="es-CO" i="1" dirty="0">
                              <a:latin typeface="Cambria Math" panose="02040503050406030204" pitchFamily="18" charset="0"/>
                            </a:rPr>
                            <m:t>𝜆</m:t>
                          </m:r>
                        </m:e>
                      </m:d>
                      <m:sSub>
                        <m:sSubPr>
                          <m:ctrlPr>
                            <a:rPr lang="es-CO" i="1" dirty="0" err="1">
                              <a:latin typeface="Cambria Math" panose="02040503050406030204" pitchFamily="18" charset="0"/>
                            </a:rPr>
                          </m:ctrlPr>
                        </m:sSubPr>
                        <m:e>
                          <m:r>
                            <a:rPr lang="es-CO" i="1" dirty="0" err="1">
                              <a:latin typeface="Cambria Math" panose="02040503050406030204" pitchFamily="18" charset="0"/>
                            </a:rPr>
                            <m:t>𝐿</m:t>
                          </m:r>
                        </m:e>
                        <m:sub>
                          <m:r>
                            <a:rPr lang="es-CO" i="1" dirty="0" err="1">
                              <a:latin typeface="Cambria Math" panose="02040503050406030204" pitchFamily="18" charset="0"/>
                            </a:rPr>
                            <m:t>𝑢</m:t>
                          </m:r>
                        </m:sub>
                      </m:sSub>
                      <m:r>
                        <a:rPr lang="es-CO" i="1" dirty="0">
                          <a:latin typeface="Cambria Math" panose="02040503050406030204" pitchFamily="18" charset="0"/>
                        </a:rPr>
                        <m:t>−</m:t>
                      </m:r>
                      <m:sSub>
                        <m:sSubPr>
                          <m:ctrlPr>
                            <a:rPr lang="es-CO" i="1" dirty="0" err="1">
                              <a:latin typeface="Cambria Math" panose="02040503050406030204" pitchFamily="18" charset="0"/>
                            </a:rPr>
                          </m:ctrlPr>
                        </m:sSubPr>
                        <m:e>
                          <m:r>
                            <a:rPr lang="es-CO" i="1" dirty="0">
                              <a:latin typeface="Cambria Math" panose="02040503050406030204" pitchFamily="18" charset="0"/>
                            </a:rPr>
                            <m:t>𝛽</m:t>
                          </m:r>
                        </m:e>
                        <m:sub>
                          <m:r>
                            <a:rPr lang="es-CO" i="1" dirty="0" err="1">
                              <a:latin typeface="Cambria Math" panose="02040503050406030204" pitchFamily="18" charset="0"/>
                            </a:rPr>
                            <m:t>𝑑</m:t>
                          </m:r>
                        </m:sub>
                      </m:sSub>
                      <m:d>
                        <m:dPr>
                          <m:ctrlPr>
                            <a:rPr lang="es-CO" i="1" dirty="0">
                              <a:latin typeface="Cambria Math" panose="02040503050406030204" pitchFamily="18" charset="0"/>
                            </a:rPr>
                          </m:ctrlPr>
                        </m:dPr>
                        <m:e>
                          <m:r>
                            <a:rPr lang="es-CO" i="1" dirty="0">
                              <a:latin typeface="Cambria Math" panose="02040503050406030204" pitchFamily="18" charset="0"/>
                            </a:rPr>
                            <m:t>𝜆</m:t>
                          </m:r>
                        </m:e>
                      </m:d>
                      <m:sSub>
                        <m:sSubPr>
                          <m:ctrlPr>
                            <a:rPr lang="es-CO" i="1" dirty="0" err="1">
                              <a:latin typeface="Cambria Math" panose="02040503050406030204" pitchFamily="18" charset="0"/>
                            </a:rPr>
                          </m:ctrlPr>
                        </m:sSubPr>
                        <m:e>
                          <m:r>
                            <a:rPr lang="es-CO" i="1" dirty="0" err="1">
                              <a:latin typeface="Cambria Math" panose="02040503050406030204" pitchFamily="18" charset="0"/>
                            </a:rPr>
                            <m:t>𝐿</m:t>
                          </m:r>
                        </m:e>
                        <m:sub>
                          <m:r>
                            <a:rPr lang="es-CO" i="1" dirty="0" err="1">
                              <a:latin typeface="Cambria Math" panose="02040503050406030204" pitchFamily="18" charset="0"/>
                            </a:rPr>
                            <m:t>𝑑</m:t>
                          </m:r>
                        </m:sub>
                      </m:sSub>
                    </m:oMath>
                  </m:oMathPara>
                </a14:m>
              </a:p>
            </p:txBody>
          </p:sp>
        </mc:Choice>
        <mc:Fallback>
          <p:sp>
            <p:nvSpPr>
              <p:cNvPr id="11" name="TextBox 10">
                <a:extLst>
                  <a:ext uri="{FF2B5EF4-FFF2-40B4-BE49-F238E27FC236}">
                    <a16:creationId xmlns:a16="http://schemas.microsoft.com/office/drawing/2014/main" id="{D5A7F511-33A0-39EF-64D2-D41F8BC5985F}"/>
                  </a:ext>
                </a:extLst>
              </p:cNvPr>
              <p:cNvSpPr txBox="1">
                <a:spLocks noRot="1" noChangeAspect="1" noMove="1" noResize="1" noEditPoints="1" noAdjustHandles="1" noChangeArrowheads="1" noChangeShapeType="1" noTextEdit="1"/>
              </p:cNvSpPr>
              <p:nvPr/>
            </p:nvSpPr>
            <p:spPr>
              <a:xfrm>
                <a:off x="6514019" y="2643956"/>
                <a:ext cx="5152053" cy="369332"/>
              </a:xfrm>
              <a:prstGeom prst="rect">
                <a:avLst/>
              </a:prstGeom>
              <a:blipFill>
                <a:blip r:embed="rId7"/>
                <a:stretch>
                  <a:fillRect t="-11667" b="-25000"/>
                </a:stretch>
              </a:blipFill>
            </p:spPr>
            <p:txBody>
              <a:bodyPr/>
              <a:lstStyle/>
              <a:p>
                <a:r>
                  <a:rPr lang="en-US">
                    <a:noFill/>
                  </a:rPr>
                  <a:t> </a:t>
                </a:r>
              </a:p>
            </p:txBody>
          </p:sp>
        </mc:Fallback>
      </mc:AlternateContent>
      <p:sp>
        <p:nvSpPr>
          <p:cNvPr id="14" name="TextBox 13">
            <a:extLst>
              <a:ext uri="{FF2B5EF4-FFF2-40B4-BE49-F238E27FC236}">
                <a16:creationId xmlns:a16="http://schemas.microsoft.com/office/drawing/2014/main" id="{1875CA8F-2E9D-3F24-ACB5-C92C4B8ACB86}"/>
              </a:ext>
            </a:extLst>
          </p:cNvPr>
          <p:cNvSpPr txBox="1"/>
          <p:nvPr/>
        </p:nvSpPr>
        <p:spPr>
          <a:xfrm>
            <a:off x="6374559" y="3169107"/>
            <a:ext cx="5257800" cy="369332"/>
          </a:xfrm>
          <a:prstGeom prst="rect">
            <a:avLst/>
          </a:prstGeom>
          <a:noFill/>
        </p:spPr>
        <p:txBody>
          <a:bodyPr wrap="square">
            <a:spAutoFit/>
          </a:bodyPr>
          <a:lstStyle/>
          <a:p>
            <a:pPr>
              <a:buNone/>
            </a:pPr>
            <a:r>
              <a:rPr lang="en-US" dirty="0"/>
              <a:t>If the MZI is perfectly balanced</a:t>
            </a:r>
          </a:p>
        </p:txBody>
      </p:sp>
      <mc:AlternateContent xmlns:mc="http://schemas.openxmlformats.org/markup-compatibility/2006">
        <mc:Choice xmlns:a14="http://schemas.microsoft.com/office/drawing/2010/main" Requires="a14">
          <p:sp>
            <p:nvSpPr>
              <p:cNvPr id="16" name="TextBox 15">
                <a:extLst>
                  <a:ext uri="{FF2B5EF4-FFF2-40B4-BE49-F238E27FC236}">
                    <a16:creationId xmlns:a16="http://schemas.microsoft.com/office/drawing/2014/main" id="{D21D2954-5CB5-102D-6631-FBD08AC8A8EA}"/>
                  </a:ext>
                </a:extLst>
              </p:cNvPr>
              <p:cNvSpPr txBox="1"/>
              <p:nvPr/>
            </p:nvSpPr>
            <p:spPr>
              <a:xfrm>
                <a:off x="6460358" y="3610900"/>
                <a:ext cx="5205714" cy="403124"/>
              </a:xfrm>
              <a:prstGeom prst="rect">
                <a:avLst/>
              </a:prstGeom>
              <a:noFill/>
            </p:spPr>
            <p:txBody>
              <a:bodyPr wrap="square">
                <a:spAutoFit/>
              </a:bodyPr>
              <a:lstStyle/>
              <a:p>
                <a:pPr>
                  <a:buNone/>
                </a:pPr>
                <a14:m>
                  <m:oMathPara xmlns:m="http://schemas.openxmlformats.org/officeDocument/2006/math">
                    <m:oMathParaPr>
                      <m:jc m:val="centerGroup"/>
                    </m:oMathParaPr>
                    <m:oMath xmlns:m="http://schemas.openxmlformats.org/officeDocument/2006/math">
                      <m:r>
                        <m:rPr>
                          <m:sty m:val="p"/>
                        </m:rPr>
                        <a:rPr lang="es-CO" i="0" dirty="0" smtClean="0">
                          <a:latin typeface="Cambria Math" panose="02040503050406030204" pitchFamily="18" charset="0"/>
                        </a:rPr>
                        <m:t>Δ</m:t>
                      </m:r>
                      <m:r>
                        <a:rPr lang="es-CO" i="1" dirty="0" smtClean="0">
                          <a:latin typeface="Cambria Math" panose="02040503050406030204" pitchFamily="18" charset="0"/>
                        </a:rPr>
                        <m:t>𝐿</m:t>
                      </m:r>
                      <m:r>
                        <a:rPr lang="es-CO" i="1" dirty="0" smtClean="0">
                          <a:latin typeface="Cambria Math" panose="02040503050406030204" pitchFamily="18" charset="0"/>
                        </a:rPr>
                        <m:t>=0  ,  </m:t>
                      </m:r>
                      <m:r>
                        <m:rPr>
                          <m:sty m:val="p"/>
                        </m:rPr>
                        <a:rPr lang="es-CO" i="0" dirty="0">
                          <a:latin typeface="Cambria Math" panose="02040503050406030204" pitchFamily="18" charset="0"/>
                        </a:rPr>
                        <m:t>Δ</m:t>
                      </m:r>
                      <m:r>
                        <a:rPr lang="es-CO" i="1" dirty="0">
                          <a:latin typeface="Cambria Math" panose="02040503050406030204" pitchFamily="18" charset="0"/>
                        </a:rPr>
                        <m:t>𝛽</m:t>
                      </m:r>
                      <m:r>
                        <a:rPr lang="es-CO" i="1" dirty="0">
                          <a:latin typeface="Cambria Math" panose="02040503050406030204" pitchFamily="18" charset="0"/>
                        </a:rPr>
                        <m:t>= 0  ,  </m:t>
                      </m:r>
                      <m:r>
                        <m:rPr>
                          <m:sty m:val="p"/>
                        </m:rPr>
                        <a:rPr lang="es-CO" i="0" dirty="0">
                          <a:latin typeface="Cambria Math" panose="02040503050406030204" pitchFamily="18" charset="0"/>
                        </a:rPr>
                        <m:t>Δ</m:t>
                      </m:r>
                      <m:r>
                        <a:rPr lang="es-CO" i="1" dirty="0">
                          <a:latin typeface="Cambria Math" panose="02040503050406030204" pitchFamily="18" charset="0"/>
                        </a:rPr>
                        <m:t>𝜙</m:t>
                      </m:r>
                      <m:r>
                        <a:rPr lang="es-CO" i="1" dirty="0">
                          <a:latin typeface="Cambria Math" panose="02040503050406030204" pitchFamily="18" charset="0"/>
                        </a:rPr>
                        <m:t>= 0</m:t>
                      </m:r>
                    </m:oMath>
                  </m:oMathPara>
                </a14:m>
              </a:p>
            </p:txBody>
          </p:sp>
        </mc:Choice>
        <mc:Fallback>
          <p:sp>
            <p:nvSpPr>
              <p:cNvPr id="16" name="TextBox 15">
                <a:extLst>
                  <a:ext uri="{FF2B5EF4-FFF2-40B4-BE49-F238E27FC236}">
                    <a16:creationId xmlns:a16="http://schemas.microsoft.com/office/drawing/2014/main" id="{D21D2954-5CB5-102D-6631-FBD08AC8A8EA}"/>
                  </a:ext>
                </a:extLst>
              </p:cNvPr>
              <p:cNvSpPr txBox="1">
                <a:spLocks noRot="1" noChangeAspect="1" noMove="1" noResize="1" noEditPoints="1" noAdjustHandles="1" noChangeArrowheads="1" noChangeShapeType="1" noTextEdit="1"/>
              </p:cNvSpPr>
              <p:nvPr/>
            </p:nvSpPr>
            <p:spPr>
              <a:xfrm>
                <a:off x="6460358" y="3610900"/>
                <a:ext cx="5205714" cy="403124"/>
              </a:xfrm>
              <a:prstGeom prst="rect">
                <a:avLst/>
              </a:prstGeom>
              <a:blipFill>
                <a:blip r:embed="rId8"/>
                <a:stretch>
                  <a:fillRect b="-22727"/>
                </a:stretch>
              </a:blipFill>
            </p:spPr>
            <p:txBody>
              <a:bodyPr/>
              <a:lstStyle/>
              <a:p>
                <a:r>
                  <a:rPr lang="en-US">
                    <a:noFill/>
                  </a:rPr>
                  <a:t> </a:t>
                </a:r>
              </a:p>
            </p:txBody>
          </p:sp>
        </mc:Fallback>
      </mc:AlternateContent>
      <p:sp>
        <p:nvSpPr>
          <p:cNvPr id="18" name="TextBox 17">
            <a:extLst>
              <a:ext uri="{FF2B5EF4-FFF2-40B4-BE49-F238E27FC236}">
                <a16:creationId xmlns:a16="http://schemas.microsoft.com/office/drawing/2014/main" id="{0AFD3F8B-C90D-BD60-78E3-FCCBF4F189DC}"/>
              </a:ext>
            </a:extLst>
          </p:cNvPr>
          <p:cNvSpPr txBox="1"/>
          <p:nvPr/>
        </p:nvSpPr>
        <p:spPr>
          <a:xfrm>
            <a:off x="6324600" y="4262818"/>
            <a:ext cx="5637600" cy="1200329"/>
          </a:xfrm>
          <a:prstGeom prst="rect">
            <a:avLst/>
          </a:prstGeom>
          <a:noFill/>
        </p:spPr>
        <p:txBody>
          <a:bodyPr wrap="square">
            <a:spAutoFit/>
          </a:bodyPr>
          <a:lstStyle/>
          <a:p>
            <a:pPr algn="just">
              <a:buNone/>
            </a:pPr>
            <a:r>
              <a:rPr lang="en-US" dirty="0"/>
              <a:t>Which means there is no </a:t>
            </a:r>
            <a:r>
              <a:rPr lang="en-US" dirty="0" err="1"/>
              <a:t>wavelenght</a:t>
            </a:r>
            <a:r>
              <a:rPr lang="en-US" dirty="0"/>
              <a:t>-dependence interference; therefore, no periodic maxima or minima appear, and the transmission remains constant with wavelength. </a:t>
            </a:r>
          </a:p>
        </p:txBody>
      </p:sp>
    </p:spTree>
    <p:extLst>
      <p:ext uri="{BB962C8B-B14F-4D97-AF65-F5344CB8AC3E}">
        <p14:creationId xmlns:p14="http://schemas.microsoft.com/office/powerpoint/2010/main" val="23605440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C38921-A408-DF0A-5993-6DCE26679820}"/>
            </a:ext>
          </a:extLst>
        </p:cNvPr>
        <p:cNvGrpSpPr/>
        <p:nvPr/>
      </p:nvGrpSpPr>
      <p:grpSpPr>
        <a:xfrm>
          <a:off x="0" y="0"/>
          <a:ext cx="0" cy="0"/>
          <a:chOff x="0" y="0"/>
          <a:chExt cx="0" cy="0"/>
        </a:xfrm>
      </p:grpSpPr>
      <p:pic>
        <p:nvPicPr>
          <p:cNvPr id="6" name="Picture 5">
            <a:extLst>
              <a:ext uri="{FF2B5EF4-FFF2-40B4-BE49-F238E27FC236}">
                <a16:creationId xmlns:a16="http://schemas.microsoft.com/office/drawing/2014/main" id="{E44AA88A-859F-7185-C468-7648B2AE9BC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78094" y="1461423"/>
            <a:ext cx="5349251" cy="4023368"/>
          </a:xfrm>
          <a:prstGeom prst="rect">
            <a:avLst/>
          </a:prstGeom>
        </p:spPr>
      </p:pic>
      <p:pic>
        <p:nvPicPr>
          <p:cNvPr id="83" name="Gráfico 82">
            <a:extLst>
              <a:ext uri="{FF2B5EF4-FFF2-40B4-BE49-F238E27FC236}">
                <a16:creationId xmlns:a16="http://schemas.microsoft.com/office/drawing/2014/main" id="{BD1A635A-2277-39E9-FDD8-C0C8ED46A243}"/>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CEA71AE3-7AA8-8066-9FA5-0256310C7075}"/>
              </a:ext>
            </a:extLst>
          </p:cNvPr>
          <p:cNvSpPr>
            <a:spLocks noGrp="1"/>
          </p:cNvSpPr>
          <p:nvPr>
            <p:ph type="sldNum" sz="quarter" idx="7"/>
          </p:nvPr>
        </p:nvSpPr>
        <p:spPr/>
        <p:txBody>
          <a:bodyPr/>
          <a:lstStyle/>
          <a:p>
            <a:fld id="{B6F15528-21DE-4FAA-801E-634DDDAF4B2B}" type="slidenum">
              <a:rPr lang="es-ES" smtClean="0"/>
              <a:t>5</a:t>
            </a:fld>
            <a:endParaRPr lang="es-ES"/>
          </a:p>
        </p:txBody>
      </p:sp>
      <p:sp>
        <p:nvSpPr>
          <p:cNvPr id="3" name="Marcador de pie de página 2">
            <a:extLst>
              <a:ext uri="{FF2B5EF4-FFF2-40B4-BE49-F238E27FC236}">
                <a16:creationId xmlns:a16="http://schemas.microsoft.com/office/drawing/2014/main" id="{26589C12-F6DA-0851-7920-B486D6B055F4}"/>
              </a:ext>
            </a:extLst>
          </p:cNvPr>
          <p:cNvSpPr>
            <a:spLocks noGrp="1"/>
          </p:cNvSpPr>
          <p:nvPr>
            <p:ph type="ftr" sz="quarter" idx="5"/>
          </p:nvPr>
        </p:nvSpPr>
        <p:spPr/>
        <p:txBody>
          <a:bodyPr/>
          <a:lstStyle/>
          <a:p>
            <a:pPr marL="12700">
              <a:spcBef>
                <a:spcPts val="15"/>
              </a:spcBef>
            </a:pPr>
            <a:r>
              <a:rPr lang="es-ES" spc="-5"/>
              <a:t>LAB 1.0. WAVEGUIDES</a:t>
            </a:r>
            <a:endParaRPr lang="es-ES" spc="-5" dirty="0"/>
          </a:p>
        </p:txBody>
      </p:sp>
      <p:sp>
        <p:nvSpPr>
          <p:cNvPr id="5" name="Rectángulo 4">
            <a:extLst>
              <a:ext uri="{FF2B5EF4-FFF2-40B4-BE49-F238E27FC236}">
                <a16:creationId xmlns:a16="http://schemas.microsoft.com/office/drawing/2014/main" id="{ACD3BEAF-A84D-7241-2F94-F69626EF6CF4}"/>
              </a:ext>
            </a:extLst>
          </p:cNvPr>
          <p:cNvSpPr/>
          <p:nvPr/>
        </p:nvSpPr>
        <p:spPr>
          <a:xfrm>
            <a:off x="609441" y="1463032"/>
            <a:ext cx="5486559" cy="402336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object 16">
            <a:extLst>
              <a:ext uri="{FF2B5EF4-FFF2-40B4-BE49-F238E27FC236}">
                <a16:creationId xmlns:a16="http://schemas.microsoft.com/office/drawing/2014/main" id="{A0E47921-9CAD-BE16-8766-F2637E477742}"/>
              </a:ext>
            </a:extLst>
          </p:cNvPr>
          <p:cNvSpPr txBox="1">
            <a:spLocks noGrp="1"/>
          </p:cNvSpPr>
          <p:nvPr>
            <p:ph type="title"/>
          </p:nvPr>
        </p:nvSpPr>
        <p:spPr>
          <a:xfrm>
            <a:off x="631254" y="194877"/>
            <a:ext cx="10994410" cy="782265"/>
          </a:xfrm>
          <a:prstGeom prst="rect">
            <a:avLst/>
          </a:prstGeom>
        </p:spPr>
        <p:txBody>
          <a:bodyPr vert="horz" wrap="square" lIns="0" tIns="12700" rIns="0" bIns="0" rtlCol="0">
            <a:spAutoFit/>
          </a:bodyPr>
          <a:lstStyle/>
          <a:p>
            <a:pPr marL="12700">
              <a:lnSpc>
                <a:spcPct val="100000"/>
              </a:lnSpc>
              <a:spcBef>
                <a:spcPts val="100"/>
              </a:spcBef>
            </a:pPr>
            <a:r>
              <a:rPr lang="en-US" sz="2400" b="1" dirty="0"/>
              <a:t>ASSESSMENT #1 </a:t>
            </a:r>
            <a:r>
              <a:rPr lang="en-US" sz="2500" dirty="0"/>
              <a:t>– Recap from theory – MZI configurations</a:t>
            </a:r>
            <a:br>
              <a:rPr lang="es-ES" sz="2500" spc="-5" dirty="0">
                <a:latin typeface="+mj-lt"/>
                <a:cs typeface="Lucida Sans"/>
              </a:rPr>
            </a:br>
            <a:endParaRPr sz="2500" b="0" dirty="0">
              <a:latin typeface="+mj-lt"/>
              <a:cs typeface="Lucida Sans"/>
            </a:endParaRPr>
          </a:p>
        </p:txBody>
      </p:sp>
      <p:sp>
        <p:nvSpPr>
          <p:cNvPr id="12" name="TextBox 11">
            <a:extLst>
              <a:ext uri="{FF2B5EF4-FFF2-40B4-BE49-F238E27FC236}">
                <a16:creationId xmlns:a16="http://schemas.microsoft.com/office/drawing/2014/main" id="{ABA48397-B8E2-0C0B-7C22-27A8D3DE4320}"/>
              </a:ext>
            </a:extLst>
          </p:cNvPr>
          <p:cNvSpPr txBox="1"/>
          <p:nvPr/>
        </p:nvSpPr>
        <p:spPr>
          <a:xfrm>
            <a:off x="566336" y="828306"/>
            <a:ext cx="6128794" cy="369332"/>
          </a:xfrm>
          <a:prstGeom prst="rect">
            <a:avLst/>
          </a:prstGeom>
          <a:noFill/>
        </p:spPr>
        <p:txBody>
          <a:bodyPr wrap="square">
            <a:spAutoFit/>
          </a:bodyPr>
          <a:lstStyle/>
          <a:p>
            <a:r>
              <a:rPr lang="en-US" sz="1800" dirty="0"/>
              <a:t>SOI Balanced configuration</a:t>
            </a:r>
            <a:endParaRPr lang="es-CO" dirty="0"/>
          </a:p>
        </p:txBody>
      </p:sp>
      <p:sp>
        <p:nvSpPr>
          <p:cNvPr id="4" name="TextBox 3">
            <a:extLst>
              <a:ext uri="{FF2B5EF4-FFF2-40B4-BE49-F238E27FC236}">
                <a16:creationId xmlns:a16="http://schemas.microsoft.com/office/drawing/2014/main" id="{EED4FD69-D330-5778-59DB-8ABD7DCC1663}"/>
              </a:ext>
            </a:extLst>
          </p:cNvPr>
          <p:cNvSpPr txBox="1"/>
          <p:nvPr/>
        </p:nvSpPr>
        <p:spPr>
          <a:xfrm>
            <a:off x="6324600" y="1463032"/>
            <a:ext cx="5638333" cy="646331"/>
          </a:xfrm>
          <a:prstGeom prst="rect">
            <a:avLst/>
          </a:prstGeom>
          <a:noFill/>
        </p:spPr>
        <p:txBody>
          <a:bodyPr wrap="square">
            <a:spAutoFit/>
          </a:bodyPr>
          <a:lstStyle/>
          <a:p>
            <a:r>
              <a:rPr lang="en-US" b="1" dirty="0"/>
              <a:t>What happens to the output transmission if the coupling ratio deviates from 50:50?</a:t>
            </a:r>
          </a:p>
        </p:txBody>
      </p:sp>
      <mc:AlternateContent xmlns:mc="http://schemas.openxmlformats.org/markup-compatibility/2006">
        <mc:Choice xmlns:a14="http://schemas.microsoft.com/office/drawing/2010/main" Requires="a14">
          <p:sp>
            <p:nvSpPr>
              <p:cNvPr id="9" name="TextBox 8">
                <a:extLst>
                  <a:ext uri="{FF2B5EF4-FFF2-40B4-BE49-F238E27FC236}">
                    <a16:creationId xmlns:a16="http://schemas.microsoft.com/office/drawing/2014/main" id="{F6E18467-2092-57A6-0FAF-0678C97C1102}"/>
                  </a:ext>
                </a:extLst>
              </p:cNvPr>
              <p:cNvSpPr txBox="1"/>
              <p:nvPr/>
            </p:nvSpPr>
            <p:spPr>
              <a:xfrm>
                <a:off x="6324600" y="2113151"/>
                <a:ext cx="5637600" cy="3139321"/>
              </a:xfrm>
              <a:prstGeom prst="rect">
                <a:avLst/>
              </a:prstGeom>
              <a:noFill/>
            </p:spPr>
            <p:txBody>
              <a:bodyPr wrap="square">
                <a:spAutoFit/>
              </a:bodyPr>
              <a:lstStyle/>
              <a:p>
                <a:pPr algn="just"/>
                <a:r>
                  <a:rPr lang="en-US" dirty="0"/>
                  <a:t>In an ideal 50:50 Mach–Zehnder interferometer, interference can be fully constructive or fully destructive, resulting in a maximum extinction ratio. However, if the coupling coefficient </a:t>
                </a:r>
                <a14:m>
                  <m:oMath xmlns:m="http://schemas.openxmlformats.org/officeDocument/2006/math">
                    <m:r>
                      <a:rPr lang="en-US" i="1" dirty="0" smtClean="0">
                        <a:latin typeface="Cambria Math" panose="02040503050406030204" pitchFamily="18" charset="0"/>
                      </a:rPr>
                      <m:t>𝐾</m:t>
                    </m:r>
                  </m:oMath>
                </a14:m>
                <a:r>
                  <a:rPr lang="en-US" dirty="0"/>
                  <a:t> deviates from 0.5, the field amplitudes in the arms become unequal. As a result, complete destructive interference cannot be achieved, the maximum transmission is reduced, the minimum transmission increases, and the extinction ratio degrades. However, this can be useful if the desired application is a splitter or a combiner, and it can also be useful if signal attenuation is required.</a:t>
                </a:r>
              </a:p>
            </p:txBody>
          </p:sp>
        </mc:Choice>
        <mc:Fallback>
          <p:sp>
            <p:nvSpPr>
              <p:cNvPr id="9" name="TextBox 8">
                <a:extLst>
                  <a:ext uri="{FF2B5EF4-FFF2-40B4-BE49-F238E27FC236}">
                    <a16:creationId xmlns:a16="http://schemas.microsoft.com/office/drawing/2014/main" id="{F6E18467-2092-57A6-0FAF-0678C97C1102}"/>
                  </a:ext>
                </a:extLst>
              </p:cNvPr>
              <p:cNvSpPr txBox="1">
                <a:spLocks noRot="1" noChangeAspect="1" noMove="1" noResize="1" noEditPoints="1" noAdjustHandles="1" noChangeArrowheads="1" noChangeShapeType="1" noTextEdit="1"/>
              </p:cNvSpPr>
              <p:nvPr/>
            </p:nvSpPr>
            <p:spPr>
              <a:xfrm>
                <a:off x="6324600" y="2113151"/>
                <a:ext cx="5637600" cy="3139321"/>
              </a:xfrm>
              <a:prstGeom prst="rect">
                <a:avLst/>
              </a:prstGeom>
              <a:blipFill>
                <a:blip r:embed="rId6"/>
                <a:stretch>
                  <a:fillRect l="-974" t="-1165" r="-974" b="-2136"/>
                </a:stretch>
              </a:blipFill>
            </p:spPr>
            <p:txBody>
              <a:bodyPr/>
              <a:lstStyle/>
              <a:p>
                <a:r>
                  <a:rPr lang="en-US">
                    <a:noFill/>
                  </a:rPr>
                  <a:t> </a:t>
                </a:r>
              </a:p>
            </p:txBody>
          </p:sp>
        </mc:Fallback>
      </mc:AlternateContent>
    </p:spTree>
    <p:extLst>
      <p:ext uri="{BB962C8B-B14F-4D97-AF65-F5344CB8AC3E}">
        <p14:creationId xmlns:p14="http://schemas.microsoft.com/office/powerpoint/2010/main" val="284404507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462A6B-BF43-4BAF-760F-2939299A8033}"/>
            </a:ext>
          </a:extLst>
        </p:cNvPr>
        <p:cNvGrpSpPr/>
        <p:nvPr/>
      </p:nvGrpSpPr>
      <p:grpSpPr>
        <a:xfrm>
          <a:off x="0" y="0"/>
          <a:ext cx="0" cy="0"/>
          <a:chOff x="0" y="0"/>
          <a:chExt cx="0" cy="0"/>
        </a:xfrm>
      </p:grpSpPr>
      <p:pic>
        <p:nvPicPr>
          <p:cNvPr id="9" name="Picture 8">
            <a:extLst>
              <a:ext uri="{FF2B5EF4-FFF2-40B4-BE49-F238E27FC236}">
                <a16:creationId xmlns:a16="http://schemas.microsoft.com/office/drawing/2014/main" id="{CBBEF488-CB29-2CD7-6E73-96197E606D5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78094" y="1463032"/>
            <a:ext cx="5349251" cy="4023368"/>
          </a:xfrm>
          <a:prstGeom prst="rect">
            <a:avLst/>
          </a:prstGeom>
        </p:spPr>
      </p:pic>
      <p:pic>
        <p:nvPicPr>
          <p:cNvPr id="83" name="Gráfico 82">
            <a:extLst>
              <a:ext uri="{FF2B5EF4-FFF2-40B4-BE49-F238E27FC236}">
                <a16:creationId xmlns:a16="http://schemas.microsoft.com/office/drawing/2014/main" id="{3635A02F-60B7-0FD8-F575-33C1620C1963}"/>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618FD2E0-0817-E282-B12B-08F8608E9C10}"/>
              </a:ext>
            </a:extLst>
          </p:cNvPr>
          <p:cNvSpPr>
            <a:spLocks noGrp="1"/>
          </p:cNvSpPr>
          <p:nvPr>
            <p:ph type="sldNum" sz="quarter" idx="7"/>
          </p:nvPr>
        </p:nvSpPr>
        <p:spPr/>
        <p:txBody>
          <a:bodyPr/>
          <a:lstStyle/>
          <a:p>
            <a:fld id="{B6F15528-21DE-4FAA-801E-634DDDAF4B2B}" type="slidenum">
              <a:rPr lang="es-ES" smtClean="0"/>
              <a:t>6</a:t>
            </a:fld>
            <a:endParaRPr lang="es-ES"/>
          </a:p>
        </p:txBody>
      </p:sp>
      <p:sp>
        <p:nvSpPr>
          <p:cNvPr id="3" name="Marcador de pie de página 2">
            <a:extLst>
              <a:ext uri="{FF2B5EF4-FFF2-40B4-BE49-F238E27FC236}">
                <a16:creationId xmlns:a16="http://schemas.microsoft.com/office/drawing/2014/main" id="{C9173549-51EC-02EB-0186-5057D991ADBD}"/>
              </a:ext>
            </a:extLst>
          </p:cNvPr>
          <p:cNvSpPr>
            <a:spLocks noGrp="1"/>
          </p:cNvSpPr>
          <p:nvPr>
            <p:ph type="ftr" sz="quarter" idx="5"/>
          </p:nvPr>
        </p:nvSpPr>
        <p:spPr/>
        <p:txBody>
          <a:bodyPr/>
          <a:lstStyle/>
          <a:p>
            <a:pPr marL="12700">
              <a:spcBef>
                <a:spcPts val="15"/>
              </a:spcBef>
            </a:pPr>
            <a:r>
              <a:rPr lang="es-ES" spc="-5"/>
              <a:t>LAB 1.0. WAVEGUIDES</a:t>
            </a:r>
            <a:endParaRPr lang="es-ES" spc="-5" dirty="0"/>
          </a:p>
        </p:txBody>
      </p:sp>
      <p:sp>
        <p:nvSpPr>
          <p:cNvPr id="5" name="Rectángulo 4">
            <a:extLst>
              <a:ext uri="{FF2B5EF4-FFF2-40B4-BE49-F238E27FC236}">
                <a16:creationId xmlns:a16="http://schemas.microsoft.com/office/drawing/2014/main" id="{9665459D-3514-0D93-23FF-255E97315890}"/>
              </a:ext>
            </a:extLst>
          </p:cNvPr>
          <p:cNvSpPr/>
          <p:nvPr/>
        </p:nvSpPr>
        <p:spPr>
          <a:xfrm>
            <a:off x="609441" y="1463032"/>
            <a:ext cx="5486559" cy="402336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object 16">
            <a:extLst>
              <a:ext uri="{FF2B5EF4-FFF2-40B4-BE49-F238E27FC236}">
                <a16:creationId xmlns:a16="http://schemas.microsoft.com/office/drawing/2014/main" id="{70EF9925-31C6-ACC1-E26C-F977E5A5DDA0}"/>
              </a:ext>
            </a:extLst>
          </p:cNvPr>
          <p:cNvSpPr txBox="1">
            <a:spLocks noGrp="1"/>
          </p:cNvSpPr>
          <p:nvPr>
            <p:ph type="title"/>
          </p:nvPr>
        </p:nvSpPr>
        <p:spPr>
          <a:xfrm>
            <a:off x="631254" y="194877"/>
            <a:ext cx="10994410" cy="782265"/>
          </a:xfrm>
          <a:prstGeom prst="rect">
            <a:avLst/>
          </a:prstGeom>
        </p:spPr>
        <p:txBody>
          <a:bodyPr vert="horz" wrap="square" lIns="0" tIns="12700" rIns="0" bIns="0" rtlCol="0">
            <a:spAutoFit/>
          </a:bodyPr>
          <a:lstStyle/>
          <a:p>
            <a:pPr marL="12700">
              <a:lnSpc>
                <a:spcPct val="100000"/>
              </a:lnSpc>
              <a:spcBef>
                <a:spcPts val="100"/>
              </a:spcBef>
            </a:pPr>
            <a:r>
              <a:rPr lang="en-US" sz="2400" b="1" dirty="0"/>
              <a:t>ASSESSMENT #1 </a:t>
            </a:r>
            <a:r>
              <a:rPr lang="en-US" sz="2500" dirty="0"/>
              <a:t>– Recap from theory – MZI configurations</a:t>
            </a:r>
            <a:br>
              <a:rPr lang="es-ES" sz="2500" spc="-5" dirty="0">
                <a:latin typeface="+mj-lt"/>
                <a:cs typeface="Lucida Sans"/>
              </a:rPr>
            </a:br>
            <a:endParaRPr sz="2500" b="0" dirty="0">
              <a:latin typeface="+mj-lt"/>
              <a:cs typeface="Lucida Sans"/>
            </a:endParaRPr>
          </a:p>
        </p:txBody>
      </p:sp>
      <p:sp>
        <p:nvSpPr>
          <p:cNvPr id="12" name="TextBox 11">
            <a:extLst>
              <a:ext uri="{FF2B5EF4-FFF2-40B4-BE49-F238E27FC236}">
                <a16:creationId xmlns:a16="http://schemas.microsoft.com/office/drawing/2014/main" id="{69666EBE-747C-697A-AD99-7BF699A7870E}"/>
              </a:ext>
            </a:extLst>
          </p:cNvPr>
          <p:cNvSpPr txBox="1"/>
          <p:nvPr/>
        </p:nvSpPr>
        <p:spPr>
          <a:xfrm>
            <a:off x="566336" y="828306"/>
            <a:ext cx="6128794" cy="369332"/>
          </a:xfrm>
          <a:prstGeom prst="rect">
            <a:avLst/>
          </a:prstGeom>
          <a:noFill/>
        </p:spPr>
        <p:txBody>
          <a:bodyPr wrap="square">
            <a:spAutoFit/>
          </a:bodyPr>
          <a:lstStyle/>
          <a:p>
            <a:r>
              <a:rPr lang="en-US" sz="1800" dirty="0"/>
              <a:t>SOI Balanced configuration</a:t>
            </a:r>
            <a:endParaRPr lang="es-CO" dirty="0"/>
          </a:p>
        </p:txBody>
      </p:sp>
      <mc:AlternateContent xmlns:mc="http://schemas.openxmlformats.org/markup-compatibility/2006">
        <mc:Choice xmlns:a14="http://schemas.microsoft.com/office/drawing/2010/main" Requires="a14">
          <p:sp>
            <p:nvSpPr>
              <p:cNvPr id="4" name="TextBox 3">
                <a:extLst>
                  <a:ext uri="{FF2B5EF4-FFF2-40B4-BE49-F238E27FC236}">
                    <a16:creationId xmlns:a16="http://schemas.microsoft.com/office/drawing/2014/main" id="{CB34C45B-48C3-DAF3-CF92-59CB8093DF0F}"/>
                  </a:ext>
                </a:extLst>
              </p:cNvPr>
              <p:cNvSpPr txBox="1"/>
              <p:nvPr/>
            </p:nvSpPr>
            <p:spPr>
              <a:xfrm>
                <a:off x="6324600" y="1463032"/>
                <a:ext cx="5638333" cy="646331"/>
              </a:xfrm>
              <a:prstGeom prst="rect">
                <a:avLst/>
              </a:prstGeom>
              <a:noFill/>
            </p:spPr>
            <p:txBody>
              <a:bodyPr wrap="square">
                <a:spAutoFit/>
              </a:bodyPr>
              <a:lstStyle/>
              <a:p>
                <a:r>
                  <a:rPr lang="en-US" b="1" dirty="0"/>
                  <a:t>How does excess loss </a:t>
                </a:r>
                <a14:m>
                  <m:oMath xmlns:m="http://schemas.openxmlformats.org/officeDocument/2006/math">
                    <m:r>
                      <a:rPr lang="en-US" b="1" i="1" dirty="0" smtClean="0">
                        <a:latin typeface="Cambria Math" panose="02040503050406030204" pitchFamily="18" charset="0"/>
                      </a:rPr>
                      <m:t>(</m:t>
                    </m:r>
                    <m:r>
                      <a:rPr lang="en-US" b="1" i="1" dirty="0" smtClean="0">
                        <a:latin typeface="Cambria Math" panose="02040503050406030204" pitchFamily="18" charset="0"/>
                      </a:rPr>
                      <m:t>𝜸</m:t>
                    </m:r>
                    <m:r>
                      <a:rPr lang="en-US" b="1" i="1" dirty="0" smtClean="0">
                        <a:latin typeface="Cambria Math" panose="02040503050406030204" pitchFamily="18" charset="0"/>
                      </a:rPr>
                      <m:t>≠</m:t>
                    </m:r>
                    <m:r>
                      <a:rPr lang="en-US" b="1" i="1" dirty="0">
                        <a:latin typeface="Cambria Math" panose="02040503050406030204" pitchFamily="18" charset="0"/>
                      </a:rPr>
                      <m:t>𝟎</m:t>
                    </m:r>
                  </m:oMath>
                </a14:m>
                <a:r>
                  <a:rPr lang="en-US" b="1" dirty="0"/>
                  <a:t>) affect the output ports in a balanced MZI?</a:t>
                </a:r>
              </a:p>
            </p:txBody>
          </p:sp>
        </mc:Choice>
        <mc:Fallback>
          <p:sp>
            <p:nvSpPr>
              <p:cNvPr id="4" name="TextBox 3">
                <a:extLst>
                  <a:ext uri="{FF2B5EF4-FFF2-40B4-BE49-F238E27FC236}">
                    <a16:creationId xmlns:a16="http://schemas.microsoft.com/office/drawing/2014/main" id="{CB34C45B-48C3-DAF3-CF92-59CB8093DF0F}"/>
                  </a:ext>
                </a:extLst>
              </p:cNvPr>
              <p:cNvSpPr txBox="1">
                <a:spLocks noRot="1" noChangeAspect="1" noMove="1" noResize="1" noEditPoints="1" noAdjustHandles="1" noChangeArrowheads="1" noChangeShapeType="1" noTextEdit="1"/>
              </p:cNvSpPr>
              <p:nvPr/>
            </p:nvSpPr>
            <p:spPr>
              <a:xfrm>
                <a:off x="6324600" y="1463032"/>
                <a:ext cx="5638333" cy="646331"/>
              </a:xfrm>
              <a:prstGeom prst="rect">
                <a:avLst/>
              </a:prstGeom>
              <a:blipFill>
                <a:blip r:embed="rId6"/>
                <a:stretch>
                  <a:fillRect l="-974" t="-5660" r="-974" b="-14151"/>
                </a:stretch>
              </a:blipFill>
            </p:spPr>
            <p:txBody>
              <a:bodyPr/>
              <a:lstStyle/>
              <a:p>
                <a:r>
                  <a:rPr lang="en-US">
                    <a:noFill/>
                  </a:rPr>
                  <a:t> </a:t>
                </a:r>
              </a:p>
            </p:txBody>
          </p:sp>
        </mc:Fallback>
      </mc:AlternateContent>
      <p:sp>
        <p:nvSpPr>
          <p:cNvPr id="2" name="TextBox 1">
            <a:extLst>
              <a:ext uri="{FF2B5EF4-FFF2-40B4-BE49-F238E27FC236}">
                <a16:creationId xmlns:a16="http://schemas.microsoft.com/office/drawing/2014/main" id="{A9B2ADFD-5E53-B3AD-D8EC-974E0F2D8BD9}"/>
              </a:ext>
            </a:extLst>
          </p:cNvPr>
          <p:cNvSpPr txBox="1"/>
          <p:nvPr/>
        </p:nvSpPr>
        <p:spPr>
          <a:xfrm>
            <a:off x="6324600" y="2120655"/>
            <a:ext cx="5637600" cy="1754326"/>
          </a:xfrm>
          <a:prstGeom prst="rect">
            <a:avLst/>
          </a:prstGeom>
          <a:noFill/>
        </p:spPr>
        <p:txBody>
          <a:bodyPr wrap="square">
            <a:spAutoFit/>
          </a:bodyPr>
          <a:lstStyle/>
          <a:p>
            <a:r>
              <a:rPr lang="en-US" dirty="0"/>
              <a:t>If in some scenario one of the arms produces a different attenuation, as mentioned before, the amplitudes in the arms are not equal, and the same phenomenon observed when the couplers are not 50:50 occurs. There is no complete destructive interference, the maximum decreases, and the extinction ratio is reduced.</a:t>
            </a:r>
          </a:p>
        </p:txBody>
      </p:sp>
    </p:spTree>
    <p:extLst>
      <p:ext uri="{BB962C8B-B14F-4D97-AF65-F5344CB8AC3E}">
        <p14:creationId xmlns:p14="http://schemas.microsoft.com/office/powerpoint/2010/main" val="259343381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25AB88-A787-2C84-3A44-2B634D87FB5B}"/>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6" name="object 16">
                <a:extLst>
                  <a:ext uri="{FF2B5EF4-FFF2-40B4-BE49-F238E27FC236}">
                    <a16:creationId xmlns:a16="http://schemas.microsoft.com/office/drawing/2014/main" id="{A153D08B-B860-A163-3940-83AD64444D01}"/>
                  </a:ext>
                </a:extLst>
              </p:cNvPr>
              <p:cNvSpPr txBox="1">
                <a:spLocks noGrp="1"/>
              </p:cNvSpPr>
              <p:nvPr>
                <p:ph type="title"/>
              </p:nvPr>
            </p:nvSpPr>
            <p:spPr>
              <a:xfrm>
                <a:off x="685800" y="408883"/>
                <a:ext cx="10994410" cy="782265"/>
              </a:xfrm>
              <a:prstGeom prst="rect">
                <a:avLst/>
              </a:prstGeom>
            </p:spPr>
            <p:txBody>
              <a:bodyPr vert="horz" wrap="square" lIns="0" tIns="12700" rIns="0" bIns="0" rtlCol="0">
                <a:spAutoFit/>
              </a:bodyPr>
              <a:lstStyle/>
              <a:p>
                <a:pPr marL="12700">
                  <a:lnSpc>
                    <a:spcPct val="100000"/>
                  </a:lnSpc>
                  <a:spcBef>
                    <a:spcPts val="100"/>
                  </a:spcBef>
                </a:pPr>
                <a:r>
                  <a:rPr lang="en-US" sz="2400" b="1" dirty="0"/>
                  <a:t>ASSESSMENT #2 </a:t>
                </a:r>
                <a:r>
                  <a:rPr lang="en-US" sz="2500" dirty="0"/>
                  <a:t>– Recap from theory – Calculation of </a:t>
                </a:r>
                <a14:m>
                  <m:oMath xmlns:m="http://schemas.openxmlformats.org/officeDocument/2006/math">
                    <m:r>
                      <a:rPr lang="es-ES" sz="2500" b="1" i="0" smtClean="0">
                        <a:latin typeface="Cambria Math" panose="02040503050406030204" pitchFamily="18" charset="0"/>
                      </a:rPr>
                      <m:t>𝚫</m:t>
                    </m:r>
                    <m:r>
                      <a:rPr lang="es-ES" sz="2500" b="1" i="0" smtClean="0">
                        <a:latin typeface="Cambria Math" panose="02040503050406030204" pitchFamily="18" charset="0"/>
                      </a:rPr>
                      <m:t>𝐋</m:t>
                    </m:r>
                  </m:oMath>
                </a14:m>
                <a:r>
                  <a:rPr lang="es-ES" sz="2500" spc="-5" dirty="0">
                    <a:latin typeface="+mj-lt"/>
                    <a:cs typeface="Lucida Sans"/>
                  </a:rPr>
                  <a:t> </a:t>
                </a:r>
                <a:br>
                  <a:rPr lang="es-ES" sz="2500" spc="-5" dirty="0">
                    <a:latin typeface="+mj-lt"/>
                    <a:cs typeface="Lucida Sans"/>
                  </a:rPr>
                </a:br>
                <a:endParaRPr sz="2500" b="0" dirty="0">
                  <a:latin typeface="+mj-lt"/>
                  <a:cs typeface="Lucida Sans"/>
                </a:endParaRPr>
              </a:p>
            </p:txBody>
          </p:sp>
        </mc:Choice>
        <mc:Fallback xmlns="">
          <p:sp>
            <p:nvSpPr>
              <p:cNvPr id="16" name="object 16">
                <a:extLst>
                  <a:ext uri="{FF2B5EF4-FFF2-40B4-BE49-F238E27FC236}">
                    <a16:creationId xmlns:a16="http://schemas.microsoft.com/office/drawing/2014/main" id="{A153D08B-B860-A163-3940-83AD64444D01}"/>
                  </a:ext>
                </a:extLst>
              </p:cNvPr>
              <p:cNvSpPr txBox="1">
                <a:spLocks noGrp="1" noRot="1" noChangeAspect="1" noMove="1" noResize="1" noEditPoints="1" noAdjustHandles="1" noChangeArrowheads="1" noChangeShapeType="1" noTextEdit="1"/>
              </p:cNvSpPr>
              <p:nvPr>
                <p:ph type="title"/>
              </p:nvPr>
            </p:nvSpPr>
            <p:spPr>
              <a:xfrm>
                <a:off x="685800" y="408883"/>
                <a:ext cx="10994410" cy="782265"/>
              </a:xfrm>
              <a:prstGeom prst="rect">
                <a:avLst/>
              </a:prstGeom>
              <a:blipFill>
                <a:blip r:embed="rId3"/>
                <a:stretch>
                  <a:fillRect l="-1608" t="-10156"/>
                </a:stretch>
              </a:blipFill>
            </p:spPr>
            <p:txBody>
              <a:bodyPr/>
              <a:lstStyle/>
              <a:p>
                <a:r>
                  <a:rPr lang="es-ES">
                    <a:noFill/>
                  </a:rPr>
                  <a:t> </a:t>
                </a:r>
              </a:p>
            </p:txBody>
          </p:sp>
        </mc:Fallback>
      </mc:AlternateContent>
      <p:pic>
        <p:nvPicPr>
          <p:cNvPr id="83" name="Gráfico 82">
            <a:extLst>
              <a:ext uri="{FF2B5EF4-FFF2-40B4-BE49-F238E27FC236}">
                <a16:creationId xmlns:a16="http://schemas.microsoft.com/office/drawing/2014/main" id="{333888A9-82BA-4688-F856-37AB661A7D43}"/>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F1891475-ED60-D0D2-1AD0-4F80E3D89439}"/>
              </a:ext>
            </a:extLst>
          </p:cNvPr>
          <p:cNvSpPr>
            <a:spLocks noGrp="1"/>
          </p:cNvSpPr>
          <p:nvPr>
            <p:ph type="sldNum" sz="quarter" idx="7"/>
          </p:nvPr>
        </p:nvSpPr>
        <p:spPr/>
        <p:txBody>
          <a:bodyPr/>
          <a:lstStyle/>
          <a:p>
            <a:fld id="{B6F15528-21DE-4FAA-801E-634DDDAF4B2B}" type="slidenum">
              <a:rPr lang="es-ES" smtClean="0"/>
              <a:t>7</a:t>
            </a:fld>
            <a:endParaRPr lang="es-ES"/>
          </a:p>
        </p:txBody>
      </p:sp>
      <mc:AlternateContent xmlns:mc="http://schemas.openxmlformats.org/markup-compatibility/2006" xmlns:a14="http://schemas.microsoft.com/office/drawing/2010/main">
        <mc:Choice Requires="a14">
          <p:sp>
            <p:nvSpPr>
              <p:cNvPr id="4" name="Marcador de texto 2">
                <a:extLst>
                  <a:ext uri="{FF2B5EF4-FFF2-40B4-BE49-F238E27FC236}">
                    <a16:creationId xmlns:a16="http://schemas.microsoft.com/office/drawing/2014/main" id="{BBBE28D8-49EC-3B49-29AC-FD2FDAF3B0AF}"/>
                  </a:ext>
                </a:extLst>
              </p:cNvPr>
              <p:cNvSpPr txBox="1">
                <a:spLocks/>
              </p:cNvSpPr>
              <p:nvPr/>
            </p:nvSpPr>
            <p:spPr>
              <a:xfrm>
                <a:off x="608012" y="1295400"/>
                <a:ext cx="11048999" cy="4958137"/>
              </a:xfrm>
              <a:prstGeom prst="rect">
                <a:avLst/>
              </a:prstGeom>
            </p:spPr>
            <p:txBody>
              <a:bodyPr>
                <a:normAutofit/>
              </a:bodyPr>
              <a:lst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a:lstStyle>
              <a:p>
                <a:r>
                  <a:rPr lang="en-US" sz="2000" dirty="0"/>
                  <a:t>Considering the n_{eff} values for the SOI cross-section, what would be the path difference (</a:t>
                </a:r>
                <a14:m>
                  <m:oMath xmlns:m="http://schemas.openxmlformats.org/officeDocument/2006/math">
                    <m:r>
                      <m:rPr>
                        <m:sty m:val="p"/>
                      </m:rPr>
                      <a:rPr lang="es-ES" sz="2000" b="0" i="0" smtClean="0">
                        <a:latin typeface="Cambria Math" panose="02040503050406030204" pitchFamily="18" charset="0"/>
                      </a:rPr>
                      <m:t>ΔL</m:t>
                    </m:r>
                    <m:r>
                      <a:rPr lang="es-ES" sz="2000" b="0" i="1" smtClean="0">
                        <a:latin typeface="Cambria Math" panose="02040503050406030204" pitchFamily="18" charset="0"/>
                      </a:rPr>
                      <m:t>= </m:t>
                    </m:r>
                    <m:sSub>
                      <m:sSubPr>
                        <m:ctrlPr>
                          <a:rPr lang="es-ES" sz="2000" i="1" smtClean="0">
                            <a:latin typeface="Cambria Math" panose="02040503050406030204" pitchFamily="18" charset="0"/>
                          </a:rPr>
                        </m:ctrlPr>
                      </m:sSubPr>
                      <m:e>
                        <m:r>
                          <a:rPr lang="es-ES" sz="2000" b="0" i="1" smtClean="0">
                            <a:latin typeface="Cambria Math" panose="02040503050406030204" pitchFamily="18" charset="0"/>
                          </a:rPr>
                          <m:t>𝐿</m:t>
                        </m:r>
                      </m:e>
                      <m:sub>
                        <m:r>
                          <a:rPr lang="es-ES" sz="2000" b="0" i="1" smtClean="0">
                            <a:latin typeface="Cambria Math" panose="02040503050406030204" pitchFamily="18" charset="0"/>
                          </a:rPr>
                          <m:t>𝑢</m:t>
                        </m:r>
                      </m:sub>
                    </m:sSub>
                    <m:r>
                      <a:rPr lang="es-ES" sz="2000" b="0" i="1" smtClean="0">
                        <a:latin typeface="Cambria Math" panose="02040503050406030204" pitchFamily="18" charset="0"/>
                      </a:rPr>
                      <m:t> −</m:t>
                    </m:r>
                    <m:sSub>
                      <m:sSubPr>
                        <m:ctrlPr>
                          <a:rPr lang="es-ES" sz="2000" i="1">
                            <a:latin typeface="Cambria Math" panose="02040503050406030204" pitchFamily="18" charset="0"/>
                          </a:rPr>
                        </m:ctrlPr>
                      </m:sSubPr>
                      <m:e>
                        <m:r>
                          <a:rPr lang="es-ES" sz="2000" b="0" i="1">
                            <a:latin typeface="Cambria Math" panose="02040503050406030204" pitchFamily="18" charset="0"/>
                          </a:rPr>
                          <m:t>𝐿</m:t>
                        </m:r>
                      </m:e>
                      <m:sub>
                        <m:r>
                          <a:rPr lang="es-ES" sz="2000" b="0" i="1" smtClean="0">
                            <a:latin typeface="Cambria Math" panose="02040503050406030204" pitchFamily="18" charset="0"/>
                          </a:rPr>
                          <m:t>𝑑</m:t>
                        </m:r>
                      </m:sub>
                    </m:sSub>
                  </m:oMath>
                </a14:m>
                <a:r>
                  <a:rPr lang="en-US" sz="2000" dirty="0"/>
                  <a:t>) needed to obtain a Free Spectral Range of 40 nm? Introduce the obtained value in the model to check the MZI response. </a:t>
                </a:r>
              </a:p>
              <a:p>
                <a:endParaRPr lang="en-US" sz="2000" dirty="0"/>
              </a:p>
              <a:p>
                <a:r>
                  <a:rPr lang="en-US" sz="2000" dirty="0"/>
                  <a:t>Hint: We assume 1550 nm as the central design wavelength (</a:t>
                </a:r>
                <a14:m>
                  <m:oMath xmlns:m="http://schemas.openxmlformats.org/officeDocument/2006/math">
                    <m:sSub>
                      <m:sSubPr>
                        <m:ctrlPr>
                          <a:rPr lang="es-ES" sz="2000" i="1" smtClean="0">
                            <a:latin typeface="Cambria Math" panose="02040503050406030204" pitchFamily="18" charset="0"/>
                          </a:rPr>
                        </m:ctrlPr>
                      </m:sSubPr>
                      <m:e>
                        <m:r>
                          <a:rPr lang="es-ES" sz="2000" i="1">
                            <a:latin typeface="Cambria Math" panose="02040503050406030204" pitchFamily="18" charset="0"/>
                          </a:rPr>
                          <m:t>𝜆</m:t>
                        </m:r>
                      </m:e>
                      <m:sub>
                        <m:r>
                          <a:rPr lang="es-ES" sz="2000" b="0" i="1" smtClean="0">
                            <a:latin typeface="Cambria Math" panose="02040503050406030204" pitchFamily="18" charset="0"/>
                          </a:rPr>
                          <m:t>0</m:t>
                        </m:r>
                      </m:sub>
                    </m:sSub>
                    <m:r>
                      <a:rPr lang="es-ES" sz="2000" b="0" i="1" smtClean="0">
                        <a:latin typeface="Cambria Math" panose="02040503050406030204" pitchFamily="18" charset="0"/>
                      </a:rPr>
                      <m:t>= </m:t>
                    </m:r>
                  </m:oMath>
                </a14:m>
                <a:r>
                  <a:rPr lang="en-US" sz="2000" dirty="0"/>
                  <a:t>1550 nm).</a:t>
                </a:r>
              </a:p>
              <a:p>
                <a:endParaRPr lang="en-US" sz="2000" dirty="0"/>
              </a:p>
              <a:p>
                <a:pPr algn="just"/>
                <a:endParaRPr lang="en-US" sz="2000" dirty="0"/>
              </a:p>
              <a:p>
                <a:pPr algn="just"/>
                <a:endParaRPr lang="en-US" sz="2000" b="1" i="1" dirty="0"/>
              </a:p>
              <a:p>
                <a:pPr algn="just"/>
                <a:endParaRPr lang="en-US" sz="2000" kern="0" dirty="0">
                  <a:solidFill>
                    <a:sysClr val="windowText" lastClr="000000"/>
                  </a:solidFill>
                </a:endParaRPr>
              </a:p>
              <a:p>
                <a:endParaRPr lang="en-US" sz="2000" kern="0" dirty="0">
                  <a:solidFill>
                    <a:sysClr val="windowText" lastClr="000000"/>
                  </a:solidFill>
                </a:endParaRPr>
              </a:p>
            </p:txBody>
          </p:sp>
        </mc:Choice>
        <mc:Fallback xmlns="">
          <p:sp>
            <p:nvSpPr>
              <p:cNvPr id="4" name="Marcador de texto 2">
                <a:extLst>
                  <a:ext uri="{FF2B5EF4-FFF2-40B4-BE49-F238E27FC236}">
                    <a16:creationId xmlns:a16="http://schemas.microsoft.com/office/drawing/2014/main" id="{BBBE28D8-49EC-3B49-29AC-FD2FDAF3B0AF}"/>
                  </a:ext>
                </a:extLst>
              </p:cNvPr>
              <p:cNvSpPr txBox="1">
                <a:spLocks noRot="1" noChangeAspect="1" noMove="1" noResize="1" noEditPoints="1" noAdjustHandles="1" noChangeArrowheads="1" noChangeShapeType="1" noTextEdit="1"/>
              </p:cNvSpPr>
              <p:nvPr/>
            </p:nvSpPr>
            <p:spPr>
              <a:xfrm>
                <a:off x="608012" y="1295400"/>
                <a:ext cx="11048999" cy="4958137"/>
              </a:xfrm>
              <a:prstGeom prst="rect">
                <a:avLst/>
              </a:prstGeom>
              <a:blipFill>
                <a:blip r:embed="rId6"/>
                <a:stretch>
                  <a:fillRect l="-607" t="-738"/>
                </a:stretch>
              </a:blipFill>
            </p:spPr>
            <p:txBody>
              <a:bodyPr/>
              <a:lstStyle/>
              <a:p>
                <a:r>
                  <a:rPr lang="es-ES">
                    <a:noFill/>
                  </a:rPr>
                  <a:t> </a:t>
                </a:r>
              </a:p>
            </p:txBody>
          </p:sp>
        </mc:Fallback>
      </mc:AlternateContent>
      <p:sp>
        <p:nvSpPr>
          <p:cNvPr id="2" name="CuadroTexto 1">
            <a:extLst>
              <a:ext uri="{FF2B5EF4-FFF2-40B4-BE49-F238E27FC236}">
                <a16:creationId xmlns:a16="http://schemas.microsoft.com/office/drawing/2014/main" id="{CFDBBA6B-3646-055F-7A9C-EE01830137BE}"/>
              </a:ext>
            </a:extLst>
          </p:cNvPr>
          <p:cNvSpPr txBox="1"/>
          <p:nvPr/>
        </p:nvSpPr>
        <p:spPr>
          <a:xfrm>
            <a:off x="609441" y="4860334"/>
            <a:ext cx="11199971" cy="1384995"/>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Document all your results (copy here the code employed to obtain the corresponding value)</a:t>
            </a: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sp>
        <p:nvSpPr>
          <p:cNvPr id="5" name="Marcador de pie de página 2">
            <a:extLst>
              <a:ext uri="{FF2B5EF4-FFF2-40B4-BE49-F238E27FC236}">
                <a16:creationId xmlns:a16="http://schemas.microsoft.com/office/drawing/2014/main" id="{97B81335-0738-3406-18D4-5D88EB0C7954}"/>
              </a:ext>
            </a:extLst>
          </p:cNvPr>
          <p:cNvSpPr>
            <a:spLocks noGrp="1"/>
          </p:cNvSpPr>
          <p:nvPr>
            <p:ph type="ftr" sz="quarter" idx="5"/>
          </p:nvPr>
        </p:nvSpPr>
        <p:spPr>
          <a:xfrm>
            <a:off x="609600" y="6457057"/>
            <a:ext cx="2743200" cy="184666"/>
          </a:xfrm>
        </p:spPr>
        <p:txBody>
          <a:bodyPr/>
          <a:lstStyle/>
          <a:p>
            <a:pPr marL="12700">
              <a:spcBef>
                <a:spcPts val="15"/>
              </a:spcBef>
            </a:pPr>
            <a:r>
              <a:rPr lang="es-ES" spc="-5"/>
              <a:t>LAB 3. INTERFEROMETERS I</a:t>
            </a:r>
            <a:endParaRPr lang="es-ES" spc="-5" dirty="0"/>
          </a:p>
        </p:txBody>
      </p:sp>
    </p:spTree>
    <p:extLst>
      <p:ext uri="{BB962C8B-B14F-4D97-AF65-F5344CB8AC3E}">
        <p14:creationId xmlns:p14="http://schemas.microsoft.com/office/powerpoint/2010/main" val="233709819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CB9552-DF22-1310-10FA-4D2D2AF77601}"/>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B0632A48-0384-0EF1-389E-FBF3F9C3E7CE}"/>
              </a:ext>
            </a:extLst>
          </p:cNvPr>
          <p:cNvSpPr txBox="1">
            <a:spLocks noGrp="1"/>
          </p:cNvSpPr>
          <p:nvPr>
            <p:ph type="title"/>
          </p:nvPr>
        </p:nvSpPr>
        <p:spPr>
          <a:xfrm>
            <a:off x="685800" y="408883"/>
            <a:ext cx="10994410" cy="782265"/>
          </a:xfrm>
          <a:prstGeom prst="rect">
            <a:avLst/>
          </a:prstGeom>
        </p:spPr>
        <p:txBody>
          <a:bodyPr vert="horz" wrap="square" lIns="0" tIns="12700" rIns="0" bIns="0" rtlCol="0">
            <a:spAutoFit/>
          </a:bodyPr>
          <a:lstStyle/>
          <a:p>
            <a:pPr marL="12700">
              <a:lnSpc>
                <a:spcPct val="100000"/>
              </a:lnSpc>
              <a:spcBef>
                <a:spcPts val="100"/>
              </a:spcBef>
            </a:pPr>
            <a:r>
              <a:rPr lang="en-US" sz="2400" b="1" dirty="0"/>
              <a:t>ASSESSMENT #3 </a:t>
            </a:r>
            <a:r>
              <a:rPr lang="en-US" sz="2500" dirty="0"/>
              <a:t>– SAX implementation </a:t>
            </a:r>
            <a:br>
              <a:rPr lang="es-ES" sz="2500" spc="-5" dirty="0">
                <a:latin typeface="+mj-lt"/>
                <a:cs typeface="Lucida Sans"/>
              </a:rPr>
            </a:br>
            <a:endParaRPr sz="2500" b="0" dirty="0">
              <a:latin typeface="+mj-lt"/>
              <a:cs typeface="Lucida Sans"/>
            </a:endParaRPr>
          </a:p>
        </p:txBody>
      </p:sp>
      <p:pic>
        <p:nvPicPr>
          <p:cNvPr id="83" name="Gráfico 82">
            <a:extLst>
              <a:ext uri="{FF2B5EF4-FFF2-40B4-BE49-F238E27FC236}">
                <a16:creationId xmlns:a16="http://schemas.microsoft.com/office/drawing/2014/main" id="{1F43E6A6-5CC3-9B99-14AC-997478150C3D}"/>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DFC09DB6-1DF7-C8F9-7414-27BC280DEA0F}"/>
              </a:ext>
            </a:extLst>
          </p:cNvPr>
          <p:cNvSpPr>
            <a:spLocks noGrp="1"/>
          </p:cNvSpPr>
          <p:nvPr>
            <p:ph type="sldNum" sz="quarter" idx="7"/>
          </p:nvPr>
        </p:nvSpPr>
        <p:spPr/>
        <p:txBody>
          <a:bodyPr/>
          <a:lstStyle/>
          <a:p>
            <a:fld id="{B6F15528-21DE-4FAA-801E-634DDDAF4B2B}" type="slidenum">
              <a:rPr lang="es-ES" smtClean="0"/>
              <a:t>8</a:t>
            </a:fld>
            <a:endParaRPr lang="es-ES"/>
          </a:p>
        </p:txBody>
      </p:sp>
      <p:sp>
        <p:nvSpPr>
          <p:cNvPr id="4" name="Marcador de texto 2">
            <a:extLst>
              <a:ext uri="{FF2B5EF4-FFF2-40B4-BE49-F238E27FC236}">
                <a16:creationId xmlns:a16="http://schemas.microsoft.com/office/drawing/2014/main" id="{EBC8DCFA-5565-A757-1F8D-F4CCCF573A63}"/>
              </a:ext>
            </a:extLst>
          </p:cNvPr>
          <p:cNvSpPr txBox="1">
            <a:spLocks/>
          </p:cNvSpPr>
          <p:nvPr/>
        </p:nvSpPr>
        <p:spPr>
          <a:xfrm>
            <a:off x="571500" y="1066800"/>
            <a:ext cx="11048999" cy="4958137"/>
          </a:xfrm>
          <a:prstGeom prst="rect">
            <a:avLst/>
          </a:prstGeom>
        </p:spPr>
        <p:txBody>
          <a:bodyPr>
            <a:normAutofit/>
          </a:bodyPr>
          <a:lst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a:lstStyle>
          <a:p>
            <a:r>
              <a:rPr lang="en-US" dirty="0"/>
              <a:t>Now, we are going to implement the design parameters in the MZI model developed in SAX and compare the response obtained with the one simulated by mathematical formulation. This will help us to identify any error in the definition of the SAX model single components. </a:t>
            </a:r>
          </a:p>
          <a:p>
            <a:br>
              <a:rPr lang="en-US" dirty="0"/>
            </a:br>
            <a:r>
              <a:rPr lang="en-US" dirty="0"/>
              <a:t>In order to implement the SAX model, take as example the following lines:</a:t>
            </a:r>
          </a:p>
          <a:p>
            <a:endParaRPr lang="en-US" dirty="0"/>
          </a:p>
          <a:p>
            <a:pPr lvl="2">
              <a:lnSpc>
                <a:spcPts val="1425"/>
              </a:lnSpc>
            </a:pPr>
            <a:r>
              <a:rPr lang="es-ES" sz="1400" b="0" dirty="0">
                <a:effectLst/>
                <a:latin typeface="Courier New" panose="02070309020205020404" pitchFamily="49" charset="0"/>
              </a:rPr>
              <a:t> </a:t>
            </a:r>
            <a:r>
              <a:rPr lang="es-ES" sz="1400" b="0" dirty="0" err="1">
                <a:effectLst/>
                <a:latin typeface="Courier New" panose="02070309020205020404" pitchFamily="49" charset="0"/>
              </a:rPr>
              <a:t>mzi_test</a:t>
            </a:r>
            <a:r>
              <a:rPr lang="es-ES" sz="1400" b="0" dirty="0">
                <a:effectLst/>
                <a:latin typeface="Courier New" panose="02070309020205020404" pitchFamily="49" charset="0"/>
              </a:rPr>
              <a:t> = </a:t>
            </a:r>
            <a:r>
              <a:rPr lang="es-ES" sz="1400" b="0" dirty="0" err="1">
                <a:effectLst/>
                <a:latin typeface="Courier New" panose="02070309020205020404" pitchFamily="49" charset="0"/>
              </a:rPr>
              <a:t>mzi</a:t>
            </a:r>
            <a:r>
              <a:rPr lang="es-ES" sz="1400" b="0" dirty="0">
                <a:effectLst/>
                <a:latin typeface="Courier New" panose="02070309020205020404" pitchFamily="49" charset="0"/>
              </a:rPr>
              <a:t>(</a:t>
            </a:r>
            <a:r>
              <a:rPr lang="es-ES" sz="1400" b="0" dirty="0" err="1">
                <a:effectLst/>
                <a:latin typeface="Courier New" panose="02070309020205020404" pitchFamily="49" charset="0"/>
              </a:rPr>
              <a:t>wl</a:t>
            </a:r>
            <a:r>
              <a:rPr lang="es-ES" sz="1400" b="0" dirty="0">
                <a:effectLst/>
                <a:latin typeface="Courier New" panose="02070309020205020404" pitchFamily="49" charset="0"/>
              </a:rPr>
              <a:t>=</a:t>
            </a:r>
            <a:r>
              <a:rPr lang="es-ES" sz="1400" b="0" dirty="0" err="1">
                <a:effectLst/>
                <a:latin typeface="Courier New" panose="02070309020205020404" pitchFamily="49" charset="0"/>
              </a:rPr>
              <a:t>wl</a:t>
            </a:r>
            <a:r>
              <a:rPr lang="es-ES" sz="1400" b="0" dirty="0">
                <a:effectLst/>
                <a:latin typeface="Courier New" panose="02070309020205020404" pitchFamily="49" charset="0"/>
              </a:rPr>
              <a:t>, </a:t>
            </a:r>
          </a:p>
          <a:p>
            <a:pPr lvl="2">
              <a:lnSpc>
                <a:spcPts val="1425"/>
              </a:lnSpc>
            </a:pPr>
            <a:r>
              <a:rPr lang="es-ES" sz="1400" b="0" dirty="0">
                <a:effectLst/>
                <a:latin typeface="Courier New" panose="02070309020205020404" pitchFamily="49" charset="0"/>
              </a:rPr>
              <a:t>    </a:t>
            </a:r>
            <a:r>
              <a:rPr lang="es-ES" sz="1400" b="0" dirty="0" err="1">
                <a:effectLst/>
                <a:latin typeface="Courier New" panose="02070309020205020404" pitchFamily="49" charset="0"/>
              </a:rPr>
              <a:t>coup_a</a:t>
            </a:r>
            <a:r>
              <a:rPr lang="es-ES" sz="1400" b="0" dirty="0">
                <a:effectLst/>
                <a:latin typeface="Courier New" panose="02070309020205020404" pitchFamily="49" charset="0"/>
              </a:rPr>
              <a:t> = ...</a:t>
            </a:r>
          </a:p>
          <a:p>
            <a:pPr lvl="2">
              <a:lnSpc>
                <a:spcPts val="1425"/>
              </a:lnSpc>
            </a:pPr>
            <a:r>
              <a:rPr lang="es-ES" sz="1400" b="0" dirty="0">
                <a:effectLst/>
                <a:latin typeface="Courier New" panose="02070309020205020404" pitchFamily="49" charset="0"/>
              </a:rPr>
              <a:t>    </a:t>
            </a:r>
            <a:r>
              <a:rPr lang="es-ES" sz="1400" b="0" dirty="0" err="1">
                <a:effectLst/>
                <a:latin typeface="Courier New" panose="02070309020205020404" pitchFamily="49" charset="0"/>
              </a:rPr>
              <a:t>wvg_d</a:t>
            </a:r>
            <a:r>
              <a:rPr lang="es-ES" sz="1400" b="0" dirty="0">
                <a:effectLst/>
                <a:latin typeface="Courier New" panose="02070309020205020404" pitchFamily="49" charset="0"/>
              </a:rPr>
              <a:t>={"</a:t>
            </a:r>
            <a:r>
              <a:rPr lang="es-ES" sz="1400" b="0" dirty="0" err="1">
                <a:effectLst/>
                <a:latin typeface="Courier New" panose="02070309020205020404" pitchFamily="49" charset="0"/>
              </a:rPr>
              <a:t>length</a:t>
            </a:r>
            <a:r>
              <a:rPr lang="es-ES" sz="1400" b="0" dirty="0">
                <a:effectLst/>
                <a:latin typeface="Courier New" panose="02070309020205020404" pitchFamily="49" charset="0"/>
              </a:rPr>
              <a:t>": </a:t>
            </a:r>
            <a:r>
              <a:rPr lang="es-ES" sz="1400" b="0" dirty="0" err="1">
                <a:effectLst/>
                <a:latin typeface="Courier New" panose="02070309020205020404" pitchFamily="49" charset="0"/>
              </a:rPr>
              <a:t>l_d</a:t>
            </a:r>
            <a:r>
              <a:rPr lang="es-ES" sz="1400" b="0" dirty="0">
                <a:effectLst/>
                <a:latin typeface="Courier New" panose="02070309020205020404" pitchFamily="49" charset="0"/>
              </a:rPr>
              <a:t>, "</a:t>
            </a:r>
            <a:r>
              <a:rPr lang="es-ES" sz="1400" b="0" dirty="0" err="1">
                <a:effectLst/>
                <a:latin typeface="Courier New" panose="02070309020205020404" pitchFamily="49" charset="0"/>
              </a:rPr>
              <a:t>neff</a:t>
            </a:r>
            <a:r>
              <a:rPr lang="es-ES" sz="1400" b="0" dirty="0">
                <a:effectLst/>
                <a:latin typeface="Courier New" panose="02070309020205020404" pitchFamily="49" charset="0"/>
              </a:rPr>
              <a:t>": ...}, </a:t>
            </a:r>
          </a:p>
          <a:p>
            <a:pPr lvl="2">
              <a:lnSpc>
                <a:spcPts val="1425"/>
              </a:lnSpc>
            </a:pPr>
            <a:r>
              <a:rPr lang="es-ES" sz="1400" b="0" dirty="0">
                <a:effectLst/>
                <a:latin typeface="Courier New" panose="02070309020205020404" pitchFamily="49" charset="0"/>
              </a:rPr>
              <a:t>    </a:t>
            </a:r>
            <a:r>
              <a:rPr lang="es-ES" sz="1400" b="0" dirty="0" err="1">
                <a:effectLst/>
                <a:latin typeface="Courier New" panose="02070309020205020404" pitchFamily="49" charset="0"/>
              </a:rPr>
              <a:t>wvg_u</a:t>
            </a:r>
            <a:r>
              <a:rPr lang="es-ES" sz="1400" b="0" dirty="0">
                <a:effectLst/>
                <a:latin typeface="Courier New" panose="02070309020205020404" pitchFamily="49" charset="0"/>
              </a:rPr>
              <a:t>={"</a:t>
            </a:r>
            <a:r>
              <a:rPr lang="es-ES" sz="1400" b="0" dirty="0" err="1">
                <a:effectLst/>
                <a:latin typeface="Courier New" panose="02070309020205020404" pitchFamily="49" charset="0"/>
              </a:rPr>
              <a:t>length</a:t>
            </a:r>
            <a:r>
              <a:rPr lang="es-ES" sz="1400" b="0" dirty="0">
                <a:effectLst/>
                <a:latin typeface="Courier New" panose="02070309020205020404" pitchFamily="49" charset="0"/>
              </a:rPr>
              <a:t>": </a:t>
            </a:r>
            <a:r>
              <a:rPr lang="es-ES" sz="1400" b="0" dirty="0" err="1">
                <a:effectLst/>
                <a:latin typeface="Courier New" panose="02070309020205020404" pitchFamily="49" charset="0"/>
              </a:rPr>
              <a:t>l_u</a:t>
            </a:r>
            <a:r>
              <a:rPr lang="es-ES" sz="1400" b="0" dirty="0">
                <a:effectLst/>
                <a:latin typeface="Courier New" panose="02070309020205020404" pitchFamily="49" charset="0"/>
              </a:rPr>
              <a:t>, "</a:t>
            </a:r>
            <a:r>
              <a:rPr lang="es-ES" sz="1400" b="0" dirty="0" err="1">
                <a:effectLst/>
                <a:latin typeface="Courier New" panose="02070309020205020404" pitchFamily="49" charset="0"/>
              </a:rPr>
              <a:t>neff</a:t>
            </a:r>
            <a:r>
              <a:rPr lang="es-ES" sz="1400" b="0" dirty="0">
                <a:effectLst/>
                <a:latin typeface="Courier New" panose="02070309020205020404" pitchFamily="49" charset="0"/>
              </a:rPr>
              <a:t>": ...},</a:t>
            </a:r>
          </a:p>
          <a:p>
            <a:pPr lvl="2">
              <a:lnSpc>
                <a:spcPts val="1425"/>
              </a:lnSpc>
            </a:pPr>
            <a:r>
              <a:rPr lang="es-ES" sz="1400" b="0" dirty="0">
                <a:effectLst/>
                <a:latin typeface="Courier New" panose="02070309020205020404" pitchFamily="49" charset="0"/>
              </a:rPr>
              <a:t>    </a:t>
            </a:r>
            <a:r>
              <a:rPr lang="es-ES" sz="1400" b="0" dirty="0" err="1">
                <a:effectLst/>
                <a:latin typeface="Courier New" panose="02070309020205020404" pitchFamily="49" charset="0"/>
              </a:rPr>
              <a:t>coup_b</a:t>
            </a:r>
            <a:r>
              <a:rPr lang="es-ES" sz="1400" b="0" dirty="0">
                <a:effectLst/>
                <a:latin typeface="Courier New" panose="02070309020205020404" pitchFamily="49" charset="0"/>
              </a:rPr>
              <a:t> = ... )</a:t>
            </a:r>
          </a:p>
          <a:p>
            <a:pPr lvl="2">
              <a:lnSpc>
                <a:spcPts val="1425"/>
              </a:lnSpc>
            </a:pPr>
            <a:br>
              <a:rPr lang="es-ES" sz="1400" b="0" dirty="0">
                <a:effectLst/>
                <a:latin typeface="Courier New" panose="02070309020205020404" pitchFamily="49" charset="0"/>
              </a:rPr>
            </a:br>
            <a:r>
              <a:rPr lang="es-ES" sz="1400" b="0" dirty="0">
                <a:effectLst/>
                <a:latin typeface="Courier New" panose="02070309020205020404" pitchFamily="49" charset="0"/>
              </a:rPr>
              <a:t>    H00 = </a:t>
            </a:r>
            <a:r>
              <a:rPr lang="es-ES" sz="1400" b="0" dirty="0" err="1">
                <a:effectLst/>
                <a:latin typeface="Courier New" panose="02070309020205020404" pitchFamily="49" charset="0"/>
              </a:rPr>
              <a:t>mzi_test</a:t>
            </a:r>
            <a:r>
              <a:rPr lang="es-ES" sz="1400" b="0" dirty="0">
                <a:effectLst/>
                <a:latin typeface="Courier New" panose="02070309020205020404" pitchFamily="49" charset="0"/>
              </a:rPr>
              <a:t>["in0", "out0"]</a:t>
            </a:r>
          </a:p>
          <a:p>
            <a:endParaRPr lang="en-US" sz="2000" dirty="0"/>
          </a:p>
          <a:p>
            <a:pPr algn="just"/>
            <a:endParaRPr lang="en-US" sz="2000" dirty="0"/>
          </a:p>
          <a:p>
            <a:pPr algn="just"/>
            <a:endParaRPr lang="en-US" sz="2000" b="1" i="1" dirty="0"/>
          </a:p>
          <a:p>
            <a:pPr algn="just"/>
            <a:endParaRPr lang="en-US" sz="2000" kern="0" dirty="0">
              <a:solidFill>
                <a:sysClr val="windowText" lastClr="000000"/>
              </a:solidFill>
            </a:endParaRPr>
          </a:p>
          <a:p>
            <a:endParaRPr lang="en-US" sz="2000" kern="0" dirty="0">
              <a:solidFill>
                <a:sysClr val="windowText" lastClr="000000"/>
              </a:solidFill>
            </a:endParaRPr>
          </a:p>
        </p:txBody>
      </p:sp>
      <p:sp>
        <p:nvSpPr>
          <p:cNvPr id="2" name="CuadroTexto 1">
            <a:extLst>
              <a:ext uri="{FF2B5EF4-FFF2-40B4-BE49-F238E27FC236}">
                <a16:creationId xmlns:a16="http://schemas.microsoft.com/office/drawing/2014/main" id="{CA4A2D6E-5993-52B3-D251-1ADF2B0C8355}"/>
              </a:ext>
            </a:extLst>
          </p:cNvPr>
          <p:cNvSpPr txBox="1"/>
          <p:nvPr/>
        </p:nvSpPr>
        <p:spPr>
          <a:xfrm>
            <a:off x="609441" y="4860334"/>
            <a:ext cx="11199971" cy="1384995"/>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Document all your results (copy here the code employed to obtain the transfer function employing SAX modeling and include the comparative plot of the models)</a:t>
            </a: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sp>
        <p:nvSpPr>
          <p:cNvPr id="5" name="Marcador de pie de página 2">
            <a:extLst>
              <a:ext uri="{FF2B5EF4-FFF2-40B4-BE49-F238E27FC236}">
                <a16:creationId xmlns:a16="http://schemas.microsoft.com/office/drawing/2014/main" id="{ED97C9D0-256C-D4CA-42E7-79330F040B30}"/>
              </a:ext>
            </a:extLst>
          </p:cNvPr>
          <p:cNvSpPr>
            <a:spLocks noGrp="1"/>
          </p:cNvSpPr>
          <p:nvPr>
            <p:ph type="ftr" sz="quarter" idx="5"/>
          </p:nvPr>
        </p:nvSpPr>
        <p:spPr>
          <a:xfrm>
            <a:off x="609600" y="6457057"/>
            <a:ext cx="2743200" cy="184666"/>
          </a:xfrm>
        </p:spPr>
        <p:txBody>
          <a:bodyPr/>
          <a:lstStyle/>
          <a:p>
            <a:pPr marL="12700">
              <a:spcBef>
                <a:spcPts val="15"/>
              </a:spcBef>
            </a:pPr>
            <a:r>
              <a:rPr lang="es-ES" spc="-5"/>
              <a:t>LAB 3. INTERFEROMETERS I</a:t>
            </a:r>
            <a:endParaRPr lang="es-ES" spc="-5" dirty="0"/>
          </a:p>
        </p:txBody>
      </p:sp>
    </p:spTree>
    <p:extLst>
      <p:ext uri="{BB962C8B-B14F-4D97-AF65-F5344CB8AC3E}">
        <p14:creationId xmlns:p14="http://schemas.microsoft.com/office/powerpoint/2010/main" val="366643681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434E70-43B1-3881-1771-20FB4358471D}"/>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742C31CE-19F0-B995-0997-9A2D6A879BF7}"/>
              </a:ext>
            </a:extLst>
          </p:cNvPr>
          <p:cNvSpPr txBox="1">
            <a:spLocks noGrp="1"/>
          </p:cNvSpPr>
          <p:nvPr>
            <p:ph type="title"/>
          </p:nvPr>
        </p:nvSpPr>
        <p:spPr>
          <a:xfrm>
            <a:off x="685800" y="408883"/>
            <a:ext cx="10994410" cy="397545"/>
          </a:xfrm>
          <a:prstGeom prst="rect">
            <a:avLst/>
          </a:prstGeom>
        </p:spPr>
        <p:txBody>
          <a:bodyPr vert="horz" wrap="square" lIns="0" tIns="12700" rIns="0" bIns="0" rtlCol="0">
            <a:spAutoFit/>
          </a:bodyPr>
          <a:lstStyle/>
          <a:p>
            <a:pPr marL="12700">
              <a:lnSpc>
                <a:spcPct val="100000"/>
              </a:lnSpc>
              <a:spcBef>
                <a:spcPts val="100"/>
              </a:spcBef>
            </a:pPr>
            <a:r>
              <a:rPr lang="en-US" sz="2500" dirty="0"/>
              <a:t>Extra assessments </a:t>
            </a:r>
            <a:endParaRPr lang="en-US" sz="2500" b="0" dirty="0">
              <a:latin typeface="+mj-lt"/>
              <a:cs typeface="Lucida Sans"/>
            </a:endParaRPr>
          </a:p>
        </p:txBody>
      </p:sp>
      <p:pic>
        <p:nvPicPr>
          <p:cNvPr id="83" name="Gráfico 82">
            <a:extLst>
              <a:ext uri="{FF2B5EF4-FFF2-40B4-BE49-F238E27FC236}">
                <a16:creationId xmlns:a16="http://schemas.microsoft.com/office/drawing/2014/main" id="{D688A609-F3DC-EE34-C536-683E70F32EAE}"/>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B6C672C6-89D4-7E67-2B94-811D081786A7}"/>
              </a:ext>
            </a:extLst>
          </p:cNvPr>
          <p:cNvSpPr>
            <a:spLocks noGrp="1"/>
          </p:cNvSpPr>
          <p:nvPr>
            <p:ph type="sldNum" sz="quarter" idx="7"/>
          </p:nvPr>
        </p:nvSpPr>
        <p:spPr/>
        <p:txBody>
          <a:bodyPr/>
          <a:lstStyle/>
          <a:p>
            <a:fld id="{B6F15528-21DE-4FAA-801E-634DDDAF4B2B}" type="slidenum">
              <a:rPr lang="es-ES" smtClean="0"/>
              <a:t>9</a:t>
            </a:fld>
            <a:endParaRPr lang="es-ES"/>
          </a:p>
        </p:txBody>
      </p:sp>
      <p:sp>
        <p:nvSpPr>
          <p:cNvPr id="4" name="Marcador de texto 2">
            <a:extLst>
              <a:ext uri="{FF2B5EF4-FFF2-40B4-BE49-F238E27FC236}">
                <a16:creationId xmlns:a16="http://schemas.microsoft.com/office/drawing/2014/main" id="{D838A93A-BFC8-0124-93CE-FDC193435A0C}"/>
              </a:ext>
            </a:extLst>
          </p:cNvPr>
          <p:cNvSpPr txBox="1">
            <a:spLocks/>
          </p:cNvSpPr>
          <p:nvPr/>
        </p:nvSpPr>
        <p:spPr>
          <a:xfrm>
            <a:off x="608012" y="1295400"/>
            <a:ext cx="11048999" cy="4958137"/>
          </a:xfrm>
          <a:prstGeom prst="rect">
            <a:avLst/>
          </a:prstGeom>
        </p:spPr>
        <p:txBody>
          <a:bodyPr>
            <a:normAutofit/>
          </a:bodyPr>
          <a:lst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a:lstStyle>
          <a:p>
            <a:pPr marL="0" indent="0">
              <a:buNone/>
            </a:pPr>
            <a:r>
              <a:rPr lang="en-US" b="1" dirty="0"/>
              <a:t>Assessment 4</a:t>
            </a:r>
            <a:r>
              <a:rPr lang="en-US" dirty="0"/>
              <a:t>. Design an MZI for filtering at a specific wavelength. Calculate and adjust the arm lengths to configure the MZI to have a maximum transmission at 1550 nm.</a:t>
            </a:r>
          </a:p>
          <a:p>
            <a:endParaRPr lang="en-US" b="1" dirty="0"/>
          </a:p>
          <a:p>
            <a:r>
              <a:rPr lang="en-US" b="1" dirty="0"/>
              <a:t>Assessment 5. </a:t>
            </a:r>
            <a:r>
              <a:rPr lang="en-US" dirty="0"/>
              <a:t>Let's see how the response of the MZI varies with the effective index. Vary the effective index of one of the arms and analyze how the spectrum shifts. To do this, you can use the data provided in the .txt files entitled ‘</a:t>
            </a:r>
            <a:r>
              <a:rPr lang="en-US" dirty="0" err="1"/>
              <a:t>SiN</a:t>
            </a:r>
            <a:r>
              <a:rPr lang="en-US" dirty="0"/>
              <a:t>’. Can you give an example of an application where this configuration is used?</a:t>
            </a:r>
          </a:p>
          <a:p>
            <a:pPr marL="0" indent="0">
              <a:buNone/>
            </a:pPr>
            <a:endParaRPr lang="en-US" dirty="0"/>
          </a:p>
          <a:p>
            <a:r>
              <a:rPr lang="en-US" b="1" dirty="0"/>
              <a:t>Advanced level assessment.</a:t>
            </a:r>
            <a:r>
              <a:rPr lang="en-US" dirty="0"/>
              <a:t> Explore how cascading two MZIs affects the transmission spectrum. To do so, design a system in which two MZIs are cascaded. Simulate and observe the spectrum, explaining how the transmission peaks behave</a:t>
            </a:r>
            <a:r>
              <a:rPr lang="en-US" b="1" dirty="0"/>
              <a:t>.</a:t>
            </a:r>
          </a:p>
          <a:p>
            <a:pPr algn="just"/>
            <a:endParaRPr lang="en-US" sz="2000" kern="0" dirty="0">
              <a:solidFill>
                <a:sysClr val="windowText" lastClr="000000"/>
              </a:solidFill>
            </a:endParaRPr>
          </a:p>
        </p:txBody>
      </p:sp>
      <p:sp>
        <p:nvSpPr>
          <p:cNvPr id="2" name="CuadroTexto 1">
            <a:extLst>
              <a:ext uri="{FF2B5EF4-FFF2-40B4-BE49-F238E27FC236}">
                <a16:creationId xmlns:a16="http://schemas.microsoft.com/office/drawing/2014/main" id="{FDE3A197-9508-F9F1-1FEB-FF883D78C151}"/>
              </a:ext>
            </a:extLst>
          </p:cNvPr>
          <p:cNvSpPr txBox="1"/>
          <p:nvPr/>
        </p:nvSpPr>
        <p:spPr>
          <a:xfrm>
            <a:off x="609441" y="4860334"/>
            <a:ext cx="11199971" cy="1200329"/>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Document all your results</a:t>
            </a: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sp>
        <p:nvSpPr>
          <p:cNvPr id="6" name="Marcador de pie de página 2">
            <a:extLst>
              <a:ext uri="{FF2B5EF4-FFF2-40B4-BE49-F238E27FC236}">
                <a16:creationId xmlns:a16="http://schemas.microsoft.com/office/drawing/2014/main" id="{04C1A7E9-6C33-172D-E7B9-CCF643221E6A}"/>
              </a:ext>
            </a:extLst>
          </p:cNvPr>
          <p:cNvSpPr>
            <a:spLocks noGrp="1"/>
          </p:cNvSpPr>
          <p:nvPr>
            <p:ph type="ftr" sz="quarter" idx="5"/>
          </p:nvPr>
        </p:nvSpPr>
        <p:spPr>
          <a:xfrm>
            <a:off x="609600" y="6457057"/>
            <a:ext cx="2743200" cy="184666"/>
          </a:xfrm>
        </p:spPr>
        <p:txBody>
          <a:bodyPr/>
          <a:lstStyle/>
          <a:p>
            <a:pPr marL="12700">
              <a:spcBef>
                <a:spcPts val="15"/>
              </a:spcBef>
            </a:pPr>
            <a:r>
              <a:rPr lang="es-ES" spc="-5"/>
              <a:t>LAB 3. INTERFEROMETERS I</a:t>
            </a:r>
            <a:endParaRPr lang="es-ES" spc="-5" dirty="0"/>
          </a:p>
        </p:txBody>
      </p:sp>
    </p:spTree>
    <p:extLst>
      <p:ext uri="{BB962C8B-B14F-4D97-AF65-F5344CB8AC3E}">
        <p14:creationId xmlns:p14="http://schemas.microsoft.com/office/powerpoint/2010/main" val="366043824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object 3"/>
          <p:cNvSpPr/>
          <p:nvPr/>
        </p:nvSpPr>
        <p:spPr>
          <a:xfrm>
            <a:off x="3945635" y="2636520"/>
            <a:ext cx="8246363" cy="1584959"/>
          </a:xfrm>
          <a:prstGeom prst="rect">
            <a:avLst/>
          </a:prstGeom>
          <a:blipFill>
            <a:blip r:embed="rId2" cstate="print"/>
            <a:stretch>
              <a:fillRect/>
            </a:stretch>
          </a:blipFill>
        </p:spPr>
        <p:txBody>
          <a:bodyPr wrap="square" lIns="0" tIns="0" rIns="0" bIns="0" rtlCol="0"/>
          <a:lstStyle/>
          <a:p>
            <a:endParaRPr/>
          </a:p>
        </p:txBody>
      </p:sp>
      <p:sp>
        <p:nvSpPr>
          <p:cNvPr id="4" name="object 4"/>
          <p:cNvSpPr txBox="1">
            <a:spLocks noGrp="1"/>
          </p:cNvSpPr>
          <p:nvPr>
            <p:ph type="title"/>
          </p:nvPr>
        </p:nvSpPr>
        <p:spPr>
          <a:xfrm>
            <a:off x="4513326" y="3165729"/>
            <a:ext cx="2233295" cy="513715"/>
          </a:xfrm>
          <a:prstGeom prst="rect">
            <a:avLst/>
          </a:prstGeom>
        </p:spPr>
        <p:txBody>
          <a:bodyPr vert="horz" wrap="square" lIns="0" tIns="13335" rIns="0" bIns="0" rtlCol="0">
            <a:spAutoFit/>
          </a:bodyPr>
          <a:lstStyle/>
          <a:p>
            <a:pPr marL="12700">
              <a:lnSpc>
                <a:spcPct val="100000"/>
              </a:lnSpc>
              <a:spcBef>
                <a:spcPts val="105"/>
              </a:spcBef>
            </a:pPr>
            <a:r>
              <a:rPr sz="3200" b="1" spc="-5" dirty="0">
                <a:solidFill>
                  <a:srgbClr val="FFFFFF"/>
                </a:solidFill>
                <a:latin typeface="Lucida Sans"/>
                <a:cs typeface="Lucida Sans"/>
              </a:rPr>
              <a:t>Thank</a:t>
            </a:r>
            <a:r>
              <a:rPr sz="3200" b="1" spc="-55" dirty="0">
                <a:solidFill>
                  <a:srgbClr val="FFFFFF"/>
                </a:solidFill>
                <a:latin typeface="Lucida Sans"/>
                <a:cs typeface="Lucida Sans"/>
              </a:rPr>
              <a:t> </a:t>
            </a:r>
            <a:r>
              <a:rPr sz="3200" b="1" dirty="0">
                <a:solidFill>
                  <a:srgbClr val="FFFFFF"/>
                </a:solidFill>
                <a:latin typeface="Lucida Sans"/>
                <a:cs typeface="Lucida Sans"/>
              </a:rPr>
              <a:t>you</a:t>
            </a:r>
            <a:endParaRPr sz="3200">
              <a:latin typeface="Lucida Sans"/>
              <a:cs typeface="Lucida Sans"/>
            </a:endParaRPr>
          </a:p>
        </p:txBody>
      </p:sp>
      <p:sp>
        <p:nvSpPr>
          <p:cNvPr id="5" name="Marcador de número de diapositiva 4">
            <a:extLst>
              <a:ext uri="{FF2B5EF4-FFF2-40B4-BE49-F238E27FC236}">
                <a16:creationId xmlns:a16="http://schemas.microsoft.com/office/drawing/2014/main" id="{B052DA19-AD24-7D24-2AE9-51F8F5A7F5E0}"/>
              </a:ext>
            </a:extLst>
          </p:cNvPr>
          <p:cNvSpPr>
            <a:spLocks noGrp="1"/>
          </p:cNvSpPr>
          <p:nvPr>
            <p:ph type="sldNum" sz="quarter" idx="7"/>
          </p:nvPr>
        </p:nvSpPr>
        <p:spPr/>
        <p:txBody>
          <a:bodyPr/>
          <a:lstStyle/>
          <a:p>
            <a:fld id="{B6F15528-21DE-4FAA-801E-634DDDAF4B2B}" type="slidenum">
              <a:rPr lang="es-ES" smtClean="0"/>
              <a:t>10</a:t>
            </a:fld>
            <a:endParaRPr lang="es-E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00"/>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
  <TotalTime>1267</TotalTime>
  <Words>942</Words>
  <Application>Microsoft Office PowerPoint</Application>
  <PresentationFormat>Widescreen</PresentationFormat>
  <Paragraphs>115</Paragraphs>
  <Slides>10</Slides>
  <Notes>7</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10</vt:i4>
      </vt:variant>
    </vt:vector>
  </HeadingPairs>
  <TitlesOfParts>
    <vt:vector size="18" baseType="lpstr">
      <vt:lpstr>Aptos</vt:lpstr>
      <vt:lpstr>Arial</vt:lpstr>
      <vt:lpstr>Calibri</vt:lpstr>
      <vt:lpstr>Cambria Math</vt:lpstr>
      <vt:lpstr>Courier New</vt:lpstr>
      <vt:lpstr>Lucida Sans</vt:lpstr>
      <vt:lpstr>Wingdings</vt:lpstr>
      <vt:lpstr>Office Theme</vt:lpstr>
      <vt:lpstr>PowerPoint Presentation</vt:lpstr>
      <vt:lpstr>Instructions General</vt:lpstr>
      <vt:lpstr>ASSESSMENT #1 – Recap from theory – MZI configurations </vt:lpstr>
      <vt:lpstr>ASSESSMENT #1 – Recap from theory – MZI configurations </vt:lpstr>
      <vt:lpstr>ASSESSMENT #1 – Recap from theory – MZI configurations </vt:lpstr>
      <vt:lpstr>ASSESSMENT #1 – Recap from theory – MZI configurations </vt:lpstr>
      <vt:lpstr>ASSESSMENT #2 – Recap from theory – Calculation of ΔL  </vt:lpstr>
      <vt:lpstr>ASSESSMENT #3 – SAX implementation  </vt:lpstr>
      <vt:lpstr>Extra assessments </vt:lpstr>
      <vt:lpstr>Thank you</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Presentación de PowerPoint</dc:title>
  <dc:creator>Mª Ester Calataytud</dc:creator>
  <cp:lastModifiedBy>Nicolás Ospina Mendivelso</cp:lastModifiedBy>
  <cp:revision>25</cp:revision>
  <dcterms:created xsi:type="dcterms:W3CDTF">2025-01-27T02:46:57Z</dcterms:created>
  <dcterms:modified xsi:type="dcterms:W3CDTF">2026-03-23T06:50:52Z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reated">
    <vt:filetime>2024-09-16T00:00:00Z</vt:filetime>
  </property>
  <property fmtid="{D5CDD505-2E9C-101B-9397-08002B2CF9AE}" pid="3" name="Creator">
    <vt:lpwstr>Microsoft® PowerPoint® 2016</vt:lpwstr>
  </property>
  <property fmtid="{D5CDD505-2E9C-101B-9397-08002B2CF9AE}" pid="4" name="LastSaved">
    <vt:filetime>2025-01-27T00:00:00Z</vt:filetime>
  </property>
</Properties>
</file>